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1f9bd54f754ef6" /><Relationship Type="http://schemas.openxmlformats.org/officeDocument/2006/relationships/extended-properties" Target="/docProps/app.xml" Id="R5e5356cdfbf34164" /><Relationship Type="http://schemas.openxmlformats.org/officeDocument/2006/relationships/officeDocument" Target="/ppt/presentation.xml" Id="Rf8036d10895041a0" /></Relationships>
</file>

<file path=ppt/presentation.xml><?xml version="1.0" encoding="utf-8"?>
<p:presentation xmlns:p="http://schemas.openxmlformats.org/presentationml/2006/main">
  <p:sldMasterIdLst>
    <p:sldMasterId xmlns:r="http://schemas.openxmlformats.org/officeDocument/2006/relationships" id="2147483648" r:id="R0eb51d18baec4aba"/>
  </p:sldMasterIdLst>
  <p:notesMasterIdLst>
    <p:notesMasterId xmlns:r="http://schemas.openxmlformats.org/officeDocument/2006/relationships" r:id="R6b90eb032a534b55"/>
  </p:notesMasterIdLst>
  <p:sldIdLst>
    <p:sldId xmlns:r="http://schemas.openxmlformats.org/officeDocument/2006/relationships" id="256" r:id="Rf716d8d16c5f485f"/>
    <p:sldId xmlns:r="http://schemas.openxmlformats.org/officeDocument/2006/relationships" id="257" r:id="Re21100ef6bc4466f"/>
    <p:sldId xmlns:r="http://schemas.openxmlformats.org/officeDocument/2006/relationships" id="258" r:id="R76bb3ba5e400480e"/>
    <p:sldId xmlns:r="http://schemas.openxmlformats.org/officeDocument/2006/relationships" id="259" r:id="Rd538f1288de848f1"/>
    <p:sldId xmlns:r="http://schemas.openxmlformats.org/officeDocument/2006/relationships" id="260" r:id="R3e2ac79de2a741c7"/>
    <p:sldId xmlns:r="http://schemas.openxmlformats.org/officeDocument/2006/relationships" id="261" r:id="R5aaea2310b744987"/>
    <p:sldId xmlns:r="http://schemas.openxmlformats.org/officeDocument/2006/relationships" id="262" r:id="R4fb5423578944e5e"/>
    <p:sldId xmlns:r="http://schemas.openxmlformats.org/officeDocument/2006/relationships" id="263" r:id="R5a183dd4b70b4980"/>
    <p:sldId xmlns:r="http://schemas.openxmlformats.org/officeDocument/2006/relationships" id="264" r:id="R6ce6510690b64a85"/>
    <p:sldId xmlns:r="http://schemas.openxmlformats.org/officeDocument/2006/relationships" id="265" r:id="Rd97567d3b2ec4a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b4d91165d9b4b39" /><Relationship Type="http://schemas.openxmlformats.org/officeDocument/2006/relationships/slideMaster" Target="/ppt/slideMasters/slideMaster1.xml" Id="R0eb51d18baec4aba" /><Relationship Type="http://schemas.openxmlformats.org/officeDocument/2006/relationships/notesMaster" Target="/ppt/notesMasters/notesMaster1.xml" Id="R6b90eb032a534b55" /><Relationship Type="http://schemas.openxmlformats.org/officeDocument/2006/relationships/presProps" Target="/ppt/presProps.xml" Id="R036c3e2c1bc74eb0" /><Relationship Type="http://schemas.openxmlformats.org/officeDocument/2006/relationships/tableStyles" Target="/ppt/tableStyles.xml" Id="R1ad7f8b4380640e2" /><Relationship Type="http://schemas.openxmlformats.org/officeDocument/2006/relationships/slide" Target="/ppt/slides/slide1.xml" Id="Rf716d8d16c5f485f" /><Relationship Type="http://schemas.openxmlformats.org/officeDocument/2006/relationships/slide" Target="/ppt/slides/slide2.xml" Id="Re21100ef6bc4466f" /><Relationship Type="http://schemas.openxmlformats.org/officeDocument/2006/relationships/slide" Target="/ppt/slides/slide3.xml" Id="R76bb3ba5e400480e" /><Relationship Type="http://schemas.openxmlformats.org/officeDocument/2006/relationships/slide" Target="/ppt/slides/slide4.xml" Id="Rd538f1288de848f1" /><Relationship Type="http://schemas.openxmlformats.org/officeDocument/2006/relationships/slide" Target="/ppt/slides/slide5.xml" Id="R3e2ac79de2a741c7" /><Relationship Type="http://schemas.openxmlformats.org/officeDocument/2006/relationships/slide" Target="/ppt/slides/slide6.xml" Id="R5aaea2310b744987" /><Relationship Type="http://schemas.openxmlformats.org/officeDocument/2006/relationships/slide" Target="/ppt/slides/slide7.xml" Id="R4fb5423578944e5e" /><Relationship Type="http://schemas.openxmlformats.org/officeDocument/2006/relationships/slide" Target="/ppt/slides/slide8.xml" Id="R5a183dd4b70b4980" /><Relationship Type="http://schemas.openxmlformats.org/officeDocument/2006/relationships/slide" Target="/ppt/slides/slide9.xml" Id="R6ce6510690b64a85" /><Relationship Type="http://schemas.openxmlformats.org/officeDocument/2006/relationships/slide" Target="/ppt/slides/slide10.xml" Id="Rd97567d3b2ec4a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16e06bae1144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b218428eaa4846" /><Relationship Type="http://schemas.openxmlformats.org/officeDocument/2006/relationships/notesMaster" Target="/ppt/notesMasters/notesMaster1.xml" Id="Rd4417edab7ad44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cf214cfe7d4b47" /><Relationship Type="http://schemas.openxmlformats.org/officeDocument/2006/relationships/notesMaster" Target="/ppt/notesMasters/notesMaster1.xml" Id="R24a1551de8e044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3eb51ea1f040f8" /><Relationship Type="http://schemas.openxmlformats.org/officeDocument/2006/relationships/notesMaster" Target="/ppt/notesMasters/notesMaster1.xml" Id="R33486b78062347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fac8b1edf541cf" /><Relationship Type="http://schemas.openxmlformats.org/officeDocument/2006/relationships/notesMaster" Target="/ppt/notesMasters/notesMaster1.xml" Id="Rca0201e7c69a48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1070e4031447db" /><Relationship Type="http://schemas.openxmlformats.org/officeDocument/2006/relationships/notesMaster" Target="/ppt/notesMasters/notesMaster1.xml" Id="Ra908ec182fea4a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62db3e4f29c4c8f" /><Relationship Type="http://schemas.openxmlformats.org/officeDocument/2006/relationships/notesMaster" Target="/ppt/notesMasters/notesMaster1.xml" Id="Rbfd5015c7aee4b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af273408974fa9" /><Relationship Type="http://schemas.openxmlformats.org/officeDocument/2006/relationships/notesMaster" Target="/ppt/notesMasters/notesMaster1.xml" Id="R1feed8c13c45450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6ab3499b7348f2" /><Relationship Type="http://schemas.openxmlformats.org/officeDocument/2006/relationships/notesMaster" Target="/ppt/notesMasters/notesMaster1.xml" Id="R14240fe7006a43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c6e1b7962a4881" /><Relationship Type="http://schemas.openxmlformats.org/officeDocument/2006/relationships/notesMaster" Target="/ppt/notesMasters/notesMaster1.xml" Id="R59031d38deae47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704b171bb54cfa" /><Relationship Type="http://schemas.openxmlformats.org/officeDocument/2006/relationships/notesMaster" Target="/ppt/notesMasters/notesMaster1.xml" Id="R51aa2e72309447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livestream lets you watch Outside Lands. Same Sky lets someone there make you feel there. Today I’ll show a private bridge that ends with one synchronized pulse—not a feed, not a chat, not another place to perform online.</a:t>
            </a:r>
          </a:p>
          <a:p xmlns:a="http://schemas.openxmlformats.org/drawingml/2006/main">
            <a:r>
              <a:t/>
            </a:r>
          </a:p>
          <a:p xmlns:a="http://schemas.openxmlformats.org/drawingml/2006/main">
            <a:r>
              <a:t>[Sources]</a:t>
            </a:r>
          </a:p>
          <a:p xmlns:a="http://schemas.openxmlformats.org/drawingml/2006/main">
            <a:r>
              <a:t>https://outsidellms.com/</a:t>
            </a:r>
          </a:p>
          <a:p xmlns:a="http://schemas.openxmlformats.org/drawingml/2006/main">
            <a:r>
              <a:t>https://www.sfoutsidelands.com/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Outside Lands already has a worldwide official livestream. The gap is not access to pixels. The gap is reciprocity. A remote viewer can see everyone, yet feel known by no one. Same Sky adds the smallest possible human return path.</a:t>
            </a:r>
          </a:p>
          <a:p xmlns:a="http://schemas.openxmlformats.org/drawingml/2006/main">
            <a:r>
              <a:t/>
            </a:r>
          </a:p>
          <a:p xmlns:a="http://schemas.openxmlformats.org/drawingml/2006/main">
            <a:r>
              <a:t>[Sources]</a:t>
            </a:r>
          </a:p>
          <a:p xmlns:a="http://schemas.openxmlformats.org/drawingml/2006/main">
            <a:r>
              <a:t>https://www.primevideo.com/detail/0FFYUNMY3OBBG8WGDH9O8IY7UO</a:t>
            </a:r>
          </a:p>
          <a:p xmlns:a="http://schemas.openxmlformats.org/drawingml/2006/main">
            <a:r>
              <a:t>https://www.sfoutsidelands.com/info/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person onsite opens a one-use bridge. They capture only what the stream misses. OpenAI shapes supplied evidence into accessible language, and the sender approves every word. The viewer returns one pulse. That reciprocal pulse is the product—not the postcard.</a:t>
            </a:r>
          </a:p>
          <a:p xmlns:a="http://schemas.openxmlformats.org/drawingml/2006/main">
            <a:r>
              <a:t/>
            </a:r>
          </a:p>
          <a:p xmlns:a="http://schemas.openxmlformats.org/drawingml/2006/main">
            <a:r>
              <a:t>[Sources]</a:t>
            </a:r>
          </a:p>
          <a:p xmlns:a="http://schemas.openxmlformats.org/drawingml/2006/main">
            <a:r>
              <a:t>- Product implementation: Same Sky repository (original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the viewer holds the pulse control, the server schedules a shared timestamp in the near future. Both clients begin from that timestamp, masking network latency as a shared inhale. On supported phones, the person onsite also feels a short haptic. Then we stop talking for eight seconds.</a:t>
            </a:r>
          </a:p>
          <a:p xmlns:a="http://schemas.openxmlformats.org/drawingml/2006/main">
            <a:r>
              <a:t/>
            </a:r>
          </a:p>
          <a:p xmlns:a="http://schemas.openxmlformats.org/drawingml/2006/main">
            <a:r>
              <a:t>[Sources]</a:t>
            </a:r>
          </a:p>
          <a:p xmlns:a="http://schemas.openxmlformats.org/drawingml/2006/main">
            <a:r>
              <a:t>- Product implementation: Same Sky repository (original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OpenAI is not decorative here. It converts a messy multimodal moment into constrained, accessible language. The prompt forbids lyrics, identity inference, invented weather and emotion. If the API is unavailable after a short deadline, the product uses only the sender’s exact facts. Nothing crosses before human approval.</a:t>
            </a:r>
          </a:p>
          <a:p xmlns:a="http://schemas.openxmlformats.org/drawingml/2006/main">
            <a:r>
              <a:t/>
            </a:r>
          </a:p>
          <a:p xmlns:a="http://schemas.openxmlformats.org/drawingml/2006/main">
            <a:r>
              <a:t>[Sources]</a:t>
            </a:r>
          </a:p>
          <a:p xmlns:a="http://schemas.openxmlformats.org/drawingml/2006/main">
            <a:r>
              <a:t>https://developers.openai.com/api/docs/guides/latest-model</a:t>
            </a:r>
          </a:p>
          <a:p xmlns:a="http://schemas.openxmlformats.org/drawingml/2006/main">
            <a:r>
              <a:t>https://developers.openai.com/api/docs/guides/images-vision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app uses OpenAI when configured, Sites for hosting and durable private state, and JamBase-ready enrichment. But no sponsor API sits on the critical path. Every outage has an honest fallback, so the emotional demo survives festival connectivity.</a:t>
            </a:r>
          </a:p>
          <a:p xmlns:a="http://schemas.openxmlformats.org/drawingml/2006/main">
            <a:r>
              <a:t/>
            </a:r>
          </a:p>
          <a:p xmlns:a="http://schemas.openxmlformats.org/drawingml/2006/main">
            <a:r>
              <a:t>[Sources]</a:t>
            </a:r>
          </a:p>
          <a:p xmlns:a="http://schemas.openxmlformats.org/drawingml/2006/main">
            <a:r>
              <a:t>https://data.jambase.com/api/docs/getting-started</a:t>
            </a:r>
          </a:p>
          <a:p xmlns:a="http://schemas.openxmlformats.org/drawingml/2006/main">
            <a:r>
              <a:t>https://data.jambase.com/api/docs/attribution</a:t>
            </a:r>
          </a:p>
          <a:p xmlns:a="http://schemas.openxmlformats.org/drawingml/2006/main">
            <a:r>
              <a:t>https://developers.openai.com/api/docs/guides/latest-model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API owns a strict one-way state machine. Possession tokens keep the bridge invite-only. D1 stores session state; R2 serves resized media only to an authenticated participant. Polling is deliberately boring and reliable for the hackathon; a production scale-out can swap the transport without changing the ritual.</a:t>
            </a:r>
          </a:p>
          <a:p xmlns:a="http://schemas.openxmlformats.org/drawingml/2006/main">
            <a:r>
              <a:t/>
            </a:r>
          </a:p>
          <a:p xmlns:a="http://schemas.openxmlformats.org/drawingml/2006/main">
            <a:r>
              <a:t>[Sources]</a:t>
            </a:r>
          </a:p>
          <a:p xmlns:a="http://schemas.openxmlformats.org/drawingml/2006/main">
            <a:r>
              <a:t>- Product implementation: Same Sky repository (original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 festival, restraint is product quality. We never record the performance. We avoid faces, locations, identities and social graphs. Both people can delete immediately. The hold action has a keyboard equivalent and reduced motion uses a static shared gradient. Every permission can be skipped.</a:t>
            </a:r>
          </a:p>
          <a:p xmlns:a="http://schemas.openxmlformats.org/drawingml/2006/main">
            <a:r>
              <a:t/>
            </a:r>
          </a:p>
          <a:p xmlns:a="http://schemas.openxmlformats.org/drawingml/2006/main">
            <a:r>
              <a:t>[Sources]</a:t>
            </a:r>
          </a:p>
          <a:p xmlns:a="http://schemas.openxmlformats.org/drawingml/2006/main">
            <a:r>
              <a:t>https://www.sfoutsidelands.com/info/</a:t>
            </a:r>
          </a:p>
          <a:p xmlns:a="http://schemas.openxmlformats.org/drawingml/2006/main">
            <a:r>
              <a:t>https://developers.openai.com/api/docs/guides/images-vision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stands out because the judge does not need to imagine the benefit. They hold the remote phone, send the pulse, and watch two devices become one light. It is understandable in three seconds, complete in thirty, and emotionally legible with no dashboard explanation.</a:t>
            </a:r>
          </a:p>
          <a:p xmlns:a="http://schemas.openxmlformats.org/drawingml/2006/main">
            <a:r>
              <a:t/>
            </a:r>
          </a:p>
          <a:p xmlns:a="http://schemas.openxmlformats.org/drawingml/2006/main">
            <a:r>
              <a:t>[Sources]</a:t>
            </a:r>
          </a:p>
          <a:p xmlns:a="http://schemas.openxmlformats.org/drawingml/2006/main">
            <a:r>
              <a:t>https://outsidellms.com/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Outside Lands already brings the show everywhere. Same Sky brings one person into the feeling of being there. Open the live app, choose the one-screen judge demo, and hold the pulse. Then stop speaking and let the room feel it.</a:t>
            </a:r>
          </a:p>
          <a:p xmlns:a="http://schemas.openxmlformats.org/drawingml/2006/main">
            <a:r>
              <a:t/>
            </a:r>
          </a:p>
          <a:p xmlns:a="http://schemas.openxmlformats.org/drawingml/2006/main">
            <a:r>
              <a:t>[Sources]</a:t>
            </a:r>
          </a:p>
          <a:p xmlns:a="http://schemas.openxmlformats.org/drawingml/2006/main">
            <a:r>
              <a:t>https://outsidellms.com/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60935e5c1a46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4e190ae1db4db5" /><Relationship Type="http://schemas.openxmlformats.org/officeDocument/2006/relationships/slideLayout" Target="/ppt/slideLayouts/slideLayout1.xml" Id="Rbd8cb0bae18f4d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8cb0bae18f4d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dc5a00523d741f2" /><Relationship Type="http://schemas.openxmlformats.org/officeDocument/2006/relationships/notesSlide" Target="/ppt/notesSlides/notesSlide1.xml" Id="R4ffdd8f1e61744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732b156ea84457c" /><Relationship Type="http://schemas.openxmlformats.org/officeDocument/2006/relationships/notesSlide" Target="/ppt/notesSlides/notesSlide2.xml" Id="R3dc73fe3501a4e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22c8a46e74d41e4" /><Relationship Type="http://schemas.openxmlformats.org/officeDocument/2006/relationships/notesSlide" Target="/ppt/notesSlides/notesSlide3.xml" Id="Ra6e60947c5b94d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b4dbc7a32b3424a" /><Relationship Type="http://schemas.openxmlformats.org/officeDocument/2006/relationships/notesSlide" Target="/ppt/notesSlides/notesSlide4.xml" Id="R6006d27d943d42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88cc928c0f4f44" /><Relationship Type="http://schemas.openxmlformats.org/officeDocument/2006/relationships/notesSlide" Target="/ppt/notesSlides/notesSlide5.xml" Id="Rdaa1413f779d496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8d5248b529946bd" /><Relationship Type="http://schemas.openxmlformats.org/officeDocument/2006/relationships/notesSlide" Target="/ppt/notesSlides/notesSlide6.xml" Id="R78248ea27fd241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f111e813ac4601" /><Relationship Type="http://schemas.openxmlformats.org/officeDocument/2006/relationships/notesSlide" Target="/ppt/notesSlides/notesSlide7.xml" Id="Rf66000ef710c46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c10a11935bb4899" /><Relationship Type="http://schemas.openxmlformats.org/officeDocument/2006/relationships/notesSlide" Target="/ppt/notesSlides/notesSlide8.xml" Id="R47e06cf3bf1c4a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16c9f8dbedb43cf" /><Relationship Type="http://schemas.openxmlformats.org/officeDocument/2006/relationships/notesSlide" Target="/ppt/notesSlides/notesSlide9.xml" Id="Rdb41fdea4bc74e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ea3c4d43d8c468e" /><Relationship Type="http://schemas.openxmlformats.org/officeDocument/2006/relationships/notesSlide" Target="/ppt/notesSlides/notesSlide10.xml" Id="R2ebeac0baed44e1c" /></Relationships>
</file>

<file path=ppt/slides/slide1.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82761D-5A16-470A-9D40-74EC786F9EC2}"/>
              </a:ext>
            </a:extLst>
          </p:cNvPr>
          <p:cNvSpPr>
            <a:spLocks xmlns:a="http://schemas.openxmlformats.org/drawingml/2006/main" noGrp="1"/>
          </p:cNvSpPr>
          <p:nvPr/>
        </p:nvSpPr>
        <p:spPr>
          <a:xfrm xmlns:a="http://schemas.openxmlformats.org/drawingml/2006/main">
            <a:off x="7620000" y="0"/>
            <a:ext cx="4572000" cy="4572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C6E3D3-E759-42C8-BDB3-6AE1221D862C}"/>
              </a:ext>
            </a:extLst>
          </p:cNvPr>
          <p:cNvSpPr>
            <a:spLocks xmlns:a="http://schemas.openxmlformats.org/drawingml/2006/main" noGrp="1"/>
          </p:cNvSpPr>
          <p:nvPr/>
        </p:nvSpPr>
        <p:spPr>
          <a:xfrm xmlns:a="http://schemas.openxmlformats.org/drawingml/2006/main">
            <a:off x="8524875" y="523875"/>
            <a:ext cx="2667000" cy="2667000"/>
          </a:xfrm>
          <a:prstGeom xmlns:a="http://schemas.openxmlformats.org/drawingml/2006/main" prst="ellipse">
            <a:avLst/>
          </a:prstGeom>
          <a:solidFill xmlns:a="http://schemas.openxmlformats.org/drawingml/2006/main">
            <a:srgbClr val="FF7A6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C1FB406-BB43-4916-BF53-AFF0AA306733}"/>
              </a:ext>
            </a:extLst>
          </p:cNvPr>
          <p:cNvSpPr>
            <a:spLocks xmlns:a="http://schemas.openxmlformats.org/drawingml/2006/main" noGrp="1"/>
          </p:cNvSpPr>
          <p:nvPr/>
        </p:nvSpPr>
        <p:spPr>
          <a:xfrm xmlns:a="http://schemas.openxmlformats.org/drawingml/2006/main">
            <a:off x="8934450" y="933450"/>
            <a:ext cx="1847850" cy="1847850"/>
          </a:xfrm>
          <a:prstGeom xmlns:a="http://schemas.openxmlformats.org/drawingml/2006/main" prst="ellipse">
            <a:avLst/>
          </a:prstGeom>
          <a:solidFill xmlns:a="http://schemas.openxmlformats.org/drawingml/2006/main">
            <a:srgbClr val="090A1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32E3706-4156-4C35-ACC0-89D7F520F017}"/>
              </a:ext>
            </a:extLst>
          </p:cNvPr>
          <p:cNvSpPr>
            <a:spLocks xmlns:a="http://schemas.openxmlformats.org/drawingml/2006/main" noGrp="1"/>
          </p:cNvSpPr>
          <p:nvPr/>
        </p:nvSpPr>
        <p:spPr>
          <a:xfrm xmlns:a="http://schemas.openxmlformats.org/drawingml/2006/main">
            <a:off x="685800" y="5905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7A61"/>
                </a:solidFill>
              </a:defRPr>
            </a:pPr>
            <a:r>
              <a:rPr sz="1050" b="1">
                <a:solidFill>
                  <a:srgbClr val="FF7A61"/>
                </a:solidFill>
              </a:rPr>
              <a:t>OUTSIDELLMS 2026 · MAKE THE FESTIVAL BETTER</a:t>
            </a:r>
          </a:p>
        </p:txBody>
      </p:sp>
      <p:sp>
        <p:nvSpPr>
          <p:cNvPr id="5" name="">
            <a:extLst xmlns:a="http://schemas.openxmlformats.org/drawingml/2006/main">
              <a:ext uri="{FF2B5EF4-FFF2-40B4-BE49-F238E27FC236}">
                <a16:creationId xmlns:a16="http://schemas.microsoft.com/office/drawing/2014/main" id="{C47121DE-5B8A-4EAE-B4EE-BA9195031761}"/>
              </a:ext>
            </a:extLst>
          </p:cNvPr>
          <p:cNvSpPr>
            <a:spLocks xmlns:a="http://schemas.openxmlformats.org/drawingml/2006/main" noGrp="1"/>
          </p:cNvSpPr>
          <p:nvPr/>
        </p:nvSpPr>
        <p:spPr>
          <a:xfrm xmlns:a="http://schemas.openxmlformats.org/drawingml/2006/main">
            <a:off x="685800" y="1762125"/>
            <a:ext cx="676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100" b="1">
                <a:solidFill>
                  <a:srgbClr val="F6F3FF"/>
                </a:solidFill>
              </a:defRPr>
            </a:pPr>
            <a:r>
              <a:rPr sz="5100" b="1">
                <a:solidFill>
                  <a:srgbClr val="F6F3FF"/>
                </a:solidFill>
              </a:rPr>
              <a:t>Same Sky</a:t>
            </a:r>
          </a:p>
        </p:txBody>
      </p:sp>
      <p:sp>
        <p:nvSpPr>
          <p:cNvPr id="6" name="">
            <a:extLst xmlns:a="http://schemas.openxmlformats.org/drawingml/2006/main">
              <a:ext uri="{FF2B5EF4-FFF2-40B4-BE49-F238E27FC236}">
                <a16:creationId xmlns:a16="http://schemas.microsoft.com/office/drawing/2014/main" id="{85A9A056-40F7-47EC-B6F4-60C1E6018D02}"/>
              </a:ext>
            </a:extLst>
          </p:cNvPr>
          <p:cNvSpPr>
            <a:spLocks xmlns:a="http://schemas.openxmlformats.org/drawingml/2006/main" noGrp="1"/>
          </p:cNvSpPr>
          <p:nvPr/>
        </p:nvSpPr>
        <p:spPr>
          <a:xfrm xmlns:a="http://schemas.openxmlformats.org/drawingml/2006/main">
            <a:off x="685800" y="2781300"/>
            <a:ext cx="666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75" b="0">
                <a:solidFill>
                  <a:srgbClr val="F6F3FF"/>
                </a:solidFill>
              </a:defRPr>
            </a:pPr>
            <a:r>
              <a:rPr sz="3675" b="0">
                <a:solidFill>
                  <a:srgbClr val="F6F3FF"/>
                </a:solidFill>
              </a:rPr>
              <a:t>Feel the set.</a:t>
            </a:r>
          </a:p>
          <a:p xmlns:a="http://schemas.openxmlformats.org/drawingml/2006/main">
            <a:pPr algn="l">
              <a:defRPr sz="3675" b="0">
                <a:solidFill>
                  <a:srgbClr val="F6F3FF"/>
                </a:solidFill>
              </a:defRPr>
            </a:pPr>
            <a:r>
              <a:rPr sz="3675" b="0">
                <a:solidFill>
                  <a:srgbClr val="F6F3FF"/>
                </a:solidFill>
              </a:rPr>
              <a:t>From anywhere.</a:t>
            </a:r>
          </a:p>
        </p:txBody>
      </p:sp>
      <p:sp>
        <p:nvSpPr>
          <p:cNvPr id="7" name="">
            <a:extLst xmlns:a="http://schemas.openxmlformats.org/drawingml/2006/main">
              <a:ext uri="{FF2B5EF4-FFF2-40B4-BE49-F238E27FC236}">
                <a16:creationId xmlns:a16="http://schemas.microsoft.com/office/drawing/2014/main" id="{0877CE7B-0594-46E9-BB87-D7F33E5DFDA9}"/>
              </a:ext>
            </a:extLst>
          </p:cNvPr>
          <p:cNvSpPr>
            <a:spLocks xmlns:a="http://schemas.openxmlformats.org/drawingml/2006/main" noGrp="1"/>
          </p:cNvSpPr>
          <p:nvPr/>
        </p:nvSpPr>
        <p:spPr>
          <a:xfrm xmlns:a="http://schemas.openxmlformats.org/drawingml/2006/main">
            <a:off x="685800" y="4781550"/>
            <a:ext cx="5143500" cy="9525"/>
          </a:xfrm>
          <a:prstGeom xmlns:a="http://schemas.openxmlformats.org/drawingml/2006/main" prst="rect">
            <a:avLst/>
          </a:prstGeom>
          <a:solidFill xmlns:a="http://schemas.openxmlformats.org/drawingml/2006/main">
            <a:srgbClr val="32324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A8E4B8-BA45-4364-936F-ACAAACB19320}"/>
              </a:ext>
            </a:extLst>
          </p:cNvPr>
          <p:cNvSpPr>
            <a:spLocks xmlns:a="http://schemas.openxmlformats.org/drawingml/2006/main" noGrp="1"/>
          </p:cNvSpPr>
          <p:nvPr/>
        </p:nvSpPr>
        <p:spPr>
          <a:xfrm xmlns:a="http://schemas.openxmlformats.org/drawingml/2006/main">
            <a:off x="685800" y="4991100"/>
            <a:ext cx="619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AAA6BD"/>
                </a:solidFill>
              </a:defRPr>
            </a:pPr>
            <a:r>
              <a:rPr sz="1500" b="0">
                <a:solidFill>
                  <a:srgbClr val="AAA6BD"/>
                </a:solidFill>
              </a:rPr>
              <a:t>A private 30-second bridge between Golden Gate Park</a:t>
            </a:r>
          </a:p>
          <a:p xmlns:a="http://schemas.openxmlformats.org/drawingml/2006/main">
            <a:pPr algn="l">
              <a:defRPr sz="1500" b="0">
                <a:solidFill>
                  <a:srgbClr val="AAA6BD"/>
                </a:solidFill>
              </a:defRPr>
            </a:pPr>
            <a:r>
              <a:rPr sz="1500" b="0">
                <a:solidFill>
                  <a:srgbClr val="AAA6BD"/>
                </a:solidFill>
              </a:rPr>
              <a:t>and one person watching from home.</a:t>
            </a:r>
          </a:p>
        </p:txBody>
      </p:sp>
      <p:sp>
        <p:nvSpPr>
          <p:cNvPr id="9" name="">
            <a:extLst xmlns:a="http://schemas.openxmlformats.org/drawingml/2006/main">
              <a:ext uri="{FF2B5EF4-FFF2-40B4-BE49-F238E27FC236}">
                <a16:creationId xmlns:a16="http://schemas.microsoft.com/office/drawing/2014/main" id="{824A4BBC-D1B4-4EDE-AE84-00D89FD416EB}"/>
              </a:ext>
            </a:extLst>
          </p:cNvPr>
          <p:cNvSpPr>
            <a:spLocks xmlns:a="http://schemas.openxmlformats.org/drawingml/2006/main" noGrp="1"/>
          </p:cNvSpPr>
          <p:nvPr/>
        </p:nvSpPr>
        <p:spPr>
          <a:xfrm xmlns:a="http://schemas.openxmlformats.org/drawingml/2006/main">
            <a:off x="685800" y="6124575"/>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AAA6BD"/>
                </a:solidFill>
              </a:defRPr>
            </a:pPr>
            <a:r>
              <a:rPr sz="900" b="1">
                <a:solidFill>
                  <a:srgbClr val="AAA6BD"/>
                </a:solidFill>
              </a:rPr>
              <a:t>OPENAI · CHATGPT SITES · JAMBASE-READY</a:t>
            </a:r>
          </a:p>
        </p:txBody>
      </p:sp>
    </p:spTree>
    <p:extLst>
      <p:ext uri="{BB962C8B-B14F-4D97-AF65-F5344CB8AC3E}">
        <p14:creationId xmlns:p14="http://schemas.microsoft.com/office/powerpoint/2010/main" val="1933161807"/>
      </p:ext>
    </p:extLst>
  </p:cSld>
</p:sld>
</file>

<file path=ppt/slides/slide2.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FFDA72-43F9-4A0F-B0B9-D76A81D1989C}"/>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BFF0C42-1D81-4758-8745-A073F55AE2F9}"/>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THE GAP</a:t>
            </a:r>
          </a:p>
        </p:txBody>
      </p:sp>
      <p:sp>
        <p:nvSpPr>
          <p:cNvPr id="3" name="">
            <a:extLst xmlns:a="http://schemas.openxmlformats.org/drawingml/2006/main">
              <a:ext uri="{FF2B5EF4-FFF2-40B4-BE49-F238E27FC236}">
                <a16:creationId xmlns:a16="http://schemas.microsoft.com/office/drawing/2014/main" id="{3D900953-C2F1-475B-A8A1-7B6226CBC257}"/>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02</a:t>
            </a:r>
          </a:p>
        </p:txBody>
      </p:sp>
      <p:sp>
        <p:nvSpPr>
          <p:cNvPr id="4" name="">
            <a:extLst xmlns:a="http://schemas.openxmlformats.org/drawingml/2006/main">
              <a:ext uri="{FF2B5EF4-FFF2-40B4-BE49-F238E27FC236}">
                <a16:creationId xmlns:a16="http://schemas.microsoft.com/office/drawing/2014/main" id="{547E72ED-2950-4591-921E-0412DACE9494}"/>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Livestreams transmit video. They don’t transmit presence.</a:t>
            </a:r>
          </a:p>
        </p:txBody>
      </p:sp>
      <p:sp>
        <p:nvSpPr>
          <p:cNvPr id="5" name="">
            <a:extLst xmlns:a="http://schemas.openxmlformats.org/drawingml/2006/main">
              <a:ext uri="{FF2B5EF4-FFF2-40B4-BE49-F238E27FC236}">
                <a16:creationId xmlns:a16="http://schemas.microsoft.com/office/drawing/2014/main" id="{5206FE35-0772-419B-A0FB-D5CE091DD890}"/>
              </a:ext>
            </a:extLst>
          </p:cNvPr>
          <p:cNvSpPr>
            <a:spLocks xmlns:a="http://schemas.openxmlformats.org/drawingml/2006/main" noGrp="1"/>
          </p:cNvSpPr>
          <p:nvPr/>
        </p:nvSpPr>
        <p:spPr>
          <a:xfrm xmlns:a="http://schemas.openxmlformats.org/drawingml/2006/main">
            <a:off x="685800" y="2095500"/>
            <a:ext cx="504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6F3FF"/>
                </a:solidFill>
              </a:defRPr>
            </a:pPr>
            <a:r>
              <a:rPr sz="1875" b="1">
                <a:solidFill>
                  <a:srgbClr val="F6F3FF"/>
                </a:solidFill>
              </a:rPr>
              <a:t>The official stream can bring the show worldwide.</a:t>
            </a:r>
          </a:p>
        </p:txBody>
      </p:sp>
      <p:sp>
        <p:nvSpPr>
          <p:cNvPr id="6" name="">
            <a:extLst xmlns:a="http://schemas.openxmlformats.org/drawingml/2006/main">
              <a:ext uri="{FF2B5EF4-FFF2-40B4-BE49-F238E27FC236}">
                <a16:creationId xmlns:a16="http://schemas.microsoft.com/office/drawing/2014/main" id="{28FE5F65-89A0-450B-B793-2479A703687A}"/>
              </a:ext>
            </a:extLst>
          </p:cNvPr>
          <p:cNvSpPr>
            <a:spLocks xmlns:a="http://schemas.openxmlformats.org/drawingml/2006/main" noGrp="1"/>
          </p:cNvSpPr>
          <p:nvPr/>
        </p:nvSpPr>
        <p:spPr>
          <a:xfrm xmlns:a="http://schemas.openxmlformats.org/drawingml/2006/main">
            <a:off x="685800" y="2686050"/>
            <a:ext cx="5048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AAA6BD"/>
                </a:solidFill>
              </a:defRPr>
            </a:pPr>
            <a:r>
              <a:rPr sz="1725" b="0">
                <a:solidFill>
                  <a:srgbClr val="AAA6BD"/>
                </a:solidFill>
              </a:rPr>
              <a:t>But remote fans still miss the air, the pressure, the scale—and the feeling that one specific human thought of them in that exact moment.</a:t>
            </a:r>
          </a:p>
        </p:txBody>
      </p:sp>
      <p:sp>
        <p:nvSpPr>
          <p:cNvPr id="7" name="">
            <a:extLst xmlns:a="http://schemas.openxmlformats.org/drawingml/2006/main">
              <a:ext uri="{FF2B5EF4-FFF2-40B4-BE49-F238E27FC236}">
                <a16:creationId xmlns:a16="http://schemas.microsoft.com/office/drawing/2014/main" id="{371CEE02-BD63-4EB1-9A7A-6DB305D4FAC8}"/>
              </a:ext>
            </a:extLst>
          </p:cNvPr>
          <p:cNvSpPr>
            <a:spLocks xmlns:a="http://schemas.openxmlformats.org/drawingml/2006/main" noGrp="1"/>
          </p:cNvSpPr>
          <p:nvPr/>
        </p:nvSpPr>
        <p:spPr>
          <a:xfrm xmlns:a="http://schemas.openxmlformats.org/drawingml/2006/main">
            <a:off x="6610350" y="2038350"/>
            <a:ext cx="4267200" cy="2647950"/>
          </a:xfrm>
          <a:prstGeom xmlns:a="http://schemas.openxmlformats.org/drawingml/2006/main" prst="roundRect">
            <a:avLst>
              <a:gd name="adj" fmla="val 5755"/>
            </a:avLst>
          </a:prstGeom>
          <a:solidFill xmlns:a="http://schemas.openxmlformats.org/drawingml/2006/main">
            <a:srgbClr val="151526"/>
          </a:solidFill>
          <a:ln xmlns:a="http://schemas.openxmlformats.org/drawingml/2006/main" w="9525">
            <a:solidFill>
              <a:srgbClr val="323242"/>
            </a:solidFill>
            <a:prstDash val="solid"/>
          </a:ln>
        </p:spPr>
      </p:sp>
      <p:sp>
        <p:nvSpPr>
          <p:cNvPr id="8" name="">
            <a:extLst xmlns:a="http://schemas.openxmlformats.org/drawingml/2006/main">
              <a:ext uri="{FF2B5EF4-FFF2-40B4-BE49-F238E27FC236}">
                <a16:creationId xmlns:a16="http://schemas.microsoft.com/office/drawing/2014/main" id="{E9DFE904-6F49-4069-89CA-700E0C680D36}"/>
              </a:ext>
            </a:extLst>
          </p:cNvPr>
          <p:cNvSpPr>
            <a:spLocks xmlns:a="http://schemas.openxmlformats.org/drawingml/2006/main" noGrp="1"/>
          </p:cNvSpPr>
          <p:nvPr/>
        </p:nvSpPr>
        <p:spPr>
          <a:xfrm xmlns:a="http://schemas.openxmlformats.org/drawingml/2006/main">
            <a:off x="6953250" y="236220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8C7BFF"/>
                </a:solidFill>
              </a:defRPr>
            </a:pPr>
            <a:r>
              <a:rPr sz="900" b="1">
                <a:solidFill>
                  <a:srgbClr val="8C7BFF"/>
                </a:solidFill>
              </a:rPr>
              <a:t>WATCHING</a:t>
            </a:r>
          </a:p>
        </p:txBody>
      </p:sp>
      <p:sp>
        <p:nvSpPr>
          <p:cNvPr id="9" name="">
            <a:extLst xmlns:a="http://schemas.openxmlformats.org/drawingml/2006/main">
              <a:ext uri="{FF2B5EF4-FFF2-40B4-BE49-F238E27FC236}">
                <a16:creationId xmlns:a16="http://schemas.microsoft.com/office/drawing/2014/main" id="{926FC56C-55C9-4780-85D8-C04A7735F528}"/>
              </a:ext>
            </a:extLst>
          </p:cNvPr>
          <p:cNvSpPr>
            <a:spLocks xmlns:a="http://schemas.openxmlformats.org/drawingml/2006/main" noGrp="1"/>
          </p:cNvSpPr>
          <p:nvPr/>
        </p:nvSpPr>
        <p:spPr>
          <a:xfrm xmlns:a="http://schemas.openxmlformats.org/drawingml/2006/main">
            <a:off x="6953250" y="28098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6F3FF"/>
                </a:solidFill>
              </a:defRPr>
            </a:pPr>
            <a:r>
              <a:rPr sz="1875" b="1">
                <a:solidFill>
                  <a:srgbClr val="F6F3FF"/>
                </a:solidFill>
              </a:rPr>
              <a:t>4K video</a:t>
            </a:r>
          </a:p>
        </p:txBody>
      </p:sp>
      <p:sp>
        <p:nvSpPr>
          <p:cNvPr id="10" name="">
            <a:extLst xmlns:a="http://schemas.openxmlformats.org/drawingml/2006/main">
              <a:ext uri="{FF2B5EF4-FFF2-40B4-BE49-F238E27FC236}">
                <a16:creationId xmlns:a16="http://schemas.microsoft.com/office/drawing/2014/main" id="{4C2DB0E9-4B0D-411B-9121-F7BF9D9FECE3}"/>
              </a:ext>
            </a:extLst>
          </p:cNvPr>
          <p:cNvSpPr>
            <a:spLocks xmlns:a="http://schemas.openxmlformats.org/drawingml/2006/main" noGrp="1"/>
          </p:cNvSpPr>
          <p:nvPr/>
        </p:nvSpPr>
        <p:spPr>
          <a:xfrm xmlns:a="http://schemas.openxmlformats.org/drawingml/2006/main">
            <a:off x="6953250" y="32956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6F3FF"/>
                </a:solidFill>
              </a:defRPr>
            </a:pPr>
            <a:r>
              <a:rPr sz="1875" b="1">
                <a:solidFill>
                  <a:srgbClr val="F6F3FF"/>
                </a:solidFill>
              </a:rPr>
              <a:t>Two channels</a:t>
            </a:r>
          </a:p>
        </p:txBody>
      </p:sp>
      <p:sp>
        <p:nvSpPr>
          <p:cNvPr id="11" name="">
            <a:extLst xmlns:a="http://schemas.openxmlformats.org/drawingml/2006/main">
              <a:ext uri="{FF2B5EF4-FFF2-40B4-BE49-F238E27FC236}">
                <a16:creationId xmlns:a16="http://schemas.microsoft.com/office/drawing/2014/main" id="{5199F709-836B-4FF4-AEAC-A6AC1A1DDDAB}"/>
              </a:ext>
            </a:extLst>
          </p:cNvPr>
          <p:cNvSpPr>
            <a:spLocks xmlns:a="http://schemas.openxmlformats.org/drawingml/2006/main" noGrp="1"/>
          </p:cNvSpPr>
          <p:nvPr/>
        </p:nvSpPr>
        <p:spPr>
          <a:xfrm xmlns:a="http://schemas.openxmlformats.org/drawingml/2006/main">
            <a:off x="6953250" y="3781425"/>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F6F3FF"/>
                </a:solidFill>
              </a:defRPr>
            </a:pPr>
            <a:r>
              <a:rPr sz="1875" b="1">
                <a:solidFill>
                  <a:srgbClr val="F6F3FF"/>
                </a:solidFill>
              </a:rPr>
              <a:t>Worldwide</a:t>
            </a:r>
          </a:p>
        </p:txBody>
      </p:sp>
      <p:sp>
        <p:nvSpPr>
          <p:cNvPr id="12" name="">
            <a:extLst xmlns:a="http://schemas.openxmlformats.org/drawingml/2006/main">
              <a:ext uri="{FF2B5EF4-FFF2-40B4-BE49-F238E27FC236}">
                <a16:creationId xmlns:a16="http://schemas.microsoft.com/office/drawing/2014/main" id="{8B67B7EE-A053-49FD-B5BD-368120D5F794}"/>
              </a:ext>
            </a:extLst>
          </p:cNvPr>
          <p:cNvSpPr>
            <a:spLocks xmlns:a="http://schemas.openxmlformats.org/drawingml/2006/main" noGrp="1"/>
          </p:cNvSpPr>
          <p:nvPr/>
        </p:nvSpPr>
        <p:spPr>
          <a:xfrm xmlns:a="http://schemas.openxmlformats.org/drawingml/2006/main">
            <a:off x="8905875" y="2352675"/>
            <a:ext cx="9525" cy="1885950"/>
          </a:xfrm>
          <a:prstGeom xmlns:a="http://schemas.openxmlformats.org/drawingml/2006/main" prst="rect">
            <a:avLst/>
          </a:prstGeom>
          <a:solidFill xmlns:a="http://schemas.openxmlformats.org/drawingml/2006/main">
            <a:srgbClr val="32324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0D395EA-9DC1-4BEA-B974-AF7E7CF14E24}"/>
              </a:ext>
            </a:extLst>
          </p:cNvPr>
          <p:cNvSpPr>
            <a:spLocks xmlns:a="http://schemas.openxmlformats.org/drawingml/2006/main" noGrp="1"/>
          </p:cNvSpPr>
          <p:nvPr/>
        </p:nvSpPr>
        <p:spPr>
          <a:xfrm xmlns:a="http://schemas.openxmlformats.org/drawingml/2006/main">
            <a:off x="9220200" y="2362200"/>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FF7A61"/>
                </a:solidFill>
              </a:defRPr>
            </a:pPr>
            <a:r>
              <a:rPr sz="900" b="1">
                <a:solidFill>
                  <a:srgbClr val="FF7A61"/>
                </a:solidFill>
              </a:rPr>
              <a:t>MISSING</a:t>
            </a:r>
          </a:p>
        </p:txBody>
      </p:sp>
      <p:sp>
        <p:nvSpPr>
          <p:cNvPr id="14" name="">
            <a:extLst xmlns:a="http://schemas.openxmlformats.org/drawingml/2006/main">
              <a:ext uri="{FF2B5EF4-FFF2-40B4-BE49-F238E27FC236}">
                <a16:creationId xmlns:a16="http://schemas.microsoft.com/office/drawing/2014/main" id="{7B8E34F0-0268-4232-869D-EAA7A7CE5739}"/>
              </a:ext>
            </a:extLst>
          </p:cNvPr>
          <p:cNvSpPr>
            <a:spLocks xmlns:a="http://schemas.openxmlformats.org/drawingml/2006/main" noGrp="1"/>
          </p:cNvSpPr>
          <p:nvPr/>
        </p:nvSpPr>
        <p:spPr>
          <a:xfrm xmlns:a="http://schemas.openxmlformats.org/drawingml/2006/main">
            <a:off x="9220200" y="2857500"/>
            <a:ext cx="1428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75" b="1">
                <a:solidFill>
                  <a:srgbClr val="F6F3FF"/>
                </a:solidFill>
              </a:defRPr>
            </a:pPr>
            <a:r>
              <a:rPr sz="2175" b="1">
                <a:solidFill>
                  <a:srgbClr val="F6F3FF"/>
                </a:solidFill>
              </a:rPr>
              <a:t>A human</a:t>
            </a:r>
          </a:p>
          <a:p xmlns:a="http://schemas.openxmlformats.org/drawingml/2006/main">
            <a:pPr algn="l">
              <a:defRPr sz="2175" b="1">
                <a:solidFill>
                  <a:srgbClr val="F6F3FF"/>
                </a:solidFill>
              </a:defRPr>
            </a:pPr>
            <a:r>
              <a:rPr sz="2175" b="1">
                <a:solidFill>
                  <a:srgbClr val="F6F3FF"/>
                </a:solidFill>
              </a:rPr>
              <a:t>return path</a:t>
            </a:r>
          </a:p>
        </p:txBody>
      </p:sp>
      <p:sp>
        <p:nvSpPr>
          <p:cNvPr id="15" name="">
            <a:extLst xmlns:a="http://schemas.openxmlformats.org/drawingml/2006/main">
              <a:ext uri="{FF2B5EF4-FFF2-40B4-BE49-F238E27FC236}">
                <a16:creationId xmlns:a16="http://schemas.microsoft.com/office/drawing/2014/main" id="{05BF33D9-1730-4DCD-A416-9F82E920398E}"/>
              </a:ext>
            </a:extLst>
          </p:cNvPr>
          <p:cNvSpPr>
            <a:spLocks xmlns:a="http://schemas.openxmlformats.org/drawingml/2006/main" noGrp="1"/>
          </p:cNvSpPr>
          <p:nvPr/>
        </p:nvSpPr>
        <p:spPr>
          <a:xfrm xmlns:a="http://schemas.openxmlformats.org/drawingml/2006/main">
            <a:off x="685800" y="5429250"/>
            <a:ext cx="857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a:solidFill>
                  <a:srgbClr val="FF7A61"/>
                </a:solidFill>
              </a:defRPr>
            </a:pPr>
            <a:r>
              <a:rPr sz="2325" b="1">
                <a:solidFill>
                  <a:srgbClr val="FF7A61"/>
                </a:solidFill>
              </a:rPr>
              <a:t>Same Sky adds the smallest possible return path.</a:t>
            </a:r>
          </a:p>
        </p:txBody>
      </p:sp>
    </p:spTree>
    <p:extLst>
      <p:ext uri="{BB962C8B-B14F-4D97-AF65-F5344CB8AC3E}">
        <p14:creationId xmlns:p14="http://schemas.microsoft.com/office/powerpoint/2010/main" val="1734158545"/>
      </p:ext>
    </p:extLst>
  </p:cSld>
</p:sld>
</file>

<file path=ppt/slides/slide3.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D53D297-7B23-4F67-934A-40F83CCBBB01}"/>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2FC891-71F9-4BDD-AABC-384856BD6C2C}"/>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THE 30-SECOND RITUAL</a:t>
            </a:r>
          </a:p>
        </p:txBody>
      </p:sp>
      <p:sp>
        <p:nvSpPr>
          <p:cNvPr id="3" name="">
            <a:extLst xmlns:a="http://schemas.openxmlformats.org/drawingml/2006/main">
              <a:ext uri="{FF2B5EF4-FFF2-40B4-BE49-F238E27FC236}">
                <a16:creationId xmlns:a16="http://schemas.microsoft.com/office/drawing/2014/main" id="{4A36D3BE-E0DA-45D3-A5D2-06C99E950117}"/>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03</a:t>
            </a:r>
          </a:p>
        </p:txBody>
      </p:sp>
      <p:sp>
        <p:nvSpPr>
          <p:cNvPr id="4" name="">
            <a:extLst xmlns:a="http://schemas.openxmlformats.org/drawingml/2006/main">
              <a:ext uri="{FF2B5EF4-FFF2-40B4-BE49-F238E27FC236}">
                <a16:creationId xmlns:a16="http://schemas.microsoft.com/office/drawing/2014/main" id="{C5760054-6190-4DEB-AA79-482ABCD12150}"/>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One person here. One person far away. One pulse back.</a:t>
            </a:r>
          </a:p>
        </p:txBody>
      </p:sp>
      <p:sp>
        <p:nvSpPr>
          <p:cNvPr id="5" name="">
            <a:extLst xmlns:a="http://schemas.openxmlformats.org/drawingml/2006/main">
              <a:ext uri="{FF2B5EF4-FFF2-40B4-BE49-F238E27FC236}">
                <a16:creationId xmlns:a16="http://schemas.microsoft.com/office/drawing/2014/main" id="{DDA46D5A-9DA6-420F-B16B-D733C7598023}"/>
              </a:ext>
            </a:extLst>
          </p:cNvPr>
          <p:cNvSpPr>
            <a:spLocks xmlns:a="http://schemas.openxmlformats.org/drawingml/2006/main" noGrp="1"/>
          </p:cNvSpPr>
          <p:nvPr/>
        </p:nvSpPr>
        <p:spPr>
          <a:xfrm xmlns:a="http://schemas.openxmlformats.org/drawingml/2006/main">
            <a:off x="685800" y="2266950"/>
            <a:ext cx="2476500" cy="2476500"/>
          </a:xfrm>
          <a:prstGeom xmlns:a="http://schemas.openxmlformats.org/drawingml/2006/main" prst="roundRect">
            <a:avLst>
              <a:gd name="adj" fmla="val 6154"/>
            </a:avLst>
          </a:prstGeom>
          <a:solidFill xmlns:a="http://schemas.openxmlformats.org/drawingml/2006/main">
            <a:srgbClr val="151526"/>
          </a:solidFill>
          <a:ln xmlns:a="http://schemas.openxmlformats.org/drawingml/2006/main" w="9525">
            <a:solidFill>
              <a:srgbClr val="323242"/>
            </a:solidFill>
            <a:prstDash val="solid"/>
          </a:ln>
        </p:spPr>
      </p:sp>
      <p:sp>
        <p:nvSpPr>
          <p:cNvPr id="6" name="">
            <a:extLst xmlns:a="http://schemas.openxmlformats.org/drawingml/2006/main">
              <a:ext uri="{FF2B5EF4-FFF2-40B4-BE49-F238E27FC236}">
                <a16:creationId xmlns:a16="http://schemas.microsoft.com/office/drawing/2014/main" id="{407280AA-7958-456F-98B1-6726C6C14D6B}"/>
              </a:ext>
            </a:extLst>
          </p:cNvPr>
          <p:cNvSpPr>
            <a:spLocks xmlns:a="http://schemas.openxmlformats.org/drawingml/2006/main" noGrp="1"/>
          </p:cNvSpPr>
          <p:nvPr/>
        </p:nvSpPr>
        <p:spPr>
          <a:xfrm xmlns:a="http://schemas.openxmlformats.org/drawingml/2006/main">
            <a:off x="895350" y="24574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C7BFF"/>
                </a:solidFill>
              </a:defRPr>
            </a:pPr>
            <a:r>
              <a:rPr sz="975" b="1">
                <a:solidFill>
                  <a:srgbClr val="8C7BFF"/>
                </a:solidFill>
              </a:rPr>
              <a:t>01</a:t>
            </a:r>
          </a:p>
        </p:txBody>
      </p:sp>
      <p:sp>
        <p:nvSpPr>
          <p:cNvPr id="7" name="">
            <a:extLst xmlns:a="http://schemas.openxmlformats.org/drawingml/2006/main">
              <a:ext uri="{FF2B5EF4-FFF2-40B4-BE49-F238E27FC236}">
                <a16:creationId xmlns:a16="http://schemas.microsoft.com/office/drawing/2014/main" id="{328A8BA5-FEBB-43D0-8C00-257342919F05}"/>
              </a:ext>
            </a:extLst>
          </p:cNvPr>
          <p:cNvSpPr>
            <a:spLocks xmlns:a="http://schemas.openxmlformats.org/drawingml/2006/main" noGrp="1"/>
          </p:cNvSpPr>
          <p:nvPr/>
        </p:nvSpPr>
        <p:spPr>
          <a:xfrm xmlns:a="http://schemas.openxmlformats.org/drawingml/2006/main">
            <a:off x="895350" y="30003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F6F3FF"/>
                </a:solidFill>
              </a:defRPr>
            </a:pPr>
            <a:r>
              <a:rPr sz="1800" b="1">
                <a:solidFill>
                  <a:srgbClr val="F6F3FF"/>
                </a:solidFill>
              </a:rPr>
              <a:t>PAIR</a:t>
            </a:r>
          </a:p>
        </p:txBody>
      </p:sp>
      <p:sp>
        <p:nvSpPr>
          <p:cNvPr id="8" name="">
            <a:extLst xmlns:a="http://schemas.openxmlformats.org/drawingml/2006/main">
              <a:ext uri="{FF2B5EF4-FFF2-40B4-BE49-F238E27FC236}">
                <a16:creationId xmlns:a16="http://schemas.microsoft.com/office/drawing/2014/main" id="{B33013E0-649A-45F4-B025-9AE1661E3B6F}"/>
              </a:ext>
            </a:extLst>
          </p:cNvPr>
          <p:cNvSpPr>
            <a:spLocks xmlns:a="http://schemas.openxmlformats.org/drawingml/2006/main" noGrp="1"/>
          </p:cNvSpPr>
          <p:nvPr/>
        </p:nvSpPr>
        <p:spPr>
          <a:xfrm xmlns:a="http://schemas.openxmlformats.org/drawingml/2006/main">
            <a:off x="895350" y="3524250"/>
            <a:ext cx="20193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A six-character, one-person invite.</a:t>
            </a:r>
          </a:p>
        </p:txBody>
      </p:sp>
      <p:sp>
        <p:nvSpPr>
          <p:cNvPr id="9" name="">
            <a:extLst xmlns:a="http://schemas.openxmlformats.org/drawingml/2006/main">
              <a:ext uri="{FF2B5EF4-FFF2-40B4-BE49-F238E27FC236}">
                <a16:creationId xmlns:a16="http://schemas.microsoft.com/office/drawing/2014/main" id="{FF8D2F5A-E51B-4DEC-B2A2-2B499A2016E5}"/>
              </a:ext>
            </a:extLst>
          </p:cNvPr>
          <p:cNvSpPr>
            <a:spLocks xmlns:a="http://schemas.openxmlformats.org/drawingml/2006/main" noGrp="1"/>
          </p:cNvSpPr>
          <p:nvPr/>
        </p:nvSpPr>
        <p:spPr>
          <a:xfrm xmlns:a="http://schemas.openxmlformats.org/drawingml/2006/main">
            <a:off x="3238500" y="3286125"/>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FF7A61"/>
                </a:solidFill>
              </a:defRPr>
            </a:pPr>
            <a:r>
              <a:rPr sz="1500" b="1">
                <a:solidFill>
                  <a:srgbClr val="FF7A61"/>
                </a:solidFill>
              </a:rPr>
              <a:t>→</a:t>
            </a:r>
          </a:p>
        </p:txBody>
      </p:sp>
      <p:sp>
        <p:nvSpPr>
          <p:cNvPr id="10" name="">
            <a:extLst xmlns:a="http://schemas.openxmlformats.org/drawingml/2006/main">
              <a:ext uri="{FF2B5EF4-FFF2-40B4-BE49-F238E27FC236}">
                <a16:creationId xmlns:a16="http://schemas.microsoft.com/office/drawing/2014/main" id="{2993AE7B-5FB1-48E5-BF6F-48D2C491D126}"/>
              </a:ext>
            </a:extLst>
          </p:cNvPr>
          <p:cNvSpPr>
            <a:spLocks xmlns:a="http://schemas.openxmlformats.org/drawingml/2006/main" noGrp="1"/>
          </p:cNvSpPr>
          <p:nvPr/>
        </p:nvSpPr>
        <p:spPr>
          <a:xfrm xmlns:a="http://schemas.openxmlformats.org/drawingml/2006/main">
            <a:off x="3467100" y="2266950"/>
            <a:ext cx="2476500" cy="2476500"/>
          </a:xfrm>
          <a:prstGeom xmlns:a="http://schemas.openxmlformats.org/drawingml/2006/main" prst="roundRect">
            <a:avLst>
              <a:gd name="adj" fmla="val 6154"/>
            </a:avLst>
          </a:prstGeom>
          <a:solidFill xmlns:a="http://schemas.openxmlformats.org/drawingml/2006/main">
            <a:srgbClr val="151526"/>
          </a:solidFill>
          <a:ln xmlns:a="http://schemas.openxmlformats.org/drawingml/2006/main" w="9525">
            <a:solidFill>
              <a:srgbClr val="323242"/>
            </a:solidFill>
            <a:prstDash val="solid"/>
          </a:ln>
        </p:spPr>
      </p:sp>
      <p:sp>
        <p:nvSpPr>
          <p:cNvPr id="11" name="">
            <a:extLst xmlns:a="http://schemas.openxmlformats.org/drawingml/2006/main">
              <a:ext uri="{FF2B5EF4-FFF2-40B4-BE49-F238E27FC236}">
                <a16:creationId xmlns:a16="http://schemas.microsoft.com/office/drawing/2014/main" id="{3EA86A8D-F753-4098-8A1F-679B45AB4901}"/>
              </a:ext>
            </a:extLst>
          </p:cNvPr>
          <p:cNvSpPr>
            <a:spLocks xmlns:a="http://schemas.openxmlformats.org/drawingml/2006/main" noGrp="1"/>
          </p:cNvSpPr>
          <p:nvPr/>
        </p:nvSpPr>
        <p:spPr>
          <a:xfrm xmlns:a="http://schemas.openxmlformats.org/drawingml/2006/main">
            <a:off x="3676650" y="24574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C7BFF"/>
                </a:solidFill>
              </a:defRPr>
            </a:pPr>
            <a:r>
              <a:rPr sz="975" b="1">
                <a:solidFill>
                  <a:srgbClr val="8C7BFF"/>
                </a:solidFill>
              </a:rPr>
              <a:t>02</a:t>
            </a:r>
          </a:p>
        </p:txBody>
      </p:sp>
      <p:sp>
        <p:nvSpPr>
          <p:cNvPr id="12" name="">
            <a:extLst xmlns:a="http://schemas.openxmlformats.org/drawingml/2006/main">
              <a:ext uri="{FF2B5EF4-FFF2-40B4-BE49-F238E27FC236}">
                <a16:creationId xmlns:a16="http://schemas.microsoft.com/office/drawing/2014/main" id="{2D75381B-ABC8-4F93-8524-789A4633087B}"/>
              </a:ext>
            </a:extLst>
          </p:cNvPr>
          <p:cNvSpPr>
            <a:spLocks xmlns:a="http://schemas.openxmlformats.org/drawingml/2006/main" noGrp="1"/>
          </p:cNvSpPr>
          <p:nvPr/>
        </p:nvSpPr>
        <p:spPr>
          <a:xfrm xmlns:a="http://schemas.openxmlformats.org/drawingml/2006/main">
            <a:off x="3676650" y="30003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F6F3FF"/>
                </a:solidFill>
              </a:defRPr>
            </a:pPr>
            <a:r>
              <a:rPr sz="1800" b="1">
                <a:solidFill>
                  <a:srgbClr val="F6F3FF"/>
                </a:solidFill>
              </a:rPr>
              <a:t>CAPTURE</a:t>
            </a:r>
          </a:p>
        </p:txBody>
      </p:sp>
      <p:sp>
        <p:nvSpPr>
          <p:cNvPr id="13" name="">
            <a:extLst xmlns:a="http://schemas.openxmlformats.org/drawingml/2006/main">
              <a:ext uri="{FF2B5EF4-FFF2-40B4-BE49-F238E27FC236}">
                <a16:creationId xmlns:a16="http://schemas.microsoft.com/office/drawing/2014/main" id="{9917DACC-06F3-4FCB-BAA4-77F03E169B12}"/>
              </a:ext>
            </a:extLst>
          </p:cNvPr>
          <p:cNvSpPr>
            <a:spLocks xmlns:a="http://schemas.openxmlformats.org/drawingml/2006/main" noGrp="1"/>
          </p:cNvSpPr>
          <p:nvPr/>
        </p:nvSpPr>
        <p:spPr>
          <a:xfrm xmlns:a="http://schemas.openxmlformats.org/drawingml/2006/main">
            <a:off x="3676650" y="3524250"/>
            <a:ext cx="20193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A resized still + firsthand sensory facts.</a:t>
            </a:r>
          </a:p>
        </p:txBody>
      </p:sp>
      <p:sp>
        <p:nvSpPr>
          <p:cNvPr id="14" name="">
            <a:extLst xmlns:a="http://schemas.openxmlformats.org/drawingml/2006/main">
              <a:ext uri="{FF2B5EF4-FFF2-40B4-BE49-F238E27FC236}">
                <a16:creationId xmlns:a16="http://schemas.microsoft.com/office/drawing/2014/main" id="{54CCA403-D5C1-4172-A9E2-746E94573AEF}"/>
              </a:ext>
            </a:extLst>
          </p:cNvPr>
          <p:cNvSpPr>
            <a:spLocks xmlns:a="http://schemas.openxmlformats.org/drawingml/2006/main" noGrp="1"/>
          </p:cNvSpPr>
          <p:nvPr/>
        </p:nvSpPr>
        <p:spPr>
          <a:xfrm xmlns:a="http://schemas.openxmlformats.org/drawingml/2006/main">
            <a:off x="6019800" y="3286125"/>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FF7A61"/>
                </a:solidFill>
              </a:defRPr>
            </a:pPr>
            <a:r>
              <a:rPr sz="1500" b="1">
                <a:solidFill>
                  <a:srgbClr val="FF7A61"/>
                </a:solidFill>
              </a:rPr>
              <a:t>→</a:t>
            </a:r>
          </a:p>
        </p:txBody>
      </p:sp>
      <p:sp>
        <p:nvSpPr>
          <p:cNvPr id="15" name="">
            <a:extLst xmlns:a="http://schemas.openxmlformats.org/drawingml/2006/main">
              <a:ext uri="{FF2B5EF4-FFF2-40B4-BE49-F238E27FC236}">
                <a16:creationId xmlns:a16="http://schemas.microsoft.com/office/drawing/2014/main" id="{FDBD587A-1E53-4CC0-9F7A-A1A4E052757D}"/>
              </a:ext>
            </a:extLst>
          </p:cNvPr>
          <p:cNvSpPr>
            <a:spLocks xmlns:a="http://schemas.openxmlformats.org/drawingml/2006/main" noGrp="1"/>
          </p:cNvSpPr>
          <p:nvPr/>
        </p:nvSpPr>
        <p:spPr>
          <a:xfrm xmlns:a="http://schemas.openxmlformats.org/drawingml/2006/main">
            <a:off x="6248400" y="2266950"/>
            <a:ext cx="2476500" cy="2476500"/>
          </a:xfrm>
          <a:prstGeom xmlns:a="http://schemas.openxmlformats.org/drawingml/2006/main" prst="roundRect">
            <a:avLst>
              <a:gd name="adj" fmla="val 6154"/>
            </a:avLst>
          </a:prstGeom>
          <a:solidFill xmlns:a="http://schemas.openxmlformats.org/drawingml/2006/main">
            <a:srgbClr val="151526"/>
          </a:solidFill>
          <a:ln xmlns:a="http://schemas.openxmlformats.org/drawingml/2006/main" w="9525">
            <a:solidFill>
              <a:srgbClr val="323242"/>
            </a:solidFill>
            <a:prstDash val="solid"/>
          </a:ln>
        </p:spPr>
      </p:sp>
      <p:sp>
        <p:nvSpPr>
          <p:cNvPr id="16" name="">
            <a:extLst xmlns:a="http://schemas.openxmlformats.org/drawingml/2006/main">
              <a:ext uri="{FF2B5EF4-FFF2-40B4-BE49-F238E27FC236}">
                <a16:creationId xmlns:a16="http://schemas.microsoft.com/office/drawing/2014/main" id="{091B8BCA-6E50-4205-BBE0-56B541A39165}"/>
              </a:ext>
            </a:extLst>
          </p:cNvPr>
          <p:cNvSpPr>
            <a:spLocks xmlns:a="http://schemas.openxmlformats.org/drawingml/2006/main" noGrp="1"/>
          </p:cNvSpPr>
          <p:nvPr/>
        </p:nvSpPr>
        <p:spPr>
          <a:xfrm xmlns:a="http://schemas.openxmlformats.org/drawingml/2006/main">
            <a:off x="6457950" y="24574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8C7BFF"/>
                </a:solidFill>
              </a:defRPr>
            </a:pPr>
            <a:r>
              <a:rPr sz="975" b="1">
                <a:solidFill>
                  <a:srgbClr val="8C7BFF"/>
                </a:solidFill>
              </a:rPr>
              <a:t>03</a:t>
            </a:r>
          </a:p>
        </p:txBody>
      </p:sp>
      <p:sp>
        <p:nvSpPr>
          <p:cNvPr id="17" name="">
            <a:extLst xmlns:a="http://schemas.openxmlformats.org/drawingml/2006/main">
              <a:ext uri="{FF2B5EF4-FFF2-40B4-BE49-F238E27FC236}">
                <a16:creationId xmlns:a16="http://schemas.microsoft.com/office/drawing/2014/main" id="{6A108594-7101-40D3-9F3D-4AD76BA3041F}"/>
              </a:ext>
            </a:extLst>
          </p:cNvPr>
          <p:cNvSpPr>
            <a:spLocks xmlns:a="http://schemas.openxmlformats.org/drawingml/2006/main" noGrp="1"/>
          </p:cNvSpPr>
          <p:nvPr/>
        </p:nvSpPr>
        <p:spPr>
          <a:xfrm xmlns:a="http://schemas.openxmlformats.org/drawingml/2006/main">
            <a:off x="6457950" y="30003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F6F3FF"/>
                </a:solidFill>
              </a:defRPr>
            </a:pPr>
            <a:r>
              <a:rPr sz="1800" b="1">
                <a:solidFill>
                  <a:srgbClr val="F6F3FF"/>
                </a:solidFill>
              </a:rPr>
              <a:t>APPROVE</a:t>
            </a:r>
          </a:p>
        </p:txBody>
      </p:sp>
      <p:sp>
        <p:nvSpPr>
          <p:cNvPr id="18" name="">
            <a:extLst xmlns:a="http://schemas.openxmlformats.org/drawingml/2006/main">
              <a:ext uri="{FF2B5EF4-FFF2-40B4-BE49-F238E27FC236}">
                <a16:creationId xmlns:a16="http://schemas.microsoft.com/office/drawing/2014/main" id="{848C759E-C72F-46A4-B1AE-5D79D7787D20}"/>
              </a:ext>
            </a:extLst>
          </p:cNvPr>
          <p:cNvSpPr>
            <a:spLocks xmlns:a="http://schemas.openxmlformats.org/drawingml/2006/main" noGrp="1"/>
          </p:cNvSpPr>
          <p:nvPr/>
        </p:nvSpPr>
        <p:spPr>
          <a:xfrm xmlns:a="http://schemas.openxmlformats.org/drawingml/2006/main">
            <a:off x="6457950" y="3524250"/>
            <a:ext cx="20193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AI-assisted accessible postcard; human truth gate.</a:t>
            </a:r>
          </a:p>
        </p:txBody>
      </p:sp>
      <p:sp>
        <p:nvSpPr>
          <p:cNvPr id="19" name="">
            <a:extLst xmlns:a="http://schemas.openxmlformats.org/drawingml/2006/main">
              <a:ext uri="{FF2B5EF4-FFF2-40B4-BE49-F238E27FC236}">
                <a16:creationId xmlns:a16="http://schemas.microsoft.com/office/drawing/2014/main" id="{317CAE7D-AA54-45A8-80F1-E10C3B26B1CC}"/>
              </a:ext>
            </a:extLst>
          </p:cNvPr>
          <p:cNvSpPr>
            <a:spLocks xmlns:a="http://schemas.openxmlformats.org/drawingml/2006/main" noGrp="1"/>
          </p:cNvSpPr>
          <p:nvPr/>
        </p:nvSpPr>
        <p:spPr>
          <a:xfrm xmlns:a="http://schemas.openxmlformats.org/drawingml/2006/main">
            <a:off x="8801100" y="3286125"/>
            <a:ext cx="209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FF7A61"/>
                </a:solidFill>
              </a:defRPr>
            </a:pPr>
            <a:r>
              <a:rPr sz="1500" b="1">
                <a:solidFill>
                  <a:srgbClr val="FF7A61"/>
                </a:solidFill>
              </a:rPr>
              <a:t>→</a:t>
            </a:r>
          </a:p>
        </p:txBody>
      </p:sp>
      <p:sp>
        <p:nvSpPr>
          <p:cNvPr id="20" name="">
            <a:extLst xmlns:a="http://schemas.openxmlformats.org/drawingml/2006/main">
              <a:ext uri="{FF2B5EF4-FFF2-40B4-BE49-F238E27FC236}">
                <a16:creationId xmlns:a16="http://schemas.microsoft.com/office/drawing/2014/main" id="{CEE7978C-51AE-4FB9-91FC-EA11993B3288}"/>
              </a:ext>
            </a:extLst>
          </p:cNvPr>
          <p:cNvSpPr>
            <a:spLocks xmlns:a="http://schemas.openxmlformats.org/drawingml/2006/main" noGrp="1"/>
          </p:cNvSpPr>
          <p:nvPr/>
        </p:nvSpPr>
        <p:spPr>
          <a:xfrm xmlns:a="http://schemas.openxmlformats.org/drawingml/2006/main">
            <a:off x="9029700" y="2266950"/>
            <a:ext cx="2476500" cy="2476500"/>
          </a:xfrm>
          <a:prstGeom xmlns:a="http://schemas.openxmlformats.org/drawingml/2006/main" prst="roundRect">
            <a:avLst>
              <a:gd name="adj" fmla="val 6154"/>
            </a:avLst>
          </a:prstGeom>
          <a:solidFill xmlns:a="http://schemas.openxmlformats.org/drawingml/2006/main">
            <a:srgbClr val="241B2B"/>
          </a:solidFill>
          <a:ln xmlns:a="http://schemas.openxmlformats.org/drawingml/2006/main" w="9525">
            <a:solidFill>
              <a:srgbClr val="FF7A61"/>
            </a:solidFill>
            <a:prstDash val="solid"/>
          </a:ln>
        </p:spPr>
      </p:sp>
      <p:sp>
        <p:nvSpPr>
          <p:cNvPr id="21" name="">
            <a:extLst xmlns:a="http://schemas.openxmlformats.org/drawingml/2006/main">
              <a:ext uri="{FF2B5EF4-FFF2-40B4-BE49-F238E27FC236}">
                <a16:creationId xmlns:a16="http://schemas.microsoft.com/office/drawing/2014/main" id="{4DF037C0-E54F-4AE0-8772-7316492AACE7}"/>
              </a:ext>
            </a:extLst>
          </p:cNvPr>
          <p:cNvSpPr>
            <a:spLocks xmlns:a="http://schemas.openxmlformats.org/drawingml/2006/main" noGrp="1"/>
          </p:cNvSpPr>
          <p:nvPr/>
        </p:nvSpPr>
        <p:spPr>
          <a:xfrm xmlns:a="http://schemas.openxmlformats.org/drawingml/2006/main">
            <a:off x="9239250" y="24574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04</a:t>
            </a:r>
          </a:p>
        </p:txBody>
      </p:sp>
      <p:sp>
        <p:nvSpPr>
          <p:cNvPr id="22" name="">
            <a:extLst xmlns:a="http://schemas.openxmlformats.org/drawingml/2006/main">
              <a:ext uri="{FF2B5EF4-FFF2-40B4-BE49-F238E27FC236}">
                <a16:creationId xmlns:a16="http://schemas.microsoft.com/office/drawing/2014/main" id="{E4D4717D-FE07-4366-B258-BE1AEB588C45}"/>
              </a:ext>
            </a:extLst>
          </p:cNvPr>
          <p:cNvSpPr>
            <a:spLocks xmlns:a="http://schemas.openxmlformats.org/drawingml/2006/main" noGrp="1"/>
          </p:cNvSpPr>
          <p:nvPr/>
        </p:nvSpPr>
        <p:spPr>
          <a:xfrm xmlns:a="http://schemas.openxmlformats.org/drawingml/2006/main">
            <a:off x="9239250" y="30003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F6F3FF"/>
                </a:solidFill>
              </a:defRPr>
            </a:pPr>
            <a:r>
              <a:rPr sz="1800" b="1">
                <a:solidFill>
                  <a:srgbClr val="F6F3FF"/>
                </a:solidFill>
              </a:rPr>
              <a:t>RETURN</a:t>
            </a:r>
          </a:p>
        </p:txBody>
      </p:sp>
      <p:sp>
        <p:nvSpPr>
          <p:cNvPr id="23" name="">
            <a:extLst xmlns:a="http://schemas.openxmlformats.org/drawingml/2006/main">
              <a:ext uri="{FF2B5EF4-FFF2-40B4-BE49-F238E27FC236}">
                <a16:creationId xmlns:a16="http://schemas.microsoft.com/office/drawing/2014/main" id="{DEAA96E7-AEB5-4C15-8906-2ADD57BE7C5B}"/>
              </a:ext>
            </a:extLst>
          </p:cNvPr>
          <p:cNvSpPr>
            <a:spLocks xmlns:a="http://schemas.openxmlformats.org/drawingml/2006/main" noGrp="1"/>
          </p:cNvSpPr>
          <p:nvPr/>
        </p:nvSpPr>
        <p:spPr>
          <a:xfrm xmlns:a="http://schemas.openxmlformats.org/drawingml/2006/main">
            <a:off x="9239250" y="3524250"/>
            <a:ext cx="20193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Viewer holds once; both screens share eight seconds.</a:t>
            </a:r>
          </a:p>
        </p:txBody>
      </p:sp>
      <p:sp>
        <p:nvSpPr>
          <p:cNvPr id="24" name="">
            <a:extLst xmlns:a="http://schemas.openxmlformats.org/drawingml/2006/main">
              <a:ext uri="{FF2B5EF4-FFF2-40B4-BE49-F238E27FC236}">
                <a16:creationId xmlns:a16="http://schemas.microsoft.com/office/drawing/2014/main" id="{522A2ECE-A824-4D56-9038-97788D3702FD}"/>
              </a:ext>
            </a:extLst>
          </p:cNvPr>
          <p:cNvSpPr>
            <a:spLocks xmlns:a="http://schemas.openxmlformats.org/drawingml/2006/main" noGrp="1"/>
          </p:cNvSpPr>
          <p:nvPr/>
        </p:nvSpPr>
        <p:spPr>
          <a:xfrm xmlns:a="http://schemas.openxmlformats.org/drawingml/2006/main">
            <a:off x="685800" y="5476875"/>
            <a:ext cx="10820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55D6BE"/>
                </a:solidFill>
              </a:defRPr>
            </a:pPr>
            <a:r>
              <a:rPr sz="1425" b="1">
                <a:solidFill>
                  <a:srgbClr val="55D6BE"/>
                </a:solidFill>
              </a:rPr>
              <a:t>No account · no profile · no likes · no chat · gone within 24 hours</a:t>
            </a:r>
          </a:p>
        </p:txBody>
      </p:sp>
    </p:spTree>
    <p:extLst>
      <p:ext uri="{BB962C8B-B14F-4D97-AF65-F5344CB8AC3E}">
        <p14:creationId xmlns:p14="http://schemas.microsoft.com/office/powerpoint/2010/main" val="887512128"/>
      </p:ext>
    </p:extLst>
  </p:cSld>
</p:sld>
</file>

<file path=ppt/slides/slide4.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BD76CB5-3649-4893-A10C-AF97171FD0B1}"/>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FFFAB00-1B65-4090-951A-287F918BA269}"/>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THE DEMO MOMENT</a:t>
            </a:r>
          </a:p>
        </p:txBody>
      </p:sp>
      <p:sp>
        <p:nvSpPr>
          <p:cNvPr id="3" name="">
            <a:extLst xmlns:a="http://schemas.openxmlformats.org/drawingml/2006/main">
              <a:ext uri="{FF2B5EF4-FFF2-40B4-BE49-F238E27FC236}">
                <a16:creationId xmlns:a16="http://schemas.microsoft.com/office/drawing/2014/main" id="{8DA770DC-7787-4A8B-8FBD-8B9605A7895A}"/>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04</a:t>
            </a:r>
          </a:p>
        </p:txBody>
      </p:sp>
      <p:sp>
        <p:nvSpPr>
          <p:cNvPr id="4" name="">
            <a:extLst xmlns:a="http://schemas.openxmlformats.org/drawingml/2006/main">
              <a:ext uri="{FF2B5EF4-FFF2-40B4-BE49-F238E27FC236}">
                <a16:creationId xmlns:a16="http://schemas.microsoft.com/office/drawing/2014/main" id="{4A5CC1FC-1650-482F-8601-9F778E5C0CD4}"/>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Two devices become the same light at the same time.</a:t>
            </a:r>
          </a:p>
        </p:txBody>
      </p:sp>
      <p:sp>
        <p:nvSpPr>
          <p:cNvPr id="5" name="">
            <a:extLst xmlns:a="http://schemas.openxmlformats.org/drawingml/2006/main">
              <a:ext uri="{FF2B5EF4-FFF2-40B4-BE49-F238E27FC236}">
                <a16:creationId xmlns:a16="http://schemas.microsoft.com/office/drawing/2014/main" id="{31E0BAFD-A5CD-44E3-B82E-296386C5120A}"/>
              </a:ext>
            </a:extLst>
          </p:cNvPr>
          <p:cNvSpPr>
            <a:spLocks xmlns:a="http://schemas.openxmlformats.org/drawingml/2006/main" noGrp="1"/>
          </p:cNvSpPr>
          <p:nvPr/>
        </p:nvSpPr>
        <p:spPr>
          <a:xfrm xmlns:a="http://schemas.openxmlformats.org/drawingml/2006/main">
            <a:off x="1381125" y="1952625"/>
            <a:ext cx="3190875" cy="3714750"/>
          </a:xfrm>
          <a:prstGeom xmlns:a="http://schemas.openxmlformats.org/drawingml/2006/main" prst="roundRect">
            <a:avLst>
              <a:gd name="adj" fmla="val 4776"/>
            </a:avLst>
          </a:prstGeom>
          <a:solidFill xmlns:a="http://schemas.openxmlformats.org/drawingml/2006/main">
            <a:srgbClr val="11111E"/>
          </a:solidFill>
          <a:ln xmlns:a="http://schemas.openxmlformats.org/drawingml/2006/main" w="9525">
            <a:solidFill>
              <a:srgbClr val="323242"/>
            </a:solidFill>
            <a:prstDash val="solid"/>
          </a:ln>
        </p:spPr>
      </p:sp>
      <p:sp>
        <p:nvSpPr>
          <p:cNvPr id="6" name="">
            <a:extLst xmlns:a="http://schemas.openxmlformats.org/drawingml/2006/main">
              <a:ext uri="{FF2B5EF4-FFF2-40B4-BE49-F238E27FC236}">
                <a16:creationId xmlns:a16="http://schemas.microsoft.com/office/drawing/2014/main" id="{B10D9E79-ADFA-48B4-8A05-A5A6C7BE7DC5}"/>
              </a:ext>
            </a:extLst>
          </p:cNvPr>
          <p:cNvSpPr>
            <a:spLocks xmlns:a="http://schemas.openxmlformats.org/drawingml/2006/main" noGrp="1"/>
          </p:cNvSpPr>
          <p:nvPr/>
        </p:nvSpPr>
        <p:spPr>
          <a:xfrm xmlns:a="http://schemas.openxmlformats.org/drawingml/2006/main">
            <a:off x="1609725" y="2190750"/>
            <a:ext cx="27336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AAA6BD"/>
                </a:solidFill>
              </a:defRPr>
            </a:pPr>
            <a:r>
              <a:rPr sz="900" b="1">
                <a:solidFill>
                  <a:srgbClr val="AAA6BD"/>
                </a:solidFill>
              </a:rPr>
              <a:t>HERE</a:t>
            </a:r>
          </a:p>
        </p:txBody>
      </p:sp>
      <p:sp>
        <p:nvSpPr>
          <p:cNvPr id="7" name="">
            <a:extLst xmlns:a="http://schemas.openxmlformats.org/drawingml/2006/main">
              <a:ext uri="{FF2B5EF4-FFF2-40B4-BE49-F238E27FC236}">
                <a16:creationId xmlns:a16="http://schemas.microsoft.com/office/drawing/2014/main" id="{10D59F96-BD8F-4EF1-BE7C-E7F4E4DF5B4C}"/>
              </a:ext>
            </a:extLst>
          </p:cNvPr>
          <p:cNvSpPr>
            <a:spLocks xmlns:a="http://schemas.openxmlformats.org/drawingml/2006/main" noGrp="1"/>
          </p:cNvSpPr>
          <p:nvPr/>
        </p:nvSpPr>
        <p:spPr>
          <a:xfrm xmlns:a="http://schemas.openxmlformats.org/drawingml/2006/main">
            <a:off x="2238375" y="2857500"/>
            <a:ext cx="1476375" cy="1476375"/>
          </a:xfrm>
          <a:prstGeom xmlns:a="http://schemas.openxmlformats.org/drawingml/2006/main" prst="ellipse">
            <a:avLst/>
          </a:prstGeom>
          <a:solidFill xmlns:a="http://schemas.openxmlformats.org/drawingml/2006/main">
            <a:srgbClr val="FF7A6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9ECE1D-BD68-4388-98A7-4E2927AE8625}"/>
              </a:ext>
            </a:extLst>
          </p:cNvPr>
          <p:cNvSpPr>
            <a:spLocks xmlns:a="http://schemas.openxmlformats.org/drawingml/2006/main" noGrp="1"/>
          </p:cNvSpPr>
          <p:nvPr/>
        </p:nvSpPr>
        <p:spPr>
          <a:xfrm xmlns:a="http://schemas.openxmlformats.org/drawingml/2006/main">
            <a:off x="2524125" y="3143250"/>
            <a:ext cx="904875" cy="904875"/>
          </a:xfrm>
          <a:prstGeom xmlns:a="http://schemas.openxmlformats.org/drawingml/2006/main" prst="ellipse">
            <a:avLst/>
          </a:prstGeom>
          <a:solidFill xmlns:a="http://schemas.openxmlformats.org/drawingml/2006/main">
            <a:srgbClr val="090A1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FA3475-84EE-4F6B-A03B-69F6728CB7C0}"/>
              </a:ext>
            </a:extLst>
          </p:cNvPr>
          <p:cNvSpPr>
            <a:spLocks xmlns:a="http://schemas.openxmlformats.org/drawingml/2006/main" noGrp="1"/>
          </p:cNvSpPr>
          <p:nvPr/>
        </p:nvSpPr>
        <p:spPr>
          <a:xfrm xmlns:a="http://schemas.openxmlformats.org/drawingml/2006/main">
            <a:off x="2162175" y="4581525"/>
            <a:ext cx="16287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F6F3FF"/>
                </a:solidFill>
              </a:defRPr>
            </a:pPr>
            <a:r>
              <a:rPr sz="1650" b="1">
                <a:solidFill>
                  <a:srgbClr val="F6F3FF"/>
                </a:solidFill>
              </a:rPr>
              <a:t>FEEL</a:t>
            </a:r>
          </a:p>
        </p:txBody>
      </p:sp>
      <p:sp>
        <p:nvSpPr>
          <p:cNvPr id="10" name="">
            <a:extLst xmlns:a="http://schemas.openxmlformats.org/drawingml/2006/main">
              <a:ext uri="{FF2B5EF4-FFF2-40B4-BE49-F238E27FC236}">
                <a16:creationId xmlns:a16="http://schemas.microsoft.com/office/drawing/2014/main" id="{BF9F296E-0245-4D59-8231-50CC876E0241}"/>
              </a:ext>
            </a:extLst>
          </p:cNvPr>
          <p:cNvSpPr>
            <a:spLocks xmlns:a="http://schemas.openxmlformats.org/drawingml/2006/main" noGrp="1"/>
          </p:cNvSpPr>
          <p:nvPr/>
        </p:nvSpPr>
        <p:spPr>
          <a:xfrm xmlns:a="http://schemas.openxmlformats.org/drawingml/2006/main">
            <a:off x="1905000" y="4981575"/>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a:solidFill>
                  <a:srgbClr val="AAA6BD"/>
                </a:solidFill>
              </a:defRPr>
            </a:pPr>
            <a:r>
              <a:rPr sz="1050" b="0">
                <a:solidFill>
                  <a:srgbClr val="AAA6BD"/>
                </a:solidFill>
              </a:rPr>
              <a:t>screen + optional haptic</a:t>
            </a:r>
          </a:p>
        </p:txBody>
      </p:sp>
      <p:sp>
        <p:nvSpPr>
          <p:cNvPr id="11" name="">
            <a:extLst xmlns:a="http://schemas.openxmlformats.org/drawingml/2006/main">
              <a:ext uri="{FF2B5EF4-FFF2-40B4-BE49-F238E27FC236}">
                <a16:creationId xmlns:a16="http://schemas.microsoft.com/office/drawing/2014/main" id="{D51CE923-2D4F-4533-B099-0868FEB72C5E}"/>
              </a:ext>
            </a:extLst>
          </p:cNvPr>
          <p:cNvSpPr>
            <a:spLocks xmlns:a="http://schemas.openxmlformats.org/drawingml/2006/main" noGrp="1"/>
          </p:cNvSpPr>
          <p:nvPr/>
        </p:nvSpPr>
        <p:spPr>
          <a:xfrm xmlns:a="http://schemas.openxmlformats.org/drawingml/2006/main">
            <a:off x="7620000" y="1952625"/>
            <a:ext cx="3190875" cy="3714750"/>
          </a:xfrm>
          <a:prstGeom xmlns:a="http://schemas.openxmlformats.org/drawingml/2006/main" prst="roundRect">
            <a:avLst>
              <a:gd name="adj" fmla="val 4776"/>
            </a:avLst>
          </a:prstGeom>
          <a:solidFill xmlns:a="http://schemas.openxmlformats.org/drawingml/2006/main">
            <a:srgbClr val="11111E"/>
          </a:solidFill>
          <a:ln xmlns:a="http://schemas.openxmlformats.org/drawingml/2006/main" w="9525">
            <a:solidFill>
              <a:srgbClr val="323242"/>
            </a:solidFill>
            <a:prstDash val="solid"/>
          </a:ln>
        </p:spPr>
      </p:sp>
      <p:sp>
        <p:nvSpPr>
          <p:cNvPr id="12" name="">
            <a:extLst xmlns:a="http://schemas.openxmlformats.org/drawingml/2006/main">
              <a:ext uri="{FF2B5EF4-FFF2-40B4-BE49-F238E27FC236}">
                <a16:creationId xmlns:a16="http://schemas.microsoft.com/office/drawing/2014/main" id="{EB5E197E-8515-4689-9E36-E4E237FD0588}"/>
              </a:ext>
            </a:extLst>
          </p:cNvPr>
          <p:cNvSpPr>
            <a:spLocks xmlns:a="http://schemas.openxmlformats.org/drawingml/2006/main" noGrp="1"/>
          </p:cNvSpPr>
          <p:nvPr/>
        </p:nvSpPr>
        <p:spPr>
          <a:xfrm xmlns:a="http://schemas.openxmlformats.org/drawingml/2006/main">
            <a:off x="7848600" y="2190750"/>
            <a:ext cx="27336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AAA6BD"/>
                </a:solidFill>
              </a:defRPr>
            </a:pPr>
            <a:r>
              <a:rPr sz="900" b="1">
                <a:solidFill>
                  <a:srgbClr val="AAA6BD"/>
                </a:solidFill>
              </a:rPr>
              <a:t>FAR AWAY</a:t>
            </a:r>
          </a:p>
        </p:txBody>
      </p:sp>
      <p:sp>
        <p:nvSpPr>
          <p:cNvPr id="13" name="">
            <a:extLst xmlns:a="http://schemas.openxmlformats.org/drawingml/2006/main">
              <a:ext uri="{FF2B5EF4-FFF2-40B4-BE49-F238E27FC236}">
                <a16:creationId xmlns:a16="http://schemas.microsoft.com/office/drawing/2014/main" id="{1760A228-C21E-4B68-A2B9-32C836D99B9C}"/>
              </a:ext>
            </a:extLst>
          </p:cNvPr>
          <p:cNvSpPr>
            <a:spLocks xmlns:a="http://schemas.openxmlformats.org/drawingml/2006/main" noGrp="1"/>
          </p:cNvSpPr>
          <p:nvPr/>
        </p:nvSpPr>
        <p:spPr>
          <a:xfrm xmlns:a="http://schemas.openxmlformats.org/drawingml/2006/main">
            <a:off x="8477250" y="2857500"/>
            <a:ext cx="1476375" cy="1476375"/>
          </a:xfrm>
          <a:prstGeom xmlns:a="http://schemas.openxmlformats.org/drawingml/2006/main" prst="ellipse">
            <a:avLst/>
          </a:prstGeom>
          <a:solidFill xmlns:a="http://schemas.openxmlformats.org/drawingml/2006/main">
            <a:srgbClr val="8C7B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FD4253-FA3B-42AA-8DC0-C7D24A621798}"/>
              </a:ext>
            </a:extLst>
          </p:cNvPr>
          <p:cNvSpPr>
            <a:spLocks xmlns:a="http://schemas.openxmlformats.org/drawingml/2006/main" noGrp="1"/>
          </p:cNvSpPr>
          <p:nvPr/>
        </p:nvSpPr>
        <p:spPr>
          <a:xfrm xmlns:a="http://schemas.openxmlformats.org/drawingml/2006/main">
            <a:off x="8763000" y="3143250"/>
            <a:ext cx="904875" cy="904875"/>
          </a:xfrm>
          <a:prstGeom xmlns:a="http://schemas.openxmlformats.org/drawingml/2006/main" prst="ellipse">
            <a:avLst/>
          </a:prstGeom>
          <a:solidFill xmlns:a="http://schemas.openxmlformats.org/drawingml/2006/main">
            <a:srgbClr val="090A1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580F40-48FA-42EE-A408-6A972E507538}"/>
              </a:ext>
            </a:extLst>
          </p:cNvPr>
          <p:cNvSpPr>
            <a:spLocks xmlns:a="http://schemas.openxmlformats.org/drawingml/2006/main" noGrp="1"/>
          </p:cNvSpPr>
          <p:nvPr/>
        </p:nvSpPr>
        <p:spPr>
          <a:xfrm xmlns:a="http://schemas.openxmlformats.org/drawingml/2006/main">
            <a:off x="8401050" y="4581525"/>
            <a:ext cx="16287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F6F3FF"/>
                </a:solidFill>
              </a:defRPr>
            </a:pPr>
            <a:r>
              <a:rPr sz="1650" b="1">
                <a:solidFill>
                  <a:srgbClr val="F6F3FF"/>
                </a:solidFill>
              </a:rPr>
              <a:t>SEND</a:t>
            </a:r>
          </a:p>
        </p:txBody>
      </p:sp>
      <p:sp>
        <p:nvSpPr>
          <p:cNvPr id="16" name="">
            <a:extLst xmlns:a="http://schemas.openxmlformats.org/drawingml/2006/main">
              <a:ext uri="{FF2B5EF4-FFF2-40B4-BE49-F238E27FC236}">
                <a16:creationId xmlns:a16="http://schemas.microsoft.com/office/drawing/2014/main" id="{84FEEC65-62C4-4383-85AC-58B2DA348AEA}"/>
              </a:ext>
            </a:extLst>
          </p:cNvPr>
          <p:cNvSpPr>
            <a:spLocks xmlns:a="http://schemas.openxmlformats.org/drawingml/2006/main" noGrp="1"/>
          </p:cNvSpPr>
          <p:nvPr/>
        </p:nvSpPr>
        <p:spPr>
          <a:xfrm xmlns:a="http://schemas.openxmlformats.org/drawingml/2006/main">
            <a:off x="8143875" y="4981575"/>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a:solidFill>
                  <a:srgbClr val="AAA6BD"/>
                </a:solidFill>
              </a:defRPr>
            </a:pPr>
            <a:r>
              <a:rPr sz="1050" b="0">
                <a:solidFill>
                  <a:srgbClr val="AAA6BD"/>
                </a:solidFill>
              </a:rPr>
              <a:t>hold once</a:t>
            </a:r>
          </a:p>
        </p:txBody>
      </p:sp>
      <p:sp>
        <p:nvSpPr>
          <p:cNvPr id="17" name="">
            <a:extLst xmlns:a="http://schemas.openxmlformats.org/drawingml/2006/main">
              <a:ext uri="{FF2B5EF4-FFF2-40B4-BE49-F238E27FC236}">
                <a16:creationId xmlns:a16="http://schemas.microsoft.com/office/drawing/2014/main" id="{796917E6-E75A-4728-82E7-076FDB4A515B}"/>
              </a:ext>
            </a:extLst>
          </p:cNvPr>
          <p:cNvSpPr>
            <a:spLocks xmlns:a="http://schemas.openxmlformats.org/drawingml/2006/main" noGrp="1"/>
          </p:cNvSpPr>
          <p:nvPr/>
        </p:nvSpPr>
        <p:spPr>
          <a:xfrm xmlns:a="http://schemas.openxmlformats.org/drawingml/2006/main">
            <a:off x="4762500" y="3762375"/>
            <a:ext cx="2667000" cy="28575"/>
          </a:xfrm>
          <a:prstGeom xmlns:a="http://schemas.openxmlformats.org/drawingml/2006/main" prst="rect">
            <a:avLst/>
          </a:prstGeom>
          <a:solidFill xmlns:a="http://schemas.openxmlformats.org/drawingml/2006/main">
            <a:srgbClr val="FF7A6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3951B7B-012B-43F3-BFD6-CCDA2A25B8DE}"/>
              </a:ext>
            </a:extLst>
          </p:cNvPr>
          <p:cNvSpPr>
            <a:spLocks xmlns:a="http://schemas.openxmlformats.org/drawingml/2006/main" noGrp="1"/>
          </p:cNvSpPr>
          <p:nvPr/>
        </p:nvSpPr>
        <p:spPr>
          <a:xfrm xmlns:a="http://schemas.openxmlformats.org/drawingml/2006/main">
            <a:off x="5915025" y="3581400"/>
            <a:ext cx="361950" cy="361950"/>
          </a:xfrm>
          <a:prstGeom xmlns:a="http://schemas.openxmlformats.org/drawingml/2006/main" prst="ellipse">
            <a:avLst/>
          </a:prstGeom>
          <a:solidFill xmlns:a="http://schemas.openxmlformats.org/drawingml/2006/main">
            <a:srgbClr val="FF7A6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C6C2D76-F986-4456-86CD-9A8B183A4A28}"/>
              </a:ext>
            </a:extLst>
          </p:cNvPr>
          <p:cNvSpPr>
            <a:spLocks xmlns:a="http://schemas.openxmlformats.org/drawingml/2006/main" noGrp="1"/>
          </p:cNvSpPr>
          <p:nvPr/>
        </p:nvSpPr>
        <p:spPr>
          <a:xfrm xmlns:a="http://schemas.openxmlformats.org/drawingml/2006/main">
            <a:off x="4791075" y="4048125"/>
            <a:ext cx="2609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1">
                <a:solidFill>
                  <a:srgbClr val="AAA6BD"/>
                </a:solidFill>
              </a:defRPr>
            </a:pPr>
            <a:r>
              <a:rPr sz="975" b="1">
                <a:solidFill>
                  <a:srgbClr val="AAA6BD"/>
                </a:solidFill>
              </a:rPr>
              <a:t>server-authoritative pulseAt</a:t>
            </a:r>
          </a:p>
        </p:txBody>
      </p:sp>
      <p:sp>
        <p:nvSpPr>
          <p:cNvPr id="20" name="">
            <a:extLst xmlns:a="http://schemas.openxmlformats.org/drawingml/2006/main">
              <a:ext uri="{FF2B5EF4-FFF2-40B4-BE49-F238E27FC236}">
                <a16:creationId xmlns:a16="http://schemas.microsoft.com/office/drawing/2014/main" id="{AE2172D7-7DB4-40FF-AA68-12CBBBA8D724}"/>
              </a:ext>
            </a:extLst>
          </p:cNvPr>
          <p:cNvSpPr>
            <a:spLocks xmlns:a="http://schemas.openxmlformats.org/drawingml/2006/main" noGrp="1"/>
          </p:cNvSpPr>
          <p:nvPr/>
        </p:nvSpPr>
        <p:spPr>
          <a:xfrm xmlns:a="http://schemas.openxmlformats.org/drawingml/2006/main">
            <a:off x="2095500" y="6000750"/>
            <a:ext cx="800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0">
                <a:solidFill>
                  <a:srgbClr val="F6F3FF"/>
                </a:solidFill>
              </a:defRPr>
            </a:pPr>
            <a:r>
              <a:rPr sz="2250" b="0">
                <a:solidFill>
                  <a:srgbClr val="F6F3FF"/>
                </a:solidFill>
              </a:rPr>
              <a:t>For eight seconds, you were under the same sky.</a:t>
            </a:r>
          </a:p>
        </p:txBody>
      </p:sp>
    </p:spTree>
    <p:extLst>
      <p:ext uri="{BB962C8B-B14F-4D97-AF65-F5344CB8AC3E}">
        <p14:creationId xmlns:p14="http://schemas.microsoft.com/office/powerpoint/2010/main" val="1015567069"/>
      </p:ext>
    </p:extLst>
  </p:cSld>
</p:sld>
</file>

<file path=ppt/slides/slide5.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49BA850-EBCF-4D0E-8350-1274E873A57E}"/>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85A476-66E4-4655-B8AC-95C5AF63CA5B}"/>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WHY OPENAI IS ESSENTIAL</a:t>
            </a:r>
          </a:p>
        </p:txBody>
      </p:sp>
      <p:sp>
        <p:nvSpPr>
          <p:cNvPr id="3" name="">
            <a:extLst xmlns:a="http://schemas.openxmlformats.org/drawingml/2006/main">
              <a:ext uri="{FF2B5EF4-FFF2-40B4-BE49-F238E27FC236}">
                <a16:creationId xmlns:a16="http://schemas.microsoft.com/office/drawing/2014/main" id="{09AB5E45-612F-4ECB-9CFA-6A4A0A755113}"/>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05</a:t>
            </a:r>
          </a:p>
        </p:txBody>
      </p:sp>
      <p:sp>
        <p:nvSpPr>
          <p:cNvPr id="4" name="">
            <a:extLst xmlns:a="http://schemas.openxmlformats.org/drawingml/2006/main">
              <a:ext uri="{FF2B5EF4-FFF2-40B4-BE49-F238E27FC236}">
                <a16:creationId xmlns:a16="http://schemas.microsoft.com/office/drawing/2014/main" id="{F63EEF0B-5984-472F-823C-0EFBBAF6E701}"/>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AI translates evidence. It never invents the moment.</a:t>
            </a:r>
          </a:p>
        </p:txBody>
      </p:sp>
      <p:sp>
        <p:nvSpPr>
          <p:cNvPr id="5" name="">
            <a:extLst xmlns:a="http://schemas.openxmlformats.org/drawingml/2006/main">
              <a:ext uri="{FF2B5EF4-FFF2-40B4-BE49-F238E27FC236}">
                <a16:creationId xmlns:a16="http://schemas.microsoft.com/office/drawing/2014/main" id="{7CC1CAE0-50EE-40E9-9851-A9F8C986DAF5}"/>
              </a:ext>
            </a:extLst>
          </p:cNvPr>
          <p:cNvSpPr>
            <a:spLocks xmlns:a="http://schemas.openxmlformats.org/drawingml/2006/main" noGrp="1"/>
          </p:cNvSpPr>
          <p:nvPr/>
        </p:nvSpPr>
        <p:spPr>
          <a:xfrm xmlns:a="http://schemas.openxmlformats.org/drawingml/2006/main">
            <a:off x="685800" y="2143125"/>
            <a:ext cx="3333750" cy="2762250"/>
          </a:xfrm>
          <a:prstGeom xmlns:a="http://schemas.openxmlformats.org/drawingml/2006/main" prst="roundRect">
            <a:avLst>
              <a:gd name="adj" fmla="val 5517"/>
            </a:avLst>
          </a:prstGeom>
          <a:solidFill xmlns:a="http://schemas.openxmlformats.org/drawingml/2006/main">
            <a:srgbClr val="151526"/>
          </a:solidFill>
          <a:ln xmlns:a="http://schemas.openxmlformats.org/drawingml/2006/main" w="9525">
            <a:solidFill>
              <a:srgbClr val="323242"/>
            </a:solidFill>
            <a:prstDash val="solid"/>
          </a:ln>
        </p:spPr>
      </p:sp>
      <p:sp>
        <p:nvSpPr>
          <p:cNvPr id="6" name="">
            <a:extLst xmlns:a="http://schemas.openxmlformats.org/drawingml/2006/main">
              <a:ext uri="{FF2B5EF4-FFF2-40B4-BE49-F238E27FC236}">
                <a16:creationId xmlns:a16="http://schemas.microsoft.com/office/drawing/2014/main" id="{4C368692-3399-4990-8863-885B22850107}"/>
              </a:ext>
            </a:extLst>
          </p:cNvPr>
          <p:cNvSpPr>
            <a:spLocks xmlns:a="http://schemas.openxmlformats.org/drawingml/2006/main" noGrp="1"/>
          </p:cNvSpPr>
          <p:nvPr/>
        </p:nvSpPr>
        <p:spPr>
          <a:xfrm xmlns:a="http://schemas.openxmlformats.org/drawingml/2006/main">
            <a:off x="914400" y="23812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8C7BFF"/>
                </a:solidFill>
              </a:defRPr>
            </a:pPr>
            <a:r>
              <a:rPr sz="1050" b="1">
                <a:solidFill>
                  <a:srgbClr val="8C7BFF"/>
                </a:solidFill>
              </a:rPr>
              <a:t>INPUT</a:t>
            </a:r>
          </a:p>
        </p:txBody>
      </p:sp>
      <p:sp>
        <p:nvSpPr>
          <p:cNvPr id="7" name="">
            <a:extLst xmlns:a="http://schemas.openxmlformats.org/drawingml/2006/main">
              <a:ext uri="{FF2B5EF4-FFF2-40B4-BE49-F238E27FC236}">
                <a16:creationId xmlns:a16="http://schemas.microsoft.com/office/drawing/2014/main" id="{F068C5F0-2337-4E6F-8BAB-7F374CDB47E3}"/>
              </a:ext>
            </a:extLst>
          </p:cNvPr>
          <p:cNvSpPr>
            <a:spLocks xmlns:a="http://schemas.openxmlformats.org/drawingml/2006/main" noGrp="1"/>
          </p:cNvSpPr>
          <p:nvPr/>
        </p:nvSpPr>
        <p:spPr>
          <a:xfrm xmlns:a="http://schemas.openxmlformats.org/drawingml/2006/main">
            <a:off x="914400" y="2952750"/>
            <a:ext cx="2857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6F3FF"/>
                </a:solidFill>
              </a:defRPr>
            </a:pPr>
            <a:r>
              <a:rPr sz="1575" b="0">
                <a:solidFill>
                  <a:srgbClr val="F6F3FF"/>
                </a:solidFill>
              </a:rPr>
              <a:t>One resized still</a:t>
            </a:r>
          </a:p>
          <a:p xmlns:a="http://schemas.openxmlformats.org/drawingml/2006/main">
            <a:pPr algn="l">
              <a:defRPr sz="1575" b="0">
                <a:solidFill>
                  <a:srgbClr val="F6F3FF"/>
                </a:solidFill>
              </a:defRPr>
            </a:pPr>
            <a:r>
              <a:rPr sz="1575" b="0">
                <a:solidFill>
                  <a:srgbClr val="F6F3FF"/>
                </a:solidFill>
              </a:rPr>
              <a:t>Sender’s exact words</a:t>
            </a:r>
          </a:p>
          <a:p xmlns:a="http://schemas.openxmlformats.org/drawingml/2006/main">
            <a:pPr algn="l">
              <a:defRPr sz="1575" b="0">
                <a:solidFill>
                  <a:srgbClr val="F6F3FF"/>
                </a:solidFill>
              </a:defRPr>
            </a:pPr>
            <a:r>
              <a:rPr sz="1575" b="0">
                <a:solidFill>
                  <a:srgbClr val="F6F3FF"/>
                </a:solidFill>
              </a:rPr>
              <a:t>Energy + ambient estimate</a:t>
            </a:r>
          </a:p>
          <a:p xmlns:a="http://schemas.openxmlformats.org/drawingml/2006/main">
            <a:pPr algn="l">
              <a:defRPr sz="1575" b="0">
                <a:solidFill>
                  <a:srgbClr val="F6F3FF"/>
                </a:solidFill>
              </a:defRPr>
            </a:pPr>
            <a:r>
              <a:rPr sz="1575" b="0">
                <a:solidFill>
                  <a:srgbClr val="F6F3FF"/>
                </a:solidFill>
              </a:rPr>
              <a:t>Confirmed artist/set</a:t>
            </a:r>
          </a:p>
        </p:txBody>
      </p:sp>
      <p:sp>
        <p:nvSpPr>
          <p:cNvPr id="8" name="">
            <a:extLst xmlns:a="http://schemas.openxmlformats.org/drawingml/2006/main">
              <a:ext uri="{FF2B5EF4-FFF2-40B4-BE49-F238E27FC236}">
                <a16:creationId xmlns:a16="http://schemas.microsoft.com/office/drawing/2014/main" id="{958A1BBD-5E9A-48C5-ABA2-21CEB17280F8}"/>
              </a:ext>
            </a:extLst>
          </p:cNvPr>
          <p:cNvSpPr>
            <a:spLocks xmlns:a="http://schemas.openxmlformats.org/drawingml/2006/main" noGrp="1"/>
          </p:cNvSpPr>
          <p:nvPr/>
        </p:nvSpPr>
        <p:spPr>
          <a:xfrm xmlns:a="http://schemas.openxmlformats.org/drawingml/2006/main">
            <a:off x="4067175" y="33813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FF7A61"/>
                </a:solidFill>
              </a:defRPr>
            </a:pPr>
            <a:r>
              <a:rPr sz="2025" b="1">
                <a:solidFill>
                  <a:srgbClr val="FF7A61"/>
                </a:solidFill>
              </a:rPr>
              <a:t>→</a:t>
            </a:r>
          </a:p>
        </p:txBody>
      </p:sp>
      <p:sp>
        <p:nvSpPr>
          <p:cNvPr id="9" name="">
            <a:extLst xmlns:a="http://schemas.openxmlformats.org/drawingml/2006/main">
              <a:ext uri="{FF2B5EF4-FFF2-40B4-BE49-F238E27FC236}">
                <a16:creationId xmlns:a16="http://schemas.microsoft.com/office/drawing/2014/main" id="{FEF3362F-4277-4DA7-BD2A-FD2F26897071}"/>
              </a:ext>
            </a:extLst>
          </p:cNvPr>
          <p:cNvSpPr>
            <a:spLocks xmlns:a="http://schemas.openxmlformats.org/drawingml/2006/main" noGrp="1"/>
          </p:cNvSpPr>
          <p:nvPr/>
        </p:nvSpPr>
        <p:spPr>
          <a:xfrm xmlns:a="http://schemas.openxmlformats.org/drawingml/2006/main">
            <a:off x="4305300" y="2143125"/>
            <a:ext cx="3333750" cy="2762250"/>
          </a:xfrm>
          <a:prstGeom xmlns:a="http://schemas.openxmlformats.org/drawingml/2006/main" prst="roundRect">
            <a:avLst>
              <a:gd name="adj" fmla="val 5517"/>
            </a:avLst>
          </a:prstGeom>
          <a:solidFill xmlns:a="http://schemas.openxmlformats.org/drawingml/2006/main">
            <a:srgbClr val="151526"/>
          </a:solidFill>
          <a:ln xmlns:a="http://schemas.openxmlformats.org/drawingml/2006/main" w="9525">
            <a:solidFill>
              <a:srgbClr val="323242"/>
            </a:solidFill>
            <a:prstDash val="solid"/>
          </a:ln>
        </p:spPr>
      </p:sp>
      <p:sp>
        <p:nvSpPr>
          <p:cNvPr id="10" name="">
            <a:extLst xmlns:a="http://schemas.openxmlformats.org/drawingml/2006/main">
              <a:ext uri="{FF2B5EF4-FFF2-40B4-BE49-F238E27FC236}">
                <a16:creationId xmlns:a16="http://schemas.microsoft.com/office/drawing/2014/main" id="{7EC77F74-D381-4848-9AF0-5779319A0A6F}"/>
              </a:ext>
            </a:extLst>
          </p:cNvPr>
          <p:cNvSpPr>
            <a:spLocks xmlns:a="http://schemas.openxmlformats.org/drawingml/2006/main" noGrp="1"/>
          </p:cNvSpPr>
          <p:nvPr/>
        </p:nvSpPr>
        <p:spPr>
          <a:xfrm xmlns:a="http://schemas.openxmlformats.org/drawingml/2006/main">
            <a:off x="4533900" y="23812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7A61"/>
                </a:solidFill>
              </a:defRPr>
            </a:pPr>
            <a:r>
              <a:rPr sz="1050" b="1">
                <a:solidFill>
                  <a:srgbClr val="FF7A61"/>
                </a:solidFill>
              </a:rPr>
              <a:t>OPENAI</a:t>
            </a:r>
          </a:p>
        </p:txBody>
      </p:sp>
      <p:sp>
        <p:nvSpPr>
          <p:cNvPr id="11" name="">
            <a:extLst xmlns:a="http://schemas.openxmlformats.org/drawingml/2006/main">
              <a:ext uri="{FF2B5EF4-FFF2-40B4-BE49-F238E27FC236}">
                <a16:creationId xmlns:a16="http://schemas.microsoft.com/office/drawing/2014/main" id="{2C843B8A-D012-44D6-B1D2-FD732461B044}"/>
              </a:ext>
            </a:extLst>
          </p:cNvPr>
          <p:cNvSpPr>
            <a:spLocks xmlns:a="http://schemas.openxmlformats.org/drawingml/2006/main" noGrp="1"/>
          </p:cNvSpPr>
          <p:nvPr/>
        </p:nvSpPr>
        <p:spPr>
          <a:xfrm xmlns:a="http://schemas.openxmlformats.org/drawingml/2006/main">
            <a:off x="4533900" y="2952750"/>
            <a:ext cx="2857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6F3FF"/>
                </a:solidFill>
              </a:defRPr>
            </a:pPr>
            <a:r>
              <a:rPr sz="1575" b="0">
                <a:solidFill>
                  <a:srgbClr val="F6F3FF"/>
                </a:solidFill>
              </a:rPr>
              <a:t>Multimodal factual translation</a:t>
            </a:r>
          </a:p>
          <a:p xmlns:a="http://schemas.openxmlformats.org/drawingml/2006/main">
            <a:pPr algn="l">
              <a:defRPr sz="1575" b="0">
                <a:solidFill>
                  <a:srgbClr val="F6F3FF"/>
                </a:solidFill>
              </a:defRPr>
            </a:pPr>
            <a:r>
              <a:rPr sz="1575" b="0">
                <a:solidFill>
                  <a:srgbClr val="F6F3FF"/>
                </a:solidFill>
              </a:rPr>
              <a:t>Accessible alt text</a:t>
            </a:r>
          </a:p>
          <a:p xmlns:a="http://schemas.openxmlformats.org/drawingml/2006/main">
            <a:pPr algn="l">
              <a:defRPr sz="1575" b="0">
                <a:solidFill>
                  <a:srgbClr val="F6F3FF"/>
                </a:solidFill>
              </a:defRPr>
            </a:pPr>
            <a:r>
              <a:rPr sz="1575" b="0">
                <a:solidFill>
                  <a:srgbClr val="F6F3FF"/>
                </a:solidFill>
              </a:rPr>
              <a:t>Structured postcard</a:t>
            </a:r>
          </a:p>
          <a:p xmlns:a="http://schemas.openxmlformats.org/drawingml/2006/main">
            <a:pPr algn="l">
              <a:defRPr sz="1575" b="0">
                <a:solidFill>
                  <a:srgbClr val="F6F3FF"/>
                </a:solidFill>
              </a:defRPr>
            </a:pPr>
            <a:r>
              <a:rPr sz="1575" b="0">
                <a:solidFill>
                  <a:srgbClr val="F6F3FF"/>
                </a:solidFill>
              </a:rPr>
              <a:t>Low-latency Responses API</a:t>
            </a:r>
          </a:p>
        </p:txBody>
      </p:sp>
      <p:sp>
        <p:nvSpPr>
          <p:cNvPr id="12" name="">
            <a:extLst xmlns:a="http://schemas.openxmlformats.org/drawingml/2006/main">
              <a:ext uri="{FF2B5EF4-FFF2-40B4-BE49-F238E27FC236}">
                <a16:creationId xmlns:a16="http://schemas.microsoft.com/office/drawing/2014/main" id="{730CD624-BF4C-432D-B1C8-3980BBA1216F}"/>
              </a:ext>
            </a:extLst>
          </p:cNvPr>
          <p:cNvSpPr>
            <a:spLocks xmlns:a="http://schemas.openxmlformats.org/drawingml/2006/main" noGrp="1"/>
          </p:cNvSpPr>
          <p:nvPr/>
        </p:nvSpPr>
        <p:spPr>
          <a:xfrm xmlns:a="http://schemas.openxmlformats.org/drawingml/2006/main">
            <a:off x="7686675" y="33813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FF7A61"/>
                </a:solidFill>
              </a:defRPr>
            </a:pPr>
            <a:r>
              <a:rPr sz="2025" b="1">
                <a:solidFill>
                  <a:srgbClr val="FF7A61"/>
                </a:solidFill>
              </a:rPr>
              <a:t>→</a:t>
            </a:r>
          </a:p>
        </p:txBody>
      </p:sp>
      <p:sp>
        <p:nvSpPr>
          <p:cNvPr id="13" name="">
            <a:extLst xmlns:a="http://schemas.openxmlformats.org/drawingml/2006/main">
              <a:ext uri="{FF2B5EF4-FFF2-40B4-BE49-F238E27FC236}">
                <a16:creationId xmlns:a16="http://schemas.microsoft.com/office/drawing/2014/main" id="{9CDB0069-E0AE-4275-8238-D3EA209F7971}"/>
              </a:ext>
            </a:extLst>
          </p:cNvPr>
          <p:cNvSpPr>
            <a:spLocks xmlns:a="http://schemas.openxmlformats.org/drawingml/2006/main" noGrp="1"/>
          </p:cNvSpPr>
          <p:nvPr/>
        </p:nvSpPr>
        <p:spPr>
          <a:xfrm xmlns:a="http://schemas.openxmlformats.org/drawingml/2006/main">
            <a:off x="7924800" y="2143125"/>
            <a:ext cx="3333750" cy="2762250"/>
          </a:xfrm>
          <a:prstGeom xmlns:a="http://schemas.openxmlformats.org/drawingml/2006/main" prst="roundRect">
            <a:avLst>
              <a:gd name="adj" fmla="val 5517"/>
            </a:avLst>
          </a:prstGeom>
          <a:solidFill xmlns:a="http://schemas.openxmlformats.org/drawingml/2006/main">
            <a:srgbClr val="151526"/>
          </a:solidFill>
          <a:ln xmlns:a="http://schemas.openxmlformats.org/drawingml/2006/main" w="9525">
            <a:solidFill>
              <a:srgbClr val="323242"/>
            </a:solidFill>
            <a:prstDash val="solid"/>
          </a:ln>
        </p:spPr>
      </p:sp>
      <p:sp>
        <p:nvSpPr>
          <p:cNvPr id="14" name="">
            <a:extLst xmlns:a="http://schemas.openxmlformats.org/drawingml/2006/main">
              <a:ext uri="{FF2B5EF4-FFF2-40B4-BE49-F238E27FC236}">
                <a16:creationId xmlns:a16="http://schemas.microsoft.com/office/drawing/2014/main" id="{F782DF02-8881-4F8D-BADF-D8F01FD80464}"/>
              </a:ext>
            </a:extLst>
          </p:cNvPr>
          <p:cNvSpPr>
            <a:spLocks xmlns:a="http://schemas.openxmlformats.org/drawingml/2006/main" noGrp="1"/>
          </p:cNvSpPr>
          <p:nvPr/>
        </p:nvSpPr>
        <p:spPr>
          <a:xfrm xmlns:a="http://schemas.openxmlformats.org/drawingml/2006/main">
            <a:off x="8153400" y="23812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55D6BE"/>
                </a:solidFill>
              </a:defRPr>
            </a:pPr>
            <a:r>
              <a:rPr sz="1050" b="1">
                <a:solidFill>
                  <a:srgbClr val="55D6BE"/>
                </a:solidFill>
              </a:rPr>
              <a:t>HUMAN GATE</a:t>
            </a:r>
          </a:p>
        </p:txBody>
      </p:sp>
      <p:sp>
        <p:nvSpPr>
          <p:cNvPr id="15" name="">
            <a:extLst xmlns:a="http://schemas.openxmlformats.org/drawingml/2006/main">
              <a:ext uri="{FF2B5EF4-FFF2-40B4-BE49-F238E27FC236}">
                <a16:creationId xmlns:a16="http://schemas.microsoft.com/office/drawing/2014/main" id="{0C83D507-B7DF-4595-B7AC-8C89FDFD989D}"/>
              </a:ext>
            </a:extLst>
          </p:cNvPr>
          <p:cNvSpPr>
            <a:spLocks xmlns:a="http://schemas.openxmlformats.org/drawingml/2006/main" noGrp="1"/>
          </p:cNvSpPr>
          <p:nvPr/>
        </p:nvSpPr>
        <p:spPr>
          <a:xfrm xmlns:a="http://schemas.openxmlformats.org/drawingml/2006/main">
            <a:off x="8153400" y="2952750"/>
            <a:ext cx="2857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6F3FF"/>
                </a:solidFill>
              </a:defRPr>
            </a:pPr>
            <a:r>
              <a:rPr sz="1575" b="0">
                <a:solidFill>
                  <a:srgbClr val="F6F3FF"/>
                </a:solidFill>
              </a:rPr>
              <a:t>Sender reviews every word</a:t>
            </a:r>
          </a:p>
          <a:p xmlns:a="http://schemas.openxmlformats.org/drawingml/2006/main">
            <a:pPr algn="l">
              <a:defRPr sz="1575" b="0">
                <a:solidFill>
                  <a:srgbClr val="F6F3FF"/>
                </a:solidFill>
              </a:defRPr>
            </a:pPr>
            <a:r>
              <a:rPr sz="1575" b="0">
                <a:solidFill>
                  <a:srgbClr val="F6F3FF"/>
                </a:solidFill>
              </a:rPr>
              <a:t>Remake from facts</a:t>
            </a:r>
          </a:p>
          <a:p xmlns:a="http://schemas.openxmlformats.org/drawingml/2006/main">
            <a:pPr algn="l">
              <a:defRPr sz="1575" b="0">
                <a:solidFill>
                  <a:srgbClr val="F6F3FF"/>
                </a:solidFill>
              </a:defRPr>
            </a:pPr>
            <a:r>
              <a:rPr sz="1575" b="0">
                <a:solidFill>
                  <a:srgbClr val="F6F3FF"/>
                </a:solidFill>
              </a:rPr>
              <a:t>Explicit approve &amp; send</a:t>
            </a:r>
          </a:p>
          <a:p xmlns:a="http://schemas.openxmlformats.org/drawingml/2006/main">
            <a:pPr algn="l">
              <a:defRPr sz="1575" b="0">
                <a:solidFill>
                  <a:srgbClr val="F6F3FF"/>
                </a:solidFill>
              </a:defRPr>
            </a:pPr>
            <a:r>
              <a:rPr sz="1575" b="0">
                <a:solidFill>
                  <a:srgbClr val="F6F3FF"/>
                </a:solidFill>
              </a:rPr>
              <a:t>Deterministic fallback</a:t>
            </a:r>
          </a:p>
        </p:txBody>
      </p:sp>
      <p:sp>
        <p:nvSpPr>
          <p:cNvPr id="16" name="">
            <a:extLst xmlns:a="http://schemas.openxmlformats.org/drawingml/2006/main">
              <a:ext uri="{FF2B5EF4-FFF2-40B4-BE49-F238E27FC236}">
                <a16:creationId xmlns:a16="http://schemas.microsoft.com/office/drawing/2014/main" id="{4AD02D3B-9639-42FA-BD49-5BA91F4E6F53}"/>
              </a:ext>
            </a:extLst>
          </p:cNvPr>
          <p:cNvSpPr>
            <a:spLocks xmlns:a="http://schemas.openxmlformats.org/drawingml/2006/main" noGrp="1"/>
          </p:cNvSpPr>
          <p:nvPr/>
        </p:nvSpPr>
        <p:spPr>
          <a:xfrm xmlns:a="http://schemas.openxmlformats.org/drawingml/2006/main">
            <a:off x="685800" y="5505450"/>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AAA6BD"/>
                </a:solidFill>
              </a:defRPr>
            </a:pPr>
            <a:r>
              <a:rPr sz="1350" b="1">
                <a:solidFill>
                  <a:srgbClr val="AAA6BD"/>
                </a:solidFill>
              </a:rPr>
              <a:t>No lyrics · no face identification · no inferred emotion · no artist endorsement</a:t>
            </a:r>
          </a:p>
        </p:txBody>
      </p:sp>
    </p:spTree>
    <p:extLst>
      <p:ext uri="{BB962C8B-B14F-4D97-AF65-F5344CB8AC3E}">
        <p14:creationId xmlns:p14="http://schemas.microsoft.com/office/powerpoint/2010/main" val="606186840"/>
      </p:ext>
    </p:extLst>
  </p:cSld>
</p:sld>
</file>

<file path=ppt/slides/slide6.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22FB8D9-0FA3-4FFE-8B90-6452D1CF4E68}"/>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2BB03EE-49D1-46CA-BF11-81E0524EC015}"/>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SPONSOR STACK</a:t>
            </a:r>
          </a:p>
        </p:txBody>
      </p:sp>
      <p:sp>
        <p:nvSpPr>
          <p:cNvPr id="3" name="">
            <a:extLst xmlns:a="http://schemas.openxmlformats.org/drawingml/2006/main">
              <a:ext uri="{FF2B5EF4-FFF2-40B4-BE49-F238E27FC236}">
                <a16:creationId xmlns:a16="http://schemas.microsoft.com/office/drawing/2014/main" id="{82EA7D2C-7B7C-4606-93D7-C218A064F615}"/>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06</a:t>
            </a:r>
          </a:p>
        </p:txBody>
      </p:sp>
      <p:sp>
        <p:nvSpPr>
          <p:cNvPr id="4" name="">
            <a:extLst xmlns:a="http://schemas.openxmlformats.org/drawingml/2006/main">
              <a:ext uri="{FF2B5EF4-FFF2-40B4-BE49-F238E27FC236}">
                <a16:creationId xmlns:a16="http://schemas.microsoft.com/office/drawing/2014/main" id="{769A6320-3922-4684-B039-A283A92FDAD7}"/>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Every dependency strengthens the ritual—and none can break it.</a:t>
            </a:r>
          </a:p>
        </p:txBody>
      </p:sp>
      <p:sp>
        <p:nvSpPr>
          <p:cNvPr id="5" name="">
            <a:extLst xmlns:a="http://schemas.openxmlformats.org/drawingml/2006/main">
              <a:ext uri="{FF2B5EF4-FFF2-40B4-BE49-F238E27FC236}">
                <a16:creationId xmlns:a16="http://schemas.microsoft.com/office/drawing/2014/main" id="{BA2D0D0E-93CD-419F-8E2B-705B566B1FEC}"/>
              </a:ext>
            </a:extLst>
          </p:cNvPr>
          <p:cNvSpPr>
            <a:spLocks xmlns:a="http://schemas.openxmlformats.org/drawingml/2006/main" noGrp="1"/>
          </p:cNvSpPr>
          <p:nvPr/>
        </p:nvSpPr>
        <p:spPr>
          <a:xfrm xmlns:a="http://schemas.openxmlformats.org/drawingml/2006/main">
            <a:off x="895350" y="21145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FF7A61"/>
                </a:solidFill>
              </a:defRPr>
            </a:pPr>
            <a:r>
              <a:rPr sz="1275" b="1">
                <a:solidFill>
                  <a:srgbClr val="FF7A61"/>
                </a:solidFill>
              </a:rPr>
              <a:t>OPENAI</a:t>
            </a:r>
          </a:p>
        </p:txBody>
      </p:sp>
      <p:sp>
        <p:nvSpPr>
          <p:cNvPr id="6" name="">
            <a:extLst xmlns:a="http://schemas.openxmlformats.org/drawingml/2006/main">
              <a:ext uri="{FF2B5EF4-FFF2-40B4-BE49-F238E27FC236}">
                <a16:creationId xmlns:a16="http://schemas.microsoft.com/office/drawing/2014/main" id="{7307B32E-4884-4529-A71F-0EC500AC31F1}"/>
              </a:ext>
            </a:extLst>
          </p:cNvPr>
          <p:cNvSpPr>
            <a:spLocks xmlns:a="http://schemas.openxmlformats.org/drawingml/2006/main" noGrp="1"/>
          </p:cNvSpPr>
          <p:nvPr/>
        </p:nvSpPr>
        <p:spPr>
          <a:xfrm xmlns:a="http://schemas.openxmlformats.org/drawingml/2006/main">
            <a:off x="3143250" y="2247900"/>
            <a:ext cx="809625" cy="19050"/>
          </a:xfrm>
          <a:prstGeom xmlns:a="http://schemas.openxmlformats.org/drawingml/2006/main" prst="rect">
            <a:avLst/>
          </a:prstGeom>
          <a:solidFill xmlns:a="http://schemas.openxmlformats.org/drawingml/2006/main">
            <a:srgbClr val="FF7A6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6648AC7-29B3-42E3-B8D9-CEB9E2572D5F}"/>
              </a:ext>
            </a:extLst>
          </p:cNvPr>
          <p:cNvSpPr>
            <a:spLocks xmlns:a="http://schemas.openxmlformats.org/drawingml/2006/main" noGrp="1"/>
          </p:cNvSpPr>
          <p:nvPr/>
        </p:nvSpPr>
        <p:spPr>
          <a:xfrm xmlns:a="http://schemas.openxmlformats.org/drawingml/2006/main">
            <a:off x="4238625" y="2000250"/>
            <a:ext cx="400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6F3FF"/>
                </a:solidFill>
              </a:defRPr>
            </a:pPr>
            <a:r>
              <a:rPr sz="1575" b="1">
                <a:solidFill>
                  <a:srgbClr val="F6F3FF"/>
                </a:solidFill>
              </a:rPr>
              <a:t>Factual multimodal translation</a:t>
            </a:r>
          </a:p>
        </p:txBody>
      </p:sp>
      <p:sp>
        <p:nvSpPr>
          <p:cNvPr id="8" name="">
            <a:extLst xmlns:a="http://schemas.openxmlformats.org/drawingml/2006/main">
              <a:ext uri="{FF2B5EF4-FFF2-40B4-BE49-F238E27FC236}">
                <a16:creationId xmlns:a16="http://schemas.microsoft.com/office/drawing/2014/main" id="{1FAEDBE3-615A-402B-9FC3-7AC85CDA9531}"/>
              </a:ext>
            </a:extLst>
          </p:cNvPr>
          <p:cNvSpPr>
            <a:spLocks xmlns:a="http://schemas.openxmlformats.org/drawingml/2006/main" noGrp="1"/>
          </p:cNvSpPr>
          <p:nvPr/>
        </p:nvSpPr>
        <p:spPr>
          <a:xfrm xmlns:a="http://schemas.openxmlformats.org/drawingml/2006/main">
            <a:off x="895350" y="29908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8C7BFF"/>
                </a:solidFill>
              </a:defRPr>
            </a:pPr>
            <a:r>
              <a:rPr sz="1275" b="1">
                <a:solidFill>
                  <a:srgbClr val="8C7BFF"/>
                </a:solidFill>
              </a:rPr>
              <a:t>CHATGPT SITES</a:t>
            </a:r>
          </a:p>
        </p:txBody>
      </p:sp>
      <p:sp>
        <p:nvSpPr>
          <p:cNvPr id="9" name="">
            <a:extLst xmlns:a="http://schemas.openxmlformats.org/drawingml/2006/main">
              <a:ext uri="{FF2B5EF4-FFF2-40B4-BE49-F238E27FC236}">
                <a16:creationId xmlns:a16="http://schemas.microsoft.com/office/drawing/2014/main" id="{6184CBE7-0C9E-446B-87EC-DA070A0384F2}"/>
              </a:ext>
            </a:extLst>
          </p:cNvPr>
          <p:cNvSpPr>
            <a:spLocks xmlns:a="http://schemas.openxmlformats.org/drawingml/2006/main" noGrp="1"/>
          </p:cNvSpPr>
          <p:nvPr/>
        </p:nvSpPr>
        <p:spPr>
          <a:xfrm xmlns:a="http://schemas.openxmlformats.org/drawingml/2006/main">
            <a:off x="3143250" y="3124200"/>
            <a:ext cx="809625" cy="19050"/>
          </a:xfrm>
          <a:prstGeom xmlns:a="http://schemas.openxmlformats.org/drawingml/2006/main" prst="rect">
            <a:avLst/>
          </a:prstGeom>
          <a:solidFill xmlns:a="http://schemas.openxmlformats.org/drawingml/2006/main">
            <a:srgbClr val="8C7B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AC93A0-22FF-460E-9C76-6CA2B9EF13F9}"/>
              </a:ext>
            </a:extLst>
          </p:cNvPr>
          <p:cNvSpPr>
            <a:spLocks xmlns:a="http://schemas.openxmlformats.org/drawingml/2006/main" noGrp="1"/>
          </p:cNvSpPr>
          <p:nvPr/>
        </p:nvSpPr>
        <p:spPr>
          <a:xfrm xmlns:a="http://schemas.openxmlformats.org/drawingml/2006/main">
            <a:off x="4238625" y="2876550"/>
            <a:ext cx="400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6F3FF"/>
                </a:solidFill>
              </a:defRPr>
            </a:pPr>
            <a:r>
              <a:rPr sz="1575" b="1">
                <a:solidFill>
                  <a:srgbClr val="F6F3FF"/>
                </a:solidFill>
              </a:rPr>
              <a:t>Edge-hosted app, D1 sessions, R2 media</a:t>
            </a:r>
          </a:p>
        </p:txBody>
      </p:sp>
      <p:sp>
        <p:nvSpPr>
          <p:cNvPr id="11" name="">
            <a:extLst xmlns:a="http://schemas.openxmlformats.org/drawingml/2006/main">
              <a:ext uri="{FF2B5EF4-FFF2-40B4-BE49-F238E27FC236}">
                <a16:creationId xmlns:a16="http://schemas.microsoft.com/office/drawing/2014/main" id="{3D3DC8EF-BBBB-4616-AC5D-726DDE0EA2A4}"/>
              </a:ext>
            </a:extLst>
          </p:cNvPr>
          <p:cNvSpPr>
            <a:spLocks xmlns:a="http://schemas.openxmlformats.org/drawingml/2006/main" noGrp="1"/>
          </p:cNvSpPr>
          <p:nvPr/>
        </p:nvSpPr>
        <p:spPr>
          <a:xfrm xmlns:a="http://schemas.openxmlformats.org/drawingml/2006/main">
            <a:off x="895350" y="38671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5D6BE"/>
                </a:solidFill>
              </a:defRPr>
            </a:pPr>
            <a:r>
              <a:rPr sz="1275" b="1">
                <a:solidFill>
                  <a:srgbClr val="55D6BE"/>
                </a:solidFill>
              </a:rPr>
              <a:t>JAMBASE</a:t>
            </a:r>
          </a:p>
        </p:txBody>
      </p:sp>
      <p:sp>
        <p:nvSpPr>
          <p:cNvPr id="12" name="">
            <a:extLst xmlns:a="http://schemas.openxmlformats.org/drawingml/2006/main">
              <a:ext uri="{FF2B5EF4-FFF2-40B4-BE49-F238E27FC236}">
                <a16:creationId xmlns:a16="http://schemas.microsoft.com/office/drawing/2014/main" id="{A818A126-0556-423E-AAD8-7486B657C53D}"/>
              </a:ext>
            </a:extLst>
          </p:cNvPr>
          <p:cNvSpPr>
            <a:spLocks xmlns:a="http://schemas.openxmlformats.org/drawingml/2006/main" noGrp="1"/>
          </p:cNvSpPr>
          <p:nvPr/>
        </p:nvSpPr>
        <p:spPr>
          <a:xfrm xmlns:a="http://schemas.openxmlformats.org/drawingml/2006/main">
            <a:off x="3143250" y="4000500"/>
            <a:ext cx="809625" cy="19050"/>
          </a:xfrm>
          <a:prstGeom xmlns:a="http://schemas.openxmlformats.org/drawingml/2006/main" prst="rect">
            <a:avLst/>
          </a:prstGeom>
          <a:solidFill xmlns:a="http://schemas.openxmlformats.org/drawingml/2006/main">
            <a:srgbClr val="55D6B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3518AB0-15EA-43E3-8239-966287CFDA1B}"/>
              </a:ext>
            </a:extLst>
          </p:cNvPr>
          <p:cNvSpPr>
            <a:spLocks xmlns:a="http://schemas.openxmlformats.org/drawingml/2006/main" noGrp="1"/>
          </p:cNvSpPr>
          <p:nvPr/>
        </p:nvSpPr>
        <p:spPr>
          <a:xfrm xmlns:a="http://schemas.openxmlformats.org/drawingml/2006/main">
            <a:off x="4238625" y="3752850"/>
            <a:ext cx="400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6F3FF"/>
                </a:solidFill>
              </a:defRPr>
            </a:pPr>
            <a:r>
              <a:rPr sz="1575" b="1">
                <a:solidFill>
                  <a:srgbClr val="F6F3FF"/>
                </a:solidFill>
              </a:rPr>
              <a:t>Artist/set enrichment with visible attribution</a:t>
            </a:r>
          </a:p>
        </p:txBody>
      </p:sp>
      <p:sp>
        <p:nvSpPr>
          <p:cNvPr id="14" name="">
            <a:extLst xmlns:a="http://schemas.openxmlformats.org/drawingml/2006/main">
              <a:ext uri="{FF2B5EF4-FFF2-40B4-BE49-F238E27FC236}">
                <a16:creationId xmlns:a16="http://schemas.microsoft.com/office/drawing/2014/main" id="{14029CDF-7D48-47C9-975A-43F5FDF89F39}"/>
              </a:ext>
            </a:extLst>
          </p:cNvPr>
          <p:cNvSpPr>
            <a:spLocks xmlns:a="http://schemas.openxmlformats.org/drawingml/2006/main" noGrp="1"/>
          </p:cNvSpPr>
          <p:nvPr/>
        </p:nvSpPr>
        <p:spPr>
          <a:xfrm xmlns:a="http://schemas.openxmlformats.org/drawingml/2006/main">
            <a:off x="895350" y="4743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FFD166"/>
                </a:solidFill>
              </a:defRPr>
            </a:pPr>
            <a:r>
              <a:rPr sz="1275" b="1">
                <a:solidFill>
                  <a:srgbClr val="FFD166"/>
                </a:solidFill>
              </a:rPr>
              <a:t>CODEX</a:t>
            </a:r>
          </a:p>
        </p:txBody>
      </p:sp>
      <p:sp>
        <p:nvSpPr>
          <p:cNvPr id="15" name="">
            <a:extLst xmlns:a="http://schemas.openxmlformats.org/drawingml/2006/main">
              <a:ext uri="{FF2B5EF4-FFF2-40B4-BE49-F238E27FC236}">
                <a16:creationId xmlns:a16="http://schemas.microsoft.com/office/drawing/2014/main" id="{20744D6E-2586-420E-81E4-9CAD5BFB6073}"/>
              </a:ext>
            </a:extLst>
          </p:cNvPr>
          <p:cNvSpPr>
            <a:spLocks xmlns:a="http://schemas.openxmlformats.org/drawingml/2006/main" noGrp="1"/>
          </p:cNvSpPr>
          <p:nvPr/>
        </p:nvSpPr>
        <p:spPr>
          <a:xfrm xmlns:a="http://schemas.openxmlformats.org/drawingml/2006/main">
            <a:off x="3143250" y="4876800"/>
            <a:ext cx="809625" cy="19050"/>
          </a:xfrm>
          <a:prstGeom xmlns:a="http://schemas.openxmlformats.org/drawingml/2006/main" prst="rect">
            <a:avLst/>
          </a:prstGeom>
          <a:solidFill xmlns:a="http://schemas.openxmlformats.org/drawingml/2006/main">
            <a:srgbClr val="FFD16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EE55816-7058-4C14-9C7B-97D209B8783A}"/>
              </a:ext>
            </a:extLst>
          </p:cNvPr>
          <p:cNvSpPr>
            <a:spLocks xmlns:a="http://schemas.openxmlformats.org/drawingml/2006/main" noGrp="1"/>
          </p:cNvSpPr>
          <p:nvPr/>
        </p:nvSpPr>
        <p:spPr>
          <a:xfrm xmlns:a="http://schemas.openxmlformats.org/drawingml/2006/main">
            <a:off x="4238625" y="4629150"/>
            <a:ext cx="400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6F3FF"/>
                </a:solidFill>
              </a:defRPr>
            </a:pPr>
            <a:r>
              <a:rPr sz="1575" b="1">
                <a:solidFill>
                  <a:srgbClr val="F6F3FF"/>
                </a:solidFill>
              </a:rPr>
              <a:t>Built, tested, documented, shipped</a:t>
            </a:r>
          </a:p>
        </p:txBody>
      </p:sp>
      <p:sp>
        <p:nvSpPr>
          <p:cNvPr id="17" name="">
            <a:extLst xmlns:a="http://schemas.openxmlformats.org/drawingml/2006/main">
              <a:ext uri="{FF2B5EF4-FFF2-40B4-BE49-F238E27FC236}">
                <a16:creationId xmlns:a16="http://schemas.microsoft.com/office/drawing/2014/main" id="{ED5D7EC1-9435-49A4-BED1-5CA7B1AFD066}"/>
              </a:ext>
            </a:extLst>
          </p:cNvPr>
          <p:cNvSpPr>
            <a:spLocks xmlns:a="http://schemas.openxmlformats.org/drawingml/2006/main" noGrp="1"/>
          </p:cNvSpPr>
          <p:nvPr/>
        </p:nvSpPr>
        <p:spPr>
          <a:xfrm xmlns:a="http://schemas.openxmlformats.org/drawingml/2006/main">
            <a:off x="8620125" y="1952625"/>
            <a:ext cx="2428875" cy="3543300"/>
          </a:xfrm>
          <a:prstGeom xmlns:a="http://schemas.openxmlformats.org/drawingml/2006/main" prst="roundRect">
            <a:avLst>
              <a:gd name="adj" fmla="val 6275"/>
            </a:avLst>
          </a:prstGeom>
          <a:solidFill xmlns:a="http://schemas.openxmlformats.org/drawingml/2006/main">
            <a:srgbClr val="11111E"/>
          </a:solidFill>
          <a:ln xmlns:a="http://schemas.openxmlformats.org/drawingml/2006/main" w="9525">
            <a:solidFill>
              <a:srgbClr val="323242"/>
            </a:solidFill>
            <a:prstDash val="solid"/>
          </a:ln>
        </p:spPr>
      </p:sp>
      <p:sp>
        <p:nvSpPr>
          <p:cNvPr id="18" name="">
            <a:extLst xmlns:a="http://schemas.openxmlformats.org/drawingml/2006/main">
              <a:ext uri="{FF2B5EF4-FFF2-40B4-BE49-F238E27FC236}">
                <a16:creationId xmlns:a16="http://schemas.microsoft.com/office/drawing/2014/main" id="{C3664CF0-1092-42A3-981E-06330C510D16}"/>
              </a:ext>
            </a:extLst>
          </p:cNvPr>
          <p:cNvSpPr>
            <a:spLocks xmlns:a="http://schemas.openxmlformats.org/drawingml/2006/main" noGrp="1"/>
          </p:cNvSpPr>
          <p:nvPr/>
        </p:nvSpPr>
        <p:spPr>
          <a:xfrm xmlns:a="http://schemas.openxmlformats.org/drawingml/2006/main">
            <a:off x="8896350" y="2257425"/>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5D6BE"/>
                </a:solidFill>
              </a:defRPr>
            </a:pPr>
            <a:r>
              <a:rPr sz="975" b="1">
                <a:solidFill>
                  <a:srgbClr val="55D6BE"/>
                </a:solidFill>
              </a:rPr>
              <a:t>DEMO-SAFE</a:t>
            </a:r>
          </a:p>
        </p:txBody>
      </p:sp>
      <p:sp>
        <p:nvSpPr>
          <p:cNvPr id="19" name="">
            <a:extLst xmlns:a="http://schemas.openxmlformats.org/drawingml/2006/main">
              <a:ext uri="{FF2B5EF4-FFF2-40B4-BE49-F238E27FC236}">
                <a16:creationId xmlns:a16="http://schemas.microsoft.com/office/drawing/2014/main" id="{A3C60578-C439-49C7-8805-D8EE35B22954}"/>
              </a:ext>
            </a:extLst>
          </p:cNvPr>
          <p:cNvSpPr>
            <a:spLocks xmlns:a="http://schemas.openxmlformats.org/drawingml/2006/main" noGrp="1"/>
          </p:cNvSpPr>
          <p:nvPr/>
        </p:nvSpPr>
        <p:spPr>
          <a:xfrm xmlns:a="http://schemas.openxmlformats.org/drawingml/2006/main">
            <a:off x="8896350" y="2781300"/>
            <a:ext cx="1857375"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AAA6BD"/>
                </a:solidFill>
              </a:defRPr>
            </a:pPr>
            <a:r>
              <a:rPr sz="1425" b="0">
                <a:solidFill>
                  <a:srgbClr val="AAA6BD"/>
                </a:solidFill>
              </a:rPr>
              <a:t>OpenAI timeout?</a:t>
            </a:r>
          </a:p>
          <a:p xmlns:a="http://schemas.openxmlformats.org/drawingml/2006/main">
            <a:pPr algn="l">
              <a:defRPr sz="1425" b="0">
                <a:solidFill>
                  <a:srgbClr val="AAA6BD"/>
                </a:solidFill>
              </a:defRPr>
            </a:pPr>
            <a:r>
              <a:rPr sz="1425" b="0">
                <a:solidFill>
                  <a:srgbClr val="AAA6BD"/>
                </a:solidFill>
              </a:rPr>
              <a:t>Honest fallback.</a:t>
            </a:r>
          </a:p>
          <a:p xmlns:a="http://schemas.openxmlformats.org/drawingml/2006/main">
            <a:r>
              <a:t/>
            </a:r>
          </a:p>
          <a:p xmlns:a="http://schemas.openxmlformats.org/drawingml/2006/main">
            <a:pPr algn="l">
              <a:defRPr sz="1425" b="0">
                <a:solidFill>
                  <a:srgbClr val="AAA6BD"/>
                </a:solidFill>
              </a:defRPr>
            </a:pPr>
            <a:r>
              <a:rPr sz="1425" b="0">
                <a:solidFill>
                  <a:srgbClr val="AAA6BD"/>
                </a:solidFill>
              </a:rPr>
              <a:t>JamBase offline?</a:t>
            </a:r>
          </a:p>
          <a:p xmlns:a="http://schemas.openxmlformats.org/drawingml/2006/main">
            <a:pPr algn="l">
              <a:defRPr sz="1425" b="0">
                <a:solidFill>
                  <a:srgbClr val="AAA6BD"/>
                </a:solidFill>
              </a:defRPr>
            </a:pPr>
            <a:r>
              <a:rPr sz="1425" b="0">
                <a:solidFill>
                  <a:srgbClr val="AAA6BD"/>
                </a:solidFill>
              </a:rPr>
              <a:t>Curated set list.</a:t>
            </a:r>
          </a:p>
          <a:p xmlns:a="http://schemas.openxmlformats.org/drawingml/2006/main">
            <a:r>
              <a:t/>
            </a:r>
          </a:p>
          <a:p xmlns:a="http://schemas.openxmlformats.org/drawingml/2006/main">
            <a:pPr algn="l">
              <a:defRPr sz="1425" b="0">
                <a:solidFill>
                  <a:srgbClr val="AAA6BD"/>
                </a:solidFill>
              </a:defRPr>
            </a:pPr>
            <a:r>
              <a:rPr sz="1425" b="0">
                <a:solidFill>
                  <a:srgbClr val="AAA6BD"/>
                </a:solidFill>
              </a:rPr>
              <a:t>No camera or mic?</a:t>
            </a:r>
          </a:p>
          <a:p xmlns:a="http://schemas.openxmlformats.org/drawingml/2006/main">
            <a:pPr algn="l">
              <a:defRPr sz="1425" b="0">
                <a:solidFill>
                  <a:srgbClr val="AAA6BD"/>
                </a:solidFill>
              </a:defRPr>
            </a:pPr>
            <a:r>
              <a:rPr sz="1425" b="0">
                <a:solidFill>
                  <a:srgbClr val="AAA6BD"/>
                </a:solidFill>
              </a:rPr>
              <a:t>Words-only path.</a:t>
            </a:r>
          </a:p>
        </p:txBody>
      </p:sp>
    </p:spTree>
    <p:extLst>
      <p:ext uri="{BB962C8B-B14F-4D97-AF65-F5344CB8AC3E}">
        <p14:creationId xmlns:p14="http://schemas.microsoft.com/office/powerpoint/2010/main" val="1889335503"/>
      </p:ext>
    </p:extLst>
  </p:cSld>
</p:sld>
</file>

<file path=ppt/slides/slide7.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2599EE6-82D0-4079-92F7-295B727FBE3D}"/>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2BEDC3-7450-4CFD-A947-9AF70E667F7D}"/>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ARCHITECTURE</a:t>
            </a:r>
          </a:p>
        </p:txBody>
      </p:sp>
      <p:sp>
        <p:nvSpPr>
          <p:cNvPr id="3" name="">
            <a:extLst xmlns:a="http://schemas.openxmlformats.org/drawingml/2006/main">
              <a:ext uri="{FF2B5EF4-FFF2-40B4-BE49-F238E27FC236}">
                <a16:creationId xmlns:a16="http://schemas.microsoft.com/office/drawing/2014/main" id="{CEAA015C-883C-414A-BF23-2CAB96617E91}"/>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07</a:t>
            </a:r>
          </a:p>
        </p:txBody>
      </p:sp>
      <p:sp>
        <p:nvSpPr>
          <p:cNvPr id="4" name="">
            <a:extLst xmlns:a="http://schemas.openxmlformats.org/drawingml/2006/main">
              <a:ext uri="{FF2B5EF4-FFF2-40B4-BE49-F238E27FC236}">
                <a16:creationId xmlns:a16="http://schemas.microsoft.com/office/drawing/2014/main" id="{B6D1F4F7-1B3A-4EFE-A5C5-E08F9D99EA8E}"/>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A strict state machine keeps two private clients in one moment.</a:t>
            </a:r>
          </a:p>
        </p:txBody>
      </p:sp>
      <p:sp>
        <p:nvSpPr>
          <p:cNvPr id="5" name="">
            <a:extLst xmlns:a="http://schemas.openxmlformats.org/drawingml/2006/main">
              <a:ext uri="{FF2B5EF4-FFF2-40B4-BE49-F238E27FC236}">
                <a16:creationId xmlns:a16="http://schemas.microsoft.com/office/drawing/2014/main" id="{14E617FF-E3D7-4593-8060-78FEC69DE7B1}"/>
              </a:ext>
            </a:extLst>
          </p:cNvPr>
          <p:cNvSpPr>
            <a:spLocks xmlns:a="http://schemas.openxmlformats.org/drawingml/2006/main" noGrp="1"/>
          </p:cNvSpPr>
          <p:nvPr/>
        </p:nvSpPr>
        <p:spPr>
          <a:xfrm xmlns:a="http://schemas.openxmlformats.org/drawingml/2006/main">
            <a:off x="2286000" y="3238500"/>
            <a:ext cx="7524750" cy="28575"/>
          </a:xfrm>
          <a:prstGeom xmlns:a="http://schemas.openxmlformats.org/drawingml/2006/main" prst="rect">
            <a:avLst/>
          </a:prstGeom>
          <a:solidFill xmlns:a="http://schemas.openxmlformats.org/drawingml/2006/main">
            <a:srgbClr val="32324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227D93-3CFD-4435-8197-8D464AF651FD}"/>
              </a:ext>
            </a:extLst>
          </p:cNvPr>
          <p:cNvSpPr>
            <a:spLocks xmlns:a="http://schemas.openxmlformats.org/drawingml/2006/main" noGrp="1"/>
          </p:cNvSpPr>
          <p:nvPr/>
        </p:nvSpPr>
        <p:spPr>
          <a:xfrm xmlns:a="http://schemas.openxmlformats.org/drawingml/2006/main">
            <a:off x="952500" y="2524125"/>
            <a:ext cx="2190750" cy="1571625"/>
          </a:xfrm>
          <a:prstGeom xmlns:a="http://schemas.openxmlformats.org/drawingml/2006/main" prst="roundRect">
            <a:avLst>
              <a:gd name="adj" fmla="val 9697"/>
            </a:avLst>
          </a:prstGeom>
          <a:solidFill xmlns:a="http://schemas.openxmlformats.org/drawingml/2006/main">
            <a:srgbClr val="151526"/>
          </a:solidFill>
          <a:ln xmlns:a="http://schemas.openxmlformats.org/drawingml/2006/main" w="9525">
            <a:solidFill>
              <a:srgbClr val="323242"/>
            </a:solidFill>
            <a:prstDash val="solid"/>
          </a:ln>
        </p:spPr>
      </p:sp>
      <p:sp>
        <p:nvSpPr>
          <p:cNvPr id="7" name="">
            <a:extLst xmlns:a="http://schemas.openxmlformats.org/drawingml/2006/main">
              <a:ext uri="{FF2B5EF4-FFF2-40B4-BE49-F238E27FC236}">
                <a16:creationId xmlns:a16="http://schemas.microsoft.com/office/drawing/2014/main" id="{D0932E23-E200-4544-8E88-21288FB3BC33}"/>
              </a:ext>
            </a:extLst>
          </p:cNvPr>
          <p:cNvSpPr>
            <a:spLocks xmlns:a="http://schemas.openxmlformats.org/drawingml/2006/main" noGrp="1"/>
          </p:cNvSpPr>
          <p:nvPr/>
        </p:nvSpPr>
        <p:spPr>
          <a:xfrm xmlns:a="http://schemas.openxmlformats.org/drawingml/2006/main">
            <a:off x="1123950" y="2762250"/>
            <a:ext cx="1847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8C7BFF"/>
                </a:solidFill>
              </a:defRPr>
            </a:pPr>
            <a:r>
              <a:rPr sz="1125" b="1">
                <a:solidFill>
                  <a:srgbClr val="8C7BFF"/>
                </a:solidFill>
              </a:rPr>
              <a:t>HERE CLIENT</a:t>
            </a:r>
          </a:p>
        </p:txBody>
      </p:sp>
      <p:sp>
        <p:nvSpPr>
          <p:cNvPr id="8" name="">
            <a:extLst xmlns:a="http://schemas.openxmlformats.org/drawingml/2006/main">
              <a:ext uri="{FF2B5EF4-FFF2-40B4-BE49-F238E27FC236}">
                <a16:creationId xmlns:a16="http://schemas.microsoft.com/office/drawing/2014/main" id="{7E01FC01-2598-4BC7-ACFF-8BC159BCF4C7}"/>
              </a:ext>
            </a:extLst>
          </p:cNvPr>
          <p:cNvSpPr>
            <a:spLocks xmlns:a="http://schemas.openxmlformats.org/drawingml/2006/main" noGrp="1"/>
          </p:cNvSpPr>
          <p:nvPr/>
        </p:nvSpPr>
        <p:spPr>
          <a:xfrm xmlns:a="http://schemas.openxmlformats.org/drawingml/2006/main">
            <a:off x="1123950" y="323850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F6F3FF"/>
                </a:solidFill>
              </a:defRPr>
            </a:pPr>
            <a:r>
              <a:rPr sz="1350" b="0">
                <a:solidFill>
                  <a:srgbClr val="F6F3FF"/>
                </a:solidFill>
              </a:rPr>
              <a:t>camera · words</a:t>
            </a:r>
          </a:p>
          <a:p xmlns:a="http://schemas.openxmlformats.org/drawingml/2006/main">
            <a:pPr algn="l">
              <a:defRPr sz="1350" b="0">
                <a:solidFill>
                  <a:srgbClr val="F6F3FF"/>
                </a:solidFill>
              </a:defRPr>
            </a:pPr>
            <a:r>
              <a:rPr sz="1350" b="0">
                <a:solidFill>
                  <a:srgbClr val="F6F3FF"/>
                </a:solidFill>
              </a:rPr>
              <a:t>local intensity</a:t>
            </a:r>
          </a:p>
        </p:txBody>
      </p:sp>
      <p:sp>
        <p:nvSpPr>
          <p:cNvPr id="9" name="">
            <a:extLst xmlns:a="http://schemas.openxmlformats.org/drawingml/2006/main">
              <a:ext uri="{FF2B5EF4-FFF2-40B4-BE49-F238E27FC236}">
                <a16:creationId xmlns:a16="http://schemas.microsoft.com/office/drawing/2014/main" id="{D054D7A6-0A51-4F42-BA2B-2E4C96DD4683}"/>
              </a:ext>
            </a:extLst>
          </p:cNvPr>
          <p:cNvSpPr>
            <a:spLocks xmlns:a="http://schemas.openxmlformats.org/drawingml/2006/main" noGrp="1"/>
          </p:cNvSpPr>
          <p:nvPr/>
        </p:nvSpPr>
        <p:spPr>
          <a:xfrm xmlns:a="http://schemas.openxmlformats.org/drawingml/2006/main">
            <a:off x="3619500" y="2524125"/>
            <a:ext cx="2190750" cy="1571625"/>
          </a:xfrm>
          <a:prstGeom xmlns:a="http://schemas.openxmlformats.org/drawingml/2006/main" prst="roundRect">
            <a:avLst>
              <a:gd name="adj" fmla="val 9697"/>
            </a:avLst>
          </a:prstGeom>
          <a:solidFill xmlns:a="http://schemas.openxmlformats.org/drawingml/2006/main">
            <a:srgbClr val="251C2B"/>
          </a:solidFill>
          <a:ln xmlns:a="http://schemas.openxmlformats.org/drawingml/2006/main" w="9525">
            <a:solidFill>
              <a:srgbClr val="FF7A61"/>
            </a:solidFill>
            <a:prstDash val="solid"/>
          </a:ln>
        </p:spPr>
      </p:sp>
      <p:sp>
        <p:nvSpPr>
          <p:cNvPr id="10" name="">
            <a:extLst xmlns:a="http://schemas.openxmlformats.org/drawingml/2006/main">
              <a:ext uri="{FF2B5EF4-FFF2-40B4-BE49-F238E27FC236}">
                <a16:creationId xmlns:a16="http://schemas.microsoft.com/office/drawing/2014/main" id="{8D42C6F8-2B36-41B8-991F-29CDF3698C82}"/>
              </a:ext>
            </a:extLst>
          </p:cNvPr>
          <p:cNvSpPr>
            <a:spLocks xmlns:a="http://schemas.openxmlformats.org/drawingml/2006/main" noGrp="1"/>
          </p:cNvSpPr>
          <p:nvPr/>
        </p:nvSpPr>
        <p:spPr>
          <a:xfrm xmlns:a="http://schemas.openxmlformats.org/drawingml/2006/main">
            <a:off x="3790950" y="2762250"/>
            <a:ext cx="1847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F7A61"/>
                </a:solidFill>
              </a:defRPr>
            </a:pPr>
            <a:r>
              <a:rPr sz="1125" b="1">
                <a:solidFill>
                  <a:srgbClr val="FF7A61"/>
                </a:solidFill>
              </a:rPr>
              <a:t>SITES API</a:t>
            </a:r>
          </a:p>
        </p:txBody>
      </p:sp>
      <p:sp>
        <p:nvSpPr>
          <p:cNvPr id="11" name="">
            <a:extLst xmlns:a="http://schemas.openxmlformats.org/drawingml/2006/main">
              <a:ext uri="{FF2B5EF4-FFF2-40B4-BE49-F238E27FC236}">
                <a16:creationId xmlns:a16="http://schemas.microsoft.com/office/drawing/2014/main" id="{F75DF458-DE9B-4785-9372-7D6960B7CEE3}"/>
              </a:ext>
            </a:extLst>
          </p:cNvPr>
          <p:cNvSpPr>
            <a:spLocks xmlns:a="http://schemas.openxmlformats.org/drawingml/2006/main" noGrp="1"/>
          </p:cNvSpPr>
          <p:nvPr/>
        </p:nvSpPr>
        <p:spPr>
          <a:xfrm xmlns:a="http://schemas.openxmlformats.org/drawingml/2006/main">
            <a:off x="3790950" y="323850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F6F3FF"/>
                </a:solidFill>
              </a:defRPr>
            </a:pPr>
            <a:r>
              <a:rPr sz="1350" b="0">
                <a:solidFill>
                  <a:srgbClr val="F6F3FF"/>
                </a:solidFill>
              </a:rPr>
              <a:t>role tokens</a:t>
            </a:r>
          </a:p>
          <a:p xmlns:a="http://schemas.openxmlformats.org/drawingml/2006/main">
            <a:pPr algn="l">
              <a:defRPr sz="1350" b="0">
                <a:solidFill>
                  <a:srgbClr val="F6F3FF"/>
                </a:solidFill>
              </a:defRPr>
            </a:pPr>
            <a:r>
              <a:rPr sz="1350" b="0">
                <a:solidFill>
                  <a:srgbClr val="F6F3FF"/>
                </a:solidFill>
              </a:rPr>
              <a:t>state machine</a:t>
            </a:r>
          </a:p>
        </p:txBody>
      </p:sp>
      <p:sp>
        <p:nvSpPr>
          <p:cNvPr id="12" name="">
            <a:extLst xmlns:a="http://schemas.openxmlformats.org/drawingml/2006/main">
              <a:ext uri="{FF2B5EF4-FFF2-40B4-BE49-F238E27FC236}">
                <a16:creationId xmlns:a16="http://schemas.microsoft.com/office/drawing/2014/main" id="{C1E746E0-D7EA-4B92-9E1F-5A37C6D47D20}"/>
              </a:ext>
            </a:extLst>
          </p:cNvPr>
          <p:cNvSpPr>
            <a:spLocks xmlns:a="http://schemas.openxmlformats.org/drawingml/2006/main" noGrp="1"/>
          </p:cNvSpPr>
          <p:nvPr/>
        </p:nvSpPr>
        <p:spPr>
          <a:xfrm xmlns:a="http://schemas.openxmlformats.org/drawingml/2006/main">
            <a:off x="6381750" y="2524125"/>
            <a:ext cx="2190750" cy="1571625"/>
          </a:xfrm>
          <a:prstGeom xmlns:a="http://schemas.openxmlformats.org/drawingml/2006/main" prst="roundRect">
            <a:avLst>
              <a:gd name="adj" fmla="val 9697"/>
            </a:avLst>
          </a:prstGeom>
          <a:solidFill xmlns:a="http://schemas.openxmlformats.org/drawingml/2006/main">
            <a:srgbClr val="151526"/>
          </a:solidFill>
          <a:ln xmlns:a="http://schemas.openxmlformats.org/drawingml/2006/main" w="9525">
            <a:solidFill>
              <a:srgbClr val="323242"/>
            </a:solidFill>
            <a:prstDash val="solid"/>
          </a:ln>
        </p:spPr>
      </p:sp>
      <p:sp>
        <p:nvSpPr>
          <p:cNvPr id="13" name="">
            <a:extLst xmlns:a="http://schemas.openxmlformats.org/drawingml/2006/main">
              <a:ext uri="{FF2B5EF4-FFF2-40B4-BE49-F238E27FC236}">
                <a16:creationId xmlns:a16="http://schemas.microsoft.com/office/drawing/2014/main" id="{98851A82-3E22-46A0-A76C-8D1C2CF1EC79}"/>
              </a:ext>
            </a:extLst>
          </p:cNvPr>
          <p:cNvSpPr>
            <a:spLocks xmlns:a="http://schemas.openxmlformats.org/drawingml/2006/main" noGrp="1"/>
          </p:cNvSpPr>
          <p:nvPr/>
        </p:nvSpPr>
        <p:spPr>
          <a:xfrm xmlns:a="http://schemas.openxmlformats.org/drawingml/2006/main">
            <a:off x="6553200" y="2762250"/>
            <a:ext cx="1847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8C7BFF"/>
                </a:solidFill>
              </a:defRPr>
            </a:pPr>
            <a:r>
              <a:rPr sz="1125" b="1">
                <a:solidFill>
                  <a:srgbClr val="8C7BFF"/>
                </a:solidFill>
              </a:rPr>
              <a:t>D1 + R2</a:t>
            </a:r>
          </a:p>
        </p:txBody>
      </p:sp>
      <p:sp>
        <p:nvSpPr>
          <p:cNvPr id="14" name="">
            <a:extLst xmlns:a="http://schemas.openxmlformats.org/drawingml/2006/main">
              <a:ext uri="{FF2B5EF4-FFF2-40B4-BE49-F238E27FC236}">
                <a16:creationId xmlns:a16="http://schemas.microsoft.com/office/drawing/2014/main" id="{586CE95A-AA04-4F66-B578-CF6A511FE653}"/>
              </a:ext>
            </a:extLst>
          </p:cNvPr>
          <p:cNvSpPr>
            <a:spLocks xmlns:a="http://schemas.openxmlformats.org/drawingml/2006/main" noGrp="1"/>
          </p:cNvSpPr>
          <p:nvPr/>
        </p:nvSpPr>
        <p:spPr>
          <a:xfrm xmlns:a="http://schemas.openxmlformats.org/drawingml/2006/main">
            <a:off x="6553200" y="323850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F6F3FF"/>
                </a:solidFill>
              </a:defRPr>
            </a:pPr>
            <a:r>
              <a:rPr sz="1350" b="0">
                <a:solidFill>
                  <a:srgbClr val="F6F3FF"/>
                </a:solidFill>
              </a:rPr>
              <a:t>session TTL</a:t>
            </a:r>
          </a:p>
          <a:p xmlns:a="http://schemas.openxmlformats.org/drawingml/2006/main">
            <a:pPr algn="l">
              <a:defRPr sz="1350" b="0">
                <a:solidFill>
                  <a:srgbClr val="F6F3FF"/>
                </a:solidFill>
              </a:defRPr>
            </a:pPr>
            <a:r>
              <a:rPr sz="1350" b="0">
                <a:solidFill>
                  <a:srgbClr val="F6F3FF"/>
                </a:solidFill>
              </a:rPr>
              <a:t>private media</a:t>
            </a:r>
          </a:p>
        </p:txBody>
      </p:sp>
      <p:sp>
        <p:nvSpPr>
          <p:cNvPr id="15" name="">
            <a:extLst xmlns:a="http://schemas.openxmlformats.org/drawingml/2006/main">
              <a:ext uri="{FF2B5EF4-FFF2-40B4-BE49-F238E27FC236}">
                <a16:creationId xmlns:a16="http://schemas.microsoft.com/office/drawing/2014/main" id="{49B5E5E3-047F-4D16-A1DF-FDC430F2889C}"/>
              </a:ext>
            </a:extLst>
          </p:cNvPr>
          <p:cNvSpPr>
            <a:spLocks xmlns:a="http://schemas.openxmlformats.org/drawingml/2006/main" noGrp="1"/>
          </p:cNvSpPr>
          <p:nvPr/>
        </p:nvSpPr>
        <p:spPr>
          <a:xfrm xmlns:a="http://schemas.openxmlformats.org/drawingml/2006/main">
            <a:off x="9048750" y="2524125"/>
            <a:ext cx="2190750" cy="1571625"/>
          </a:xfrm>
          <a:prstGeom xmlns:a="http://schemas.openxmlformats.org/drawingml/2006/main" prst="roundRect">
            <a:avLst>
              <a:gd name="adj" fmla="val 9697"/>
            </a:avLst>
          </a:prstGeom>
          <a:solidFill xmlns:a="http://schemas.openxmlformats.org/drawingml/2006/main">
            <a:srgbClr val="151526"/>
          </a:solidFill>
          <a:ln xmlns:a="http://schemas.openxmlformats.org/drawingml/2006/main" w="9525">
            <a:solidFill>
              <a:srgbClr val="323242"/>
            </a:solidFill>
            <a:prstDash val="solid"/>
          </a:ln>
        </p:spPr>
      </p:sp>
      <p:sp>
        <p:nvSpPr>
          <p:cNvPr id="16" name="">
            <a:extLst xmlns:a="http://schemas.openxmlformats.org/drawingml/2006/main">
              <a:ext uri="{FF2B5EF4-FFF2-40B4-BE49-F238E27FC236}">
                <a16:creationId xmlns:a16="http://schemas.microsoft.com/office/drawing/2014/main" id="{BF119F8E-1675-4205-8068-E225F473BF67}"/>
              </a:ext>
            </a:extLst>
          </p:cNvPr>
          <p:cNvSpPr>
            <a:spLocks xmlns:a="http://schemas.openxmlformats.org/drawingml/2006/main" noGrp="1"/>
          </p:cNvSpPr>
          <p:nvPr/>
        </p:nvSpPr>
        <p:spPr>
          <a:xfrm xmlns:a="http://schemas.openxmlformats.org/drawingml/2006/main">
            <a:off x="9220200" y="2762250"/>
            <a:ext cx="1847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8C7BFF"/>
                </a:solidFill>
              </a:defRPr>
            </a:pPr>
            <a:r>
              <a:rPr sz="1125" b="1">
                <a:solidFill>
                  <a:srgbClr val="8C7BFF"/>
                </a:solidFill>
              </a:rPr>
              <a:t>FAR CLIENT</a:t>
            </a:r>
          </a:p>
        </p:txBody>
      </p:sp>
      <p:sp>
        <p:nvSpPr>
          <p:cNvPr id="17" name="">
            <a:extLst xmlns:a="http://schemas.openxmlformats.org/drawingml/2006/main">
              <a:ext uri="{FF2B5EF4-FFF2-40B4-BE49-F238E27FC236}">
                <a16:creationId xmlns:a16="http://schemas.microsoft.com/office/drawing/2014/main" id="{B8C2BB41-8D34-4759-80A2-CEAB1F2E4F4B}"/>
              </a:ext>
            </a:extLst>
          </p:cNvPr>
          <p:cNvSpPr>
            <a:spLocks xmlns:a="http://schemas.openxmlformats.org/drawingml/2006/main" noGrp="1"/>
          </p:cNvSpPr>
          <p:nvPr/>
        </p:nvSpPr>
        <p:spPr>
          <a:xfrm xmlns:a="http://schemas.openxmlformats.org/drawingml/2006/main">
            <a:off x="9220200" y="3238500"/>
            <a:ext cx="1847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F6F3FF"/>
                </a:solidFill>
              </a:defRPr>
            </a:pPr>
            <a:r>
              <a:rPr sz="1350" b="0">
                <a:solidFill>
                  <a:srgbClr val="F6F3FF"/>
                </a:solidFill>
              </a:rPr>
              <a:t>poll · hold</a:t>
            </a:r>
          </a:p>
          <a:p xmlns:a="http://schemas.openxmlformats.org/drawingml/2006/main">
            <a:pPr algn="l">
              <a:defRPr sz="1350" b="0">
                <a:solidFill>
                  <a:srgbClr val="F6F3FF"/>
                </a:solidFill>
              </a:defRPr>
            </a:pPr>
            <a:r>
              <a:rPr sz="1350" b="0">
                <a:solidFill>
                  <a:srgbClr val="F6F3FF"/>
                </a:solidFill>
              </a:rPr>
              <a:t>sync pulse</a:t>
            </a:r>
          </a:p>
        </p:txBody>
      </p:sp>
      <p:sp>
        <p:nvSpPr>
          <p:cNvPr id="18" name="">
            <a:extLst xmlns:a="http://schemas.openxmlformats.org/drawingml/2006/main">
              <a:ext uri="{FF2B5EF4-FFF2-40B4-BE49-F238E27FC236}">
                <a16:creationId xmlns:a16="http://schemas.microsoft.com/office/drawing/2014/main" id="{EECE7F83-327A-4A34-BABD-0280D1B2BFEE}"/>
              </a:ext>
            </a:extLst>
          </p:cNvPr>
          <p:cNvSpPr>
            <a:spLocks xmlns:a="http://schemas.openxmlformats.org/drawingml/2006/main" noGrp="1"/>
          </p:cNvSpPr>
          <p:nvPr/>
        </p:nvSpPr>
        <p:spPr>
          <a:xfrm xmlns:a="http://schemas.openxmlformats.org/drawingml/2006/main">
            <a:off x="3762375" y="4762500"/>
            <a:ext cx="1905000" cy="857250"/>
          </a:xfrm>
          <a:prstGeom xmlns:a="http://schemas.openxmlformats.org/drawingml/2006/main" prst="roundRect">
            <a:avLst>
              <a:gd name="adj" fmla="val 13333"/>
            </a:avLst>
          </a:prstGeom>
          <a:solidFill xmlns:a="http://schemas.openxmlformats.org/drawingml/2006/main">
            <a:srgbClr val="17152F"/>
          </a:solidFill>
          <a:ln xmlns:a="http://schemas.openxmlformats.org/drawingml/2006/main" w="9525">
            <a:solidFill>
              <a:srgbClr val="8C7BFF"/>
            </a:solidFill>
            <a:prstDash val="solid"/>
          </a:ln>
        </p:spPr>
      </p:sp>
      <p:sp>
        <p:nvSpPr>
          <p:cNvPr id="19" name="">
            <a:extLst xmlns:a="http://schemas.openxmlformats.org/drawingml/2006/main">
              <a:ext uri="{FF2B5EF4-FFF2-40B4-BE49-F238E27FC236}">
                <a16:creationId xmlns:a16="http://schemas.microsoft.com/office/drawing/2014/main" id="{663222B5-67BF-407E-8EAF-A82496488EAC}"/>
              </a:ext>
            </a:extLst>
          </p:cNvPr>
          <p:cNvSpPr>
            <a:spLocks xmlns:a="http://schemas.openxmlformats.org/drawingml/2006/main" noGrp="1"/>
          </p:cNvSpPr>
          <p:nvPr/>
        </p:nvSpPr>
        <p:spPr>
          <a:xfrm xmlns:a="http://schemas.openxmlformats.org/drawingml/2006/main">
            <a:off x="3981450" y="49149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8C7BFF"/>
                </a:solidFill>
              </a:defRPr>
            </a:pPr>
            <a:r>
              <a:rPr sz="1050" b="1">
                <a:solidFill>
                  <a:srgbClr val="8C7BFF"/>
                </a:solidFill>
              </a:rPr>
              <a:t>OPENAI</a:t>
            </a:r>
          </a:p>
        </p:txBody>
      </p:sp>
      <p:sp>
        <p:nvSpPr>
          <p:cNvPr id="20" name="">
            <a:extLst xmlns:a="http://schemas.openxmlformats.org/drawingml/2006/main">
              <a:ext uri="{FF2B5EF4-FFF2-40B4-BE49-F238E27FC236}">
                <a16:creationId xmlns:a16="http://schemas.microsoft.com/office/drawing/2014/main" id="{5D2DA791-85DB-41F0-882D-9A5156F82008}"/>
              </a:ext>
            </a:extLst>
          </p:cNvPr>
          <p:cNvSpPr>
            <a:spLocks xmlns:a="http://schemas.openxmlformats.org/drawingml/2006/main" noGrp="1"/>
          </p:cNvSpPr>
          <p:nvPr/>
        </p:nvSpPr>
        <p:spPr>
          <a:xfrm xmlns:a="http://schemas.openxmlformats.org/drawingml/2006/main">
            <a:off x="3981450" y="5238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F6F3FF"/>
                </a:solidFill>
              </a:defRPr>
            </a:pPr>
            <a:r>
              <a:rPr sz="1125" b="0">
                <a:solidFill>
                  <a:srgbClr val="F6F3FF"/>
                </a:solidFill>
              </a:rPr>
              <a:t>5.5s hard budget</a:t>
            </a:r>
          </a:p>
        </p:txBody>
      </p:sp>
      <p:sp>
        <p:nvSpPr>
          <p:cNvPr id="21" name="">
            <a:extLst xmlns:a="http://schemas.openxmlformats.org/drawingml/2006/main">
              <a:ext uri="{FF2B5EF4-FFF2-40B4-BE49-F238E27FC236}">
                <a16:creationId xmlns:a16="http://schemas.microsoft.com/office/drawing/2014/main" id="{1E685AE7-645D-4809-9829-0ABA2AA22CB0}"/>
              </a:ext>
            </a:extLst>
          </p:cNvPr>
          <p:cNvSpPr>
            <a:spLocks xmlns:a="http://schemas.openxmlformats.org/drawingml/2006/main" noGrp="1"/>
          </p:cNvSpPr>
          <p:nvPr/>
        </p:nvSpPr>
        <p:spPr>
          <a:xfrm xmlns:a="http://schemas.openxmlformats.org/drawingml/2006/main">
            <a:off x="6477000" y="4762500"/>
            <a:ext cx="1905000" cy="857250"/>
          </a:xfrm>
          <a:prstGeom xmlns:a="http://schemas.openxmlformats.org/drawingml/2006/main" prst="roundRect">
            <a:avLst>
              <a:gd name="adj" fmla="val 13333"/>
            </a:avLst>
          </a:prstGeom>
          <a:solidFill xmlns:a="http://schemas.openxmlformats.org/drawingml/2006/main">
            <a:srgbClr val="10231F"/>
          </a:solidFill>
          <a:ln xmlns:a="http://schemas.openxmlformats.org/drawingml/2006/main" w="9525">
            <a:solidFill>
              <a:srgbClr val="55D6BE"/>
            </a:solidFill>
            <a:prstDash val="solid"/>
          </a:ln>
        </p:spPr>
      </p:sp>
      <p:sp>
        <p:nvSpPr>
          <p:cNvPr id="22" name="">
            <a:extLst xmlns:a="http://schemas.openxmlformats.org/drawingml/2006/main">
              <a:ext uri="{FF2B5EF4-FFF2-40B4-BE49-F238E27FC236}">
                <a16:creationId xmlns:a16="http://schemas.microsoft.com/office/drawing/2014/main" id="{C10C6F81-9CE7-4229-B3BD-E9B709A1D05C}"/>
              </a:ext>
            </a:extLst>
          </p:cNvPr>
          <p:cNvSpPr>
            <a:spLocks xmlns:a="http://schemas.openxmlformats.org/drawingml/2006/main" noGrp="1"/>
          </p:cNvSpPr>
          <p:nvPr/>
        </p:nvSpPr>
        <p:spPr>
          <a:xfrm xmlns:a="http://schemas.openxmlformats.org/drawingml/2006/main">
            <a:off x="6696075" y="49149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55D6BE"/>
                </a:solidFill>
              </a:defRPr>
            </a:pPr>
            <a:r>
              <a:rPr sz="1050" b="1">
                <a:solidFill>
                  <a:srgbClr val="55D6BE"/>
                </a:solidFill>
              </a:rPr>
              <a:t>JAMBASE</a:t>
            </a:r>
          </a:p>
        </p:txBody>
      </p:sp>
      <p:sp>
        <p:nvSpPr>
          <p:cNvPr id="23" name="">
            <a:extLst xmlns:a="http://schemas.openxmlformats.org/drawingml/2006/main">
              <a:ext uri="{FF2B5EF4-FFF2-40B4-BE49-F238E27FC236}">
                <a16:creationId xmlns:a16="http://schemas.microsoft.com/office/drawing/2014/main" id="{F796C594-23CC-4644-8918-3304EC072AE5}"/>
              </a:ext>
            </a:extLst>
          </p:cNvPr>
          <p:cNvSpPr>
            <a:spLocks xmlns:a="http://schemas.openxmlformats.org/drawingml/2006/main" noGrp="1"/>
          </p:cNvSpPr>
          <p:nvPr/>
        </p:nvSpPr>
        <p:spPr>
          <a:xfrm xmlns:a="http://schemas.openxmlformats.org/drawingml/2006/main">
            <a:off x="6696075" y="5238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F6F3FF"/>
                </a:solidFill>
              </a:defRPr>
            </a:pPr>
            <a:r>
              <a:rPr sz="1125" b="0">
                <a:solidFill>
                  <a:srgbClr val="F6F3FF"/>
                </a:solidFill>
              </a:rPr>
              <a:t>optional enrichment</a:t>
            </a:r>
          </a:p>
        </p:txBody>
      </p:sp>
      <p:sp>
        <p:nvSpPr>
          <p:cNvPr id="24" name="">
            <a:extLst xmlns:a="http://schemas.openxmlformats.org/drawingml/2006/main">
              <a:ext uri="{FF2B5EF4-FFF2-40B4-BE49-F238E27FC236}">
                <a16:creationId xmlns:a16="http://schemas.microsoft.com/office/drawing/2014/main" id="{36D899F3-3551-4819-984A-394CBC186ACD}"/>
              </a:ext>
            </a:extLst>
          </p:cNvPr>
          <p:cNvSpPr>
            <a:spLocks xmlns:a="http://schemas.openxmlformats.org/drawingml/2006/main" noGrp="1"/>
          </p:cNvSpPr>
          <p:nvPr/>
        </p:nvSpPr>
        <p:spPr>
          <a:xfrm xmlns:a="http://schemas.openxmlformats.org/drawingml/2006/main">
            <a:off x="1428750" y="6096000"/>
            <a:ext cx="933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AAA6BD"/>
                </a:solidFill>
              </a:defRPr>
            </a:pPr>
            <a:r>
              <a:rPr sz="1350" b="1">
                <a:solidFill>
                  <a:srgbClr val="AAA6BD"/>
                </a:solidFill>
              </a:rPr>
              <a:t>waiting → connected → draft_ready → postcard_ready → pulse_ready → completed</a:t>
            </a:r>
          </a:p>
        </p:txBody>
      </p:sp>
    </p:spTree>
    <p:extLst>
      <p:ext uri="{BB962C8B-B14F-4D97-AF65-F5344CB8AC3E}">
        <p14:creationId xmlns:p14="http://schemas.microsoft.com/office/powerpoint/2010/main" val="190971583"/>
      </p:ext>
    </p:extLst>
  </p:cSld>
</p:sld>
</file>

<file path=ppt/slides/slide8.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2EA645E-7DB5-458F-A78E-888DE6D83D36}"/>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FAD7A1F-7266-4C44-9CF4-D20F9AA3AD5A}"/>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TRUST IS A FEATURE</a:t>
            </a:r>
          </a:p>
        </p:txBody>
      </p:sp>
      <p:sp>
        <p:nvSpPr>
          <p:cNvPr id="3" name="">
            <a:extLst xmlns:a="http://schemas.openxmlformats.org/drawingml/2006/main">
              <a:ext uri="{FF2B5EF4-FFF2-40B4-BE49-F238E27FC236}">
                <a16:creationId xmlns:a16="http://schemas.microsoft.com/office/drawing/2014/main" id="{92D14E96-6105-48A5-89A1-31FCDC07C1E7}"/>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08</a:t>
            </a:r>
          </a:p>
        </p:txBody>
      </p:sp>
      <p:sp>
        <p:nvSpPr>
          <p:cNvPr id="4" name="">
            <a:extLst xmlns:a="http://schemas.openxmlformats.org/drawingml/2006/main">
              <a:ext uri="{FF2B5EF4-FFF2-40B4-BE49-F238E27FC236}">
                <a16:creationId xmlns:a16="http://schemas.microsoft.com/office/drawing/2014/main" id="{925000A4-1588-4973-8D9D-C05AD4EFA938}"/>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Designed for a festival, not merely demonstrated at one.</a:t>
            </a:r>
          </a:p>
        </p:txBody>
      </p:sp>
      <p:sp>
        <p:nvSpPr>
          <p:cNvPr id="5" name="">
            <a:extLst xmlns:a="http://schemas.openxmlformats.org/drawingml/2006/main">
              <a:ext uri="{FF2B5EF4-FFF2-40B4-BE49-F238E27FC236}">
                <a16:creationId xmlns:a16="http://schemas.microsoft.com/office/drawing/2014/main" id="{0DFE8531-63C6-4306-901E-22E50389A919}"/>
              </a:ext>
            </a:extLst>
          </p:cNvPr>
          <p:cNvSpPr>
            <a:spLocks xmlns:a="http://schemas.openxmlformats.org/drawingml/2006/main" noGrp="1"/>
          </p:cNvSpPr>
          <p:nvPr/>
        </p:nvSpPr>
        <p:spPr>
          <a:xfrm xmlns:a="http://schemas.openxmlformats.org/drawingml/2006/main">
            <a:off x="685800" y="1952625"/>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7A61"/>
                </a:solidFill>
              </a:defRPr>
            </a:pPr>
            <a:r>
              <a:rPr sz="1050" b="1">
                <a:solidFill>
                  <a:srgbClr val="FF7A61"/>
                </a:solidFill>
              </a:rPr>
              <a:t>NO RECORDING</a:t>
            </a:r>
          </a:p>
        </p:txBody>
      </p:sp>
      <p:sp>
        <p:nvSpPr>
          <p:cNvPr id="6" name="">
            <a:extLst xmlns:a="http://schemas.openxmlformats.org/drawingml/2006/main">
              <a:ext uri="{FF2B5EF4-FFF2-40B4-BE49-F238E27FC236}">
                <a16:creationId xmlns:a16="http://schemas.microsoft.com/office/drawing/2014/main" id="{C8C652A0-FFF7-4BAE-8205-2FCB291F47F9}"/>
              </a:ext>
            </a:extLst>
          </p:cNvPr>
          <p:cNvSpPr>
            <a:spLocks xmlns:a="http://schemas.openxmlformats.org/drawingml/2006/main" noGrp="1"/>
          </p:cNvSpPr>
          <p:nvPr/>
        </p:nvSpPr>
        <p:spPr>
          <a:xfrm xmlns:a="http://schemas.openxmlformats.org/drawingml/2006/main">
            <a:off x="685800" y="2295525"/>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Ambient intensity is computed on-device for four seconds. Raw audio never leaves or saves.</a:t>
            </a:r>
          </a:p>
        </p:txBody>
      </p:sp>
      <p:sp>
        <p:nvSpPr>
          <p:cNvPr id="7" name="">
            <a:extLst xmlns:a="http://schemas.openxmlformats.org/drawingml/2006/main">
              <a:ext uri="{FF2B5EF4-FFF2-40B4-BE49-F238E27FC236}">
                <a16:creationId xmlns:a16="http://schemas.microsoft.com/office/drawing/2014/main" id="{8548B9D2-B901-4354-834C-459EC4E34962}"/>
              </a:ext>
            </a:extLst>
          </p:cNvPr>
          <p:cNvSpPr>
            <a:spLocks xmlns:a="http://schemas.openxmlformats.org/drawingml/2006/main" noGrp="1"/>
          </p:cNvSpPr>
          <p:nvPr/>
        </p:nvSpPr>
        <p:spPr>
          <a:xfrm xmlns:a="http://schemas.openxmlformats.org/drawingml/2006/main">
            <a:off x="6162675" y="1952625"/>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F7A61"/>
                </a:solidFill>
              </a:defRPr>
            </a:pPr>
            <a:r>
              <a:rPr sz="1050" b="1">
                <a:solidFill>
                  <a:srgbClr val="FF7A61"/>
                </a:solidFill>
              </a:rPr>
              <a:t>NO IDENTITY</a:t>
            </a:r>
          </a:p>
        </p:txBody>
      </p:sp>
      <p:sp>
        <p:nvSpPr>
          <p:cNvPr id="8" name="">
            <a:extLst xmlns:a="http://schemas.openxmlformats.org/drawingml/2006/main">
              <a:ext uri="{FF2B5EF4-FFF2-40B4-BE49-F238E27FC236}">
                <a16:creationId xmlns:a16="http://schemas.microsoft.com/office/drawing/2014/main" id="{2FB92E97-10B0-459C-9AB7-8A7506CC99F8}"/>
              </a:ext>
            </a:extLst>
          </p:cNvPr>
          <p:cNvSpPr>
            <a:spLocks xmlns:a="http://schemas.openxmlformats.org/drawingml/2006/main" noGrp="1"/>
          </p:cNvSpPr>
          <p:nvPr/>
        </p:nvSpPr>
        <p:spPr>
          <a:xfrm xmlns:a="http://schemas.openxmlformats.org/drawingml/2006/main">
            <a:off x="6162675" y="2295525"/>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No accounts, email, GPS, contacts, profiles, or public raw photos.</a:t>
            </a:r>
          </a:p>
        </p:txBody>
      </p:sp>
      <p:sp>
        <p:nvSpPr>
          <p:cNvPr id="9" name="">
            <a:extLst xmlns:a="http://schemas.openxmlformats.org/drawingml/2006/main">
              <a:ext uri="{FF2B5EF4-FFF2-40B4-BE49-F238E27FC236}">
                <a16:creationId xmlns:a16="http://schemas.microsoft.com/office/drawing/2014/main" id="{DDCD6CBE-578A-4AA7-A105-5B18956EA7AD}"/>
              </a:ext>
            </a:extLst>
          </p:cNvPr>
          <p:cNvSpPr>
            <a:spLocks xmlns:a="http://schemas.openxmlformats.org/drawingml/2006/main" noGrp="1"/>
          </p:cNvSpPr>
          <p:nvPr/>
        </p:nvSpPr>
        <p:spPr>
          <a:xfrm xmlns:a="http://schemas.openxmlformats.org/drawingml/2006/main">
            <a:off x="685800" y="32385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8C7BFF"/>
                </a:solidFill>
              </a:defRPr>
            </a:pPr>
            <a:r>
              <a:rPr sz="1050" b="1">
                <a:solidFill>
                  <a:srgbClr val="8C7BFF"/>
                </a:solidFill>
              </a:rPr>
              <a:t>RIGHTS-SAFE</a:t>
            </a:r>
          </a:p>
        </p:txBody>
      </p:sp>
      <p:sp>
        <p:nvSpPr>
          <p:cNvPr id="10" name="">
            <a:extLst xmlns:a="http://schemas.openxmlformats.org/drawingml/2006/main">
              <a:ext uri="{FF2B5EF4-FFF2-40B4-BE49-F238E27FC236}">
                <a16:creationId xmlns:a16="http://schemas.microsoft.com/office/drawing/2014/main" id="{7848302C-E309-4E55-9C7A-30FA736F3FE6}"/>
              </a:ext>
            </a:extLst>
          </p:cNvPr>
          <p:cNvSpPr>
            <a:spLocks xmlns:a="http://schemas.openxmlformats.org/drawingml/2006/main" noGrp="1"/>
          </p:cNvSpPr>
          <p:nvPr/>
        </p:nvSpPr>
        <p:spPr>
          <a:xfrm xmlns:a="http://schemas.openxmlformats.org/drawingml/2006/main">
            <a:off x="685800" y="3581400"/>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Prompt users toward lights, sky, hands, and ground—not faces, screens, or lyrics.</a:t>
            </a:r>
          </a:p>
        </p:txBody>
      </p:sp>
      <p:sp>
        <p:nvSpPr>
          <p:cNvPr id="11" name="">
            <a:extLst xmlns:a="http://schemas.openxmlformats.org/drawingml/2006/main">
              <a:ext uri="{FF2B5EF4-FFF2-40B4-BE49-F238E27FC236}">
                <a16:creationId xmlns:a16="http://schemas.microsoft.com/office/drawing/2014/main" id="{E1E597CE-5225-4235-B2D7-925A48F5F683}"/>
              </a:ext>
            </a:extLst>
          </p:cNvPr>
          <p:cNvSpPr>
            <a:spLocks xmlns:a="http://schemas.openxmlformats.org/drawingml/2006/main" noGrp="1"/>
          </p:cNvSpPr>
          <p:nvPr/>
        </p:nvSpPr>
        <p:spPr>
          <a:xfrm xmlns:a="http://schemas.openxmlformats.org/drawingml/2006/main">
            <a:off x="6162675" y="32385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8C7BFF"/>
                </a:solidFill>
              </a:defRPr>
            </a:pPr>
            <a:r>
              <a:rPr sz="1050" b="1">
                <a:solidFill>
                  <a:srgbClr val="8C7BFF"/>
                </a:solidFill>
              </a:rPr>
              <a:t>EPHEMERAL</a:t>
            </a:r>
          </a:p>
        </p:txBody>
      </p:sp>
      <p:sp>
        <p:nvSpPr>
          <p:cNvPr id="12" name="">
            <a:extLst xmlns:a="http://schemas.openxmlformats.org/drawingml/2006/main">
              <a:ext uri="{FF2B5EF4-FFF2-40B4-BE49-F238E27FC236}">
                <a16:creationId xmlns:a16="http://schemas.microsoft.com/office/drawing/2014/main" id="{0F8A4DE3-0F90-4883-BAE2-FC54B75CE33A}"/>
              </a:ext>
            </a:extLst>
          </p:cNvPr>
          <p:cNvSpPr>
            <a:spLocks xmlns:a="http://schemas.openxmlformats.org/drawingml/2006/main" noGrp="1"/>
          </p:cNvSpPr>
          <p:nvPr/>
        </p:nvSpPr>
        <p:spPr>
          <a:xfrm xmlns:a="http://schemas.openxmlformats.org/drawingml/2006/main">
            <a:off x="6162675" y="3581400"/>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Either person can delete immediately. The entire bridge expires within 24 hours.</a:t>
            </a:r>
          </a:p>
        </p:txBody>
      </p:sp>
      <p:sp>
        <p:nvSpPr>
          <p:cNvPr id="13" name="">
            <a:extLst xmlns:a="http://schemas.openxmlformats.org/drawingml/2006/main">
              <a:ext uri="{FF2B5EF4-FFF2-40B4-BE49-F238E27FC236}">
                <a16:creationId xmlns:a16="http://schemas.microsoft.com/office/drawing/2014/main" id="{7B729E6C-C589-4039-AA87-853AC2132980}"/>
              </a:ext>
            </a:extLst>
          </p:cNvPr>
          <p:cNvSpPr>
            <a:spLocks xmlns:a="http://schemas.openxmlformats.org/drawingml/2006/main" noGrp="1"/>
          </p:cNvSpPr>
          <p:nvPr/>
        </p:nvSpPr>
        <p:spPr>
          <a:xfrm xmlns:a="http://schemas.openxmlformats.org/drawingml/2006/main">
            <a:off x="685800" y="4524375"/>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55D6BE"/>
                </a:solidFill>
              </a:defRPr>
            </a:pPr>
            <a:r>
              <a:rPr sz="1050" b="1">
                <a:solidFill>
                  <a:srgbClr val="55D6BE"/>
                </a:solidFill>
              </a:rPr>
              <a:t>ACCESSIBLE</a:t>
            </a:r>
          </a:p>
        </p:txBody>
      </p:sp>
      <p:sp>
        <p:nvSpPr>
          <p:cNvPr id="14" name="">
            <a:extLst xmlns:a="http://schemas.openxmlformats.org/drawingml/2006/main">
              <a:ext uri="{FF2B5EF4-FFF2-40B4-BE49-F238E27FC236}">
                <a16:creationId xmlns:a16="http://schemas.microsoft.com/office/drawing/2014/main" id="{2D23712A-0E87-4351-8F7E-1E9483BC8AF8}"/>
              </a:ext>
            </a:extLst>
          </p:cNvPr>
          <p:cNvSpPr>
            <a:spLocks xmlns:a="http://schemas.openxmlformats.org/drawingml/2006/main" noGrp="1"/>
          </p:cNvSpPr>
          <p:nvPr/>
        </p:nvSpPr>
        <p:spPr>
          <a:xfrm xmlns:a="http://schemas.openxmlformats.org/drawingml/2006/main">
            <a:off x="685800" y="4867275"/>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Alt text, keyboard pulse, reduced-motion choreography, non-color status cues.</a:t>
            </a:r>
          </a:p>
        </p:txBody>
      </p:sp>
      <p:sp>
        <p:nvSpPr>
          <p:cNvPr id="15" name="">
            <a:extLst xmlns:a="http://schemas.openxmlformats.org/drawingml/2006/main">
              <a:ext uri="{FF2B5EF4-FFF2-40B4-BE49-F238E27FC236}">
                <a16:creationId xmlns:a16="http://schemas.microsoft.com/office/drawing/2014/main" id="{59AAA0F5-FA5C-4B69-9099-8928CD729DCB}"/>
              </a:ext>
            </a:extLst>
          </p:cNvPr>
          <p:cNvSpPr>
            <a:spLocks xmlns:a="http://schemas.openxmlformats.org/drawingml/2006/main" noGrp="1"/>
          </p:cNvSpPr>
          <p:nvPr/>
        </p:nvSpPr>
        <p:spPr>
          <a:xfrm xmlns:a="http://schemas.openxmlformats.org/drawingml/2006/main">
            <a:off x="6162675" y="4524375"/>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55D6BE"/>
                </a:solidFill>
              </a:defRPr>
            </a:pPr>
            <a:r>
              <a:rPr sz="1050" b="1">
                <a:solidFill>
                  <a:srgbClr val="55D6BE"/>
                </a:solidFill>
              </a:rPr>
              <a:t>FAILURE-PROOF</a:t>
            </a:r>
          </a:p>
        </p:txBody>
      </p:sp>
      <p:sp>
        <p:nvSpPr>
          <p:cNvPr id="16" name="">
            <a:extLst xmlns:a="http://schemas.openxmlformats.org/drawingml/2006/main">
              <a:ext uri="{FF2B5EF4-FFF2-40B4-BE49-F238E27FC236}">
                <a16:creationId xmlns:a16="http://schemas.microsoft.com/office/drawing/2014/main" id="{EA2237C5-345E-4B07-99B7-58FFFB5DE00F}"/>
              </a:ext>
            </a:extLst>
          </p:cNvPr>
          <p:cNvSpPr>
            <a:spLocks xmlns:a="http://schemas.openxmlformats.org/drawingml/2006/main" noGrp="1"/>
          </p:cNvSpPr>
          <p:nvPr/>
        </p:nvSpPr>
        <p:spPr>
          <a:xfrm xmlns:a="http://schemas.openxmlformats.org/drawingml/2006/main">
            <a:off x="6162675" y="4867275"/>
            <a:ext cx="4762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Camera, mic, OpenAI, JamBase, haptic, and dropped-poll fallbacks.</a:t>
            </a:r>
          </a:p>
        </p:txBody>
      </p:sp>
    </p:spTree>
    <p:extLst>
      <p:ext uri="{BB962C8B-B14F-4D97-AF65-F5344CB8AC3E}">
        <p14:creationId xmlns:p14="http://schemas.microsoft.com/office/powerpoint/2010/main" val="339905247"/>
      </p:ext>
    </p:extLst>
  </p:cSld>
</p:sld>
</file>

<file path=ppt/slides/slide9.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E548131-8935-4664-A469-9904F5380322}"/>
              </a:ext>
            </a:extLst>
          </p:cNvPr>
          <p:cNvSpPr>
            <a:spLocks xmlns:a="http://schemas.openxmlformats.org/drawingml/2006/main" noGrp="1"/>
          </p:cNvSpPr>
          <p:nvPr/>
        </p:nvSpPr>
        <p:spPr>
          <a:xfrm xmlns:a="http://schemas.openxmlformats.org/drawingml/2006/main">
            <a:off x="10287000" y="0"/>
            <a:ext cx="1905000" cy="1905000"/>
          </a:xfrm>
          <a:prstGeom xmlns:a="http://schemas.openxmlformats.org/drawingml/2006/main" prst="ellipse">
            <a:avLst/>
          </a:prstGeom>
          <a:solidFill xmlns:a="http://schemas.openxmlformats.org/drawingml/2006/main">
            <a:srgbClr val="17152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9E3263A-D115-479E-801E-B144E7E82308}"/>
              </a:ext>
            </a:extLst>
          </p:cNvPr>
          <p:cNvSpPr>
            <a:spLocks xmlns:a="http://schemas.openxmlformats.org/drawingml/2006/main" noGrp="1"/>
          </p:cNvSpPr>
          <p:nvPr/>
        </p:nvSpPr>
        <p:spPr>
          <a:xfrm xmlns:a="http://schemas.openxmlformats.org/drawingml/2006/main">
            <a:off x="685800" y="4762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FF7A61"/>
                </a:solidFill>
              </a:defRPr>
            </a:pPr>
            <a:r>
              <a:rPr sz="975" b="1">
                <a:solidFill>
                  <a:srgbClr val="FF7A61"/>
                </a:solidFill>
              </a:rPr>
              <a:t>WHY THIS CAN WIN</a:t>
            </a:r>
          </a:p>
        </p:txBody>
      </p:sp>
      <p:sp>
        <p:nvSpPr>
          <p:cNvPr id="3" name="">
            <a:extLst xmlns:a="http://schemas.openxmlformats.org/drawingml/2006/main">
              <a:ext uri="{FF2B5EF4-FFF2-40B4-BE49-F238E27FC236}">
                <a16:creationId xmlns:a16="http://schemas.microsoft.com/office/drawing/2014/main" id="{77046B86-4CA1-410A-BF0E-15BE7371B835}"/>
              </a:ext>
            </a:extLst>
          </p:cNvPr>
          <p:cNvSpPr>
            <a:spLocks xmlns:a="http://schemas.openxmlformats.org/drawingml/2006/main" noGrp="1"/>
          </p:cNvSpPr>
          <p:nvPr/>
        </p:nvSpPr>
        <p:spPr>
          <a:xfrm xmlns:a="http://schemas.openxmlformats.org/drawingml/2006/main">
            <a:off x="10953750" y="495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AA6BD"/>
                </a:solidFill>
              </a:defRPr>
            </a:pPr>
            <a:r>
              <a:rPr sz="975" b="1">
                <a:solidFill>
                  <a:srgbClr val="AAA6BD"/>
                </a:solidFill>
              </a:rPr>
              <a:t>09</a:t>
            </a:r>
          </a:p>
        </p:txBody>
      </p:sp>
      <p:sp>
        <p:nvSpPr>
          <p:cNvPr id="4" name="">
            <a:extLst xmlns:a="http://schemas.openxmlformats.org/drawingml/2006/main">
              <a:ext uri="{FF2B5EF4-FFF2-40B4-BE49-F238E27FC236}">
                <a16:creationId xmlns:a16="http://schemas.microsoft.com/office/drawing/2014/main" id="{89840D01-1476-4BB0-9F75-6889C7CCF10D}"/>
              </a:ext>
            </a:extLst>
          </p:cNvPr>
          <p:cNvSpPr>
            <a:spLocks xmlns:a="http://schemas.openxmlformats.org/drawingml/2006/main" noGrp="1"/>
          </p:cNvSpPr>
          <p:nvPr/>
        </p:nvSpPr>
        <p:spPr>
          <a:xfrm xmlns:a="http://schemas.openxmlformats.org/drawingml/2006/main">
            <a:off x="685800" y="876300"/>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a:solidFill>
                  <a:srgbClr val="F6F3FF"/>
                </a:solidFill>
              </a:defRPr>
            </a:pPr>
            <a:r>
              <a:rPr sz="3375" b="1">
                <a:solidFill>
                  <a:srgbClr val="F6F3FF"/>
                </a:solidFill>
              </a:rPr>
              <a:t>It creates a moment judges can feel—not another feature they must imagine.</a:t>
            </a:r>
          </a:p>
        </p:txBody>
      </p:sp>
      <p:sp>
        <p:nvSpPr>
          <p:cNvPr id="5" name="">
            <a:extLst xmlns:a="http://schemas.openxmlformats.org/drawingml/2006/main">
              <a:ext uri="{FF2B5EF4-FFF2-40B4-BE49-F238E27FC236}">
                <a16:creationId xmlns:a16="http://schemas.microsoft.com/office/drawing/2014/main" id="{1DB46293-8646-42F2-9845-4D7128B57993}"/>
              </a:ext>
            </a:extLst>
          </p:cNvPr>
          <p:cNvSpPr>
            <a:spLocks xmlns:a="http://schemas.openxmlformats.org/drawingml/2006/main" noGrp="1"/>
          </p:cNvSpPr>
          <p:nvPr/>
        </p:nvSpPr>
        <p:spPr>
          <a:xfrm xmlns:a="http://schemas.openxmlformats.org/drawingml/2006/main">
            <a:off x="685800" y="20955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6F3FF"/>
                </a:solidFill>
              </a:defRPr>
            </a:pPr>
            <a:r>
              <a:rPr sz="3900" b="1">
                <a:solidFill>
                  <a:srgbClr val="F6F3FF"/>
                </a:solidFill>
              </a:rPr>
              <a:t>3 sec</a:t>
            </a:r>
          </a:p>
        </p:txBody>
      </p:sp>
      <p:sp>
        <p:nvSpPr>
          <p:cNvPr id="6" name="">
            <a:extLst xmlns:a="http://schemas.openxmlformats.org/drawingml/2006/main">
              <a:ext uri="{FF2B5EF4-FFF2-40B4-BE49-F238E27FC236}">
                <a16:creationId xmlns:a16="http://schemas.microsoft.com/office/drawing/2014/main" id="{6DFF0470-F777-4968-8C4B-928AE08E471F}"/>
              </a:ext>
            </a:extLst>
          </p:cNvPr>
          <p:cNvSpPr>
            <a:spLocks xmlns:a="http://schemas.openxmlformats.org/drawingml/2006/main" noGrp="1"/>
          </p:cNvSpPr>
          <p:nvPr/>
        </p:nvSpPr>
        <p:spPr>
          <a:xfrm xmlns:a="http://schemas.openxmlformats.org/drawingml/2006/main">
            <a:off x="685800" y="2857500"/>
            <a:ext cx="304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Understand the human tension</a:t>
            </a:r>
          </a:p>
        </p:txBody>
      </p:sp>
      <p:sp>
        <p:nvSpPr>
          <p:cNvPr id="7" name="">
            <a:extLst xmlns:a="http://schemas.openxmlformats.org/drawingml/2006/main">
              <a:ext uri="{FF2B5EF4-FFF2-40B4-BE49-F238E27FC236}">
                <a16:creationId xmlns:a16="http://schemas.microsoft.com/office/drawing/2014/main" id="{FF2341F0-E925-439E-BCB4-279F42959DFC}"/>
              </a:ext>
            </a:extLst>
          </p:cNvPr>
          <p:cNvSpPr>
            <a:spLocks xmlns:a="http://schemas.openxmlformats.org/drawingml/2006/main" noGrp="1"/>
          </p:cNvSpPr>
          <p:nvPr/>
        </p:nvSpPr>
        <p:spPr>
          <a:xfrm xmlns:a="http://schemas.openxmlformats.org/drawingml/2006/main">
            <a:off x="685800" y="3609975"/>
            <a:ext cx="3048000" cy="19050"/>
          </a:xfrm>
          <a:prstGeom xmlns:a="http://schemas.openxmlformats.org/drawingml/2006/main" prst="rect">
            <a:avLst/>
          </a:prstGeom>
          <a:solidFill xmlns:a="http://schemas.openxmlformats.org/drawingml/2006/main">
            <a:srgbClr val="32324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AA063F6-A011-4383-BC40-6004C647A108}"/>
              </a:ext>
            </a:extLst>
          </p:cNvPr>
          <p:cNvSpPr>
            <a:spLocks xmlns:a="http://schemas.openxmlformats.org/drawingml/2006/main" noGrp="1"/>
          </p:cNvSpPr>
          <p:nvPr/>
        </p:nvSpPr>
        <p:spPr>
          <a:xfrm xmlns:a="http://schemas.openxmlformats.org/drawingml/2006/main">
            <a:off x="4267200" y="20955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F7A61"/>
                </a:solidFill>
              </a:defRPr>
            </a:pPr>
            <a:r>
              <a:rPr sz="3900" b="1">
                <a:solidFill>
                  <a:srgbClr val="FF7A61"/>
                </a:solidFill>
              </a:rPr>
              <a:t>30 sec</a:t>
            </a:r>
          </a:p>
        </p:txBody>
      </p:sp>
      <p:sp>
        <p:nvSpPr>
          <p:cNvPr id="9" name="">
            <a:extLst xmlns:a="http://schemas.openxmlformats.org/drawingml/2006/main">
              <a:ext uri="{FF2B5EF4-FFF2-40B4-BE49-F238E27FC236}">
                <a16:creationId xmlns:a16="http://schemas.microsoft.com/office/drawing/2014/main" id="{9317996C-4345-47C9-825E-685334C72D14}"/>
              </a:ext>
            </a:extLst>
          </p:cNvPr>
          <p:cNvSpPr>
            <a:spLocks xmlns:a="http://schemas.openxmlformats.org/drawingml/2006/main" noGrp="1"/>
          </p:cNvSpPr>
          <p:nvPr/>
        </p:nvSpPr>
        <p:spPr>
          <a:xfrm xmlns:a="http://schemas.openxmlformats.org/drawingml/2006/main">
            <a:off x="4267200" y="2857500"/>
            <a:ext cx="304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Complete the full ritual</a:t>
            </a:r>
          </a:p>
        </p:txBody>
      </p:sp>
      <p:sp>
        <p:nvSpPr>
          <p:cNvPr id="10" name="">
            <a:extLst xmlns:a="http://schemas.openxmlformats.org/drawingml/2006/main">
              <a:ext uri="{FF2B5EF4-FFF2-40B4-BE49-F238E27FC236}">
                <a16:creationId xmlns:a16="http://schemas.microsoft.com/office/drawing/2014/main" id="{4C96D783-0544-4061-8168-21142BE463B4}"/>
              </a:ext>
            </a:extLst>
          </p:cNvPr>
          <p:cNvSpPr>
            <a:spLocks xmlns:a="http://schemas.openxmlformats.org/drawingml/2006/main" noGrp="1"/>
          </p:cNvSpPr>
          <p:nvPr/>
        </p:nvSpPr>
        <p:spPr>
          <a:xfrm xmlns:a="http://schemas.openxmlformats.org/drawingml/2006/main">
            <a:off x="4267200" y="3609975"/>
            <a:ext cx="3048000" cy="19050"/>
          </a:xfrm>
          <a:prstGeom xmlns:a="http://schemas.openxmlformats.org/drawingml/2006/main" prst="rect">
            <a:avLst/>
          </a:prstGeom>
          <a:solidFill xmlns:a="http://schemas.openxmlformats.org/drawingml/2006/main">
            <a:srgbClr val="FF7A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6E9E903-2506-4F32-A6A1-2BE75CFFB609}"/>
              </a:ext>
            </a:extLst>
          </p:cNvPr>
          <p:cNvSpPr>
            <a:spLocks xmlns:a="http://schemas.openxmlformats.org/drawingml/2006/main" noGrp="1"/>
          </p:cNvSpPr>
          <p:nvPr/>
        </p:nvSpPr>
        <p:spPr>
          <a:xfrm xmlns:a="http://schemas.openxmlformats.org/drawingml/2006/main">
            <a:off x="7848600" y="20955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6F3FF"/>
                </a:solidFill>
              </a:defRPr>
            </a:pPr>
            <a:r>
              <a:rPr sz="3900" b="1">
                <a:solidFill>
                  <a:srgbClr val="F6F3FF"/>
                </a:solidFill>
              </a:rPr>
              <a:t>8 sec</a:t>
            </a:r>
          </a:p>
        </p:txBody>
      </p:sp>
      <p:sp>
        <p:nvSpPr>
          <p:cNvPr id="12" name="">
            <a:extLst xmlns:a="http://schemas.openxmlformats.org/drawingml/2006/main">
              <a:ext uri="{FF2B5EF4-FFF2-40B4-BE49-F238E27FC236}">
                <a16:creationId xmlns:a16="http://schemas.microsoft.com/office/drawing/2014/main" id="{13A49063-388F-42E6-9209-84E4AD68181A}"/>
              </a:ext>
            </a:extLst>
          </p:cNvPr>
          <p:cNvSpPr>
            <a:spLocks xmlns:a="http://schemas.openxmlformats.org/drawingml/2006/main" noGrp="1"/>
          </p:cNvSpPr>
          <p:nvPr/>
        </p:nvSpPr>
        <p:spPr>
          <a:xfrm xmlns:a="http://schemas.openxmlformats.org/drawingml/2006/main">
            <a:off x="7848600" y="2857500"/>
            <a:ext cx="304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AAA6BD"/>
                </a:solidFill>
              </a:defRPr>
            </a:pPr>
            <a:r>
              <a:rPr sz="1350" b="0">
                <a:solidFill>
                  <a:srgbClr val="AAA6BD"/>
                </a:solidFill>
              </a:rPr>
              <a:t>Room goes silent for the payoff</a:t>
            </a:r>
          </a:p>
        </p:txBody>
      </p:sp>
      <p:sp>
        <p:nvSpPr>
          <p:cNvPr id="13" name="">
            <a:extLst xmlns:a="http://schemas.openxmlformats.org/drawingml/2006/main">
              <a:ext uri="{FF2B5EF4-FFF2-40B4-BE49-F238E27FC236}">
                <a16:creationId xmlns:a16="http://schemas.microsoft.com/office/drawing/2014/main" id="{15830E34-4AA6-4B9F-81F0-E54FD3C18BF1}"/>
              </a:ext>
            </a:extLst>
          </p:cNvPr>
          <p:cNvSpPr>
            <a:spLocks xmlns:a="http://schemas.openxmlformats.org/drawingml/2006/main" noGrp="1"/>
          </p:cNvSpPr>
          <p:nvPr/>
        </p:nvSpPr>
        <p:spPr>
          <a:xfrm xmlns:a="http://schemas.openxmlformats.org/drawingml/2006/main">
            <a:off x="7848600" y="3609975"/>
            <a:ext cx="3048000" cy="19050"/>
          </a:xfrm>
          <a:prstGeom xmlns:a="http://schemas.openxmlformats.org/drawingml/2006/main" prst="rect">
            <a:avLst/>
          </a:prstGeom>
          <a:solidFill xmlns:a="http://schemas.openxmlformats.org/drawingml/2006/main">
            <a:srgbClr val="32324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F2A1BF0-38CD-45E5-9BBD-6EA7AC31AC1B}"/>
              </a:ext>
            </a:extLst>
          </p:cNvPr>
          <p:cNvSpPr>
            <a:spLocks xmlns:a="http://schemas.openxmlformats.org/drawingml/2006/main" noGrp="1"/>
          </p:cNvSpPr>
          <p:nvPr/>
        </p:nvSpPr>
        <p:spPr>
          <a:xfrm xmlns:a="http://schemas.openxmlformats.org/drawingml/2006/main">
            <a:off x="685800" y="41433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8C7BFF"/>
                </a:solidFill>
              </a:defRPr>
            </a:pPr>
            <a:r>
              <a:rPr sz="1350" b="1">
                <a:solidFill>
                  <a:srgbClr val="8C7BFF"/>
                </a:solidFill>
              </a:rPr>
              <a:t>Distinct</a:t>
            </a:r>
          </a:p>
        </p:txBody>
      </p:sp>
      <p:sp>
        <p:nvSpPr>
          <p:cNvPr id="15" name="">
            <a:extLst xmlns:a="http://schemas.openxmlformats.org/drawingml/2006/main">
              <a:ext uri="{FF2B5EF4-FFF2-40B4-BE49-F238E27FC236}">
                <a16:creationId xmlns:a16="http://schemas.microsoft.com/office/drawing/2014/main" id="{09799172-35A4-4D11-9B23-4563814322C3}"/>
              </a:ext>
            </a:extLst>
          </p:cNvPr>
          <p:cNvSpPr>
            <a:spLocks xmlns:a="http://schemas.openxmlformats.org/drawingml/2006/main" noGrp="1"/>
          </p:cNvSpPr>
          <p:nvPr/>
        </p:nvSpPr>
        <p:spPr>
          <a:xfrm xmlns:a="http://schemas.openxmlformats.org/drawingml/2006/main">
            <a:off x="2524125" y="4143375"/>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F6F3FF"/>
                </a:solidFill>
              </a:defRPr>
            </a:pPr>
            <a:r>
              <a:rPr sz="1650" b="0">
                <a:solidFill>
                  <a:srgbClr val="F6F3FF"/>
                </a:solidFill>
              </a:rPr>
              <a:t>No feed, matching, planner, recap, or chatbot.</a:t>
            </a:r>
          </a:p>
        </p:txBody>
      </p:sp>
      <p:sp>
        <p:nvSpPr>
          <p:cNvPr id="16" name="">
            <a:extLst xmlns:a="http://schemas.openxmlformats.org/drawingml/2006/main">
              <a:ext uri="{FF2B5EF4-FFF2-40B4-BE49-F238E27FC236}">
                <a16:creationId xmlns:a16="http://schemas.microsoft.com/office/drawing/2014/main" id="{BBEC049B-A235-4F3A-8345-26BCFF5A1607}"/>
              </a:ext>
            </a:extLst>
          </p:cNvPr>
          <p:cNvSpPr>
            <a:spLocks xmlns:a="http://schemas.openxmlformats.org/drawingml/2006/main" noGrp="1"/>
          </p:cNvSpPr>
          <p:nvPr/>
        </p:nvSpPr>
        <p:spPr>
          <a:xfrm xmlns:a="http://schemas.openxmlformats.org/drawingml/2006/main">
            <a:off x="685800" y="46672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7A61"/>
                </a:solidFill>
              </a:defRPr>
            </a:pPr>
            <a:r>
              <a:rPr sz="1350" b="1">
                <a:solidFill>
                  <a:srgbClr val="FF7A61"/>
                </a:solidFill>
              </a:rPr>
              <a:t>Demonstrable</a:t>
            </a:r>
          </a:p>
        </p:txBody>
      </p:sp>
      <p:sp>
        <p:nvSpPr>
          <p:cNvPr id="17" name="">
            <a:extLst xmlns:a="http://schemas.openxmlformats.org/drawingml/2006/main">
              <a:ext uri="{FF2B5EF4-FFF2-40B4-BE49-F238E27FC236}">
                <a16:creationId xmlns:a16="http://schemas.microsoft.com/office/drawing/2014/main" id="{594D8F1D-543C-447B-87F0-8243D7CCAA0C}"/>
              </a:ext>
            </a:extLst>
          </p:cNvPr>
          <p:cNvSpPr>
            <a:spLocks xmlns:a="http://schemas.openxmlformats.org/drawingml/2006/main" noGrp="1"/>
          </p:cNvSpPr>
          <p:nvPr/>
        </p:nvSpPr>
        <p:spPr>
          <a:xfrm xmlns:a="http://schemas.openxmlformats.org/drawingml/2006/main">
            <a:off x="2524125" y="466725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F6F3FF"/>
                </a:solidFill>
              </a:defRPr>
            </a:pPr>
            <a:r>
              <a:rPr sz="1650" b="0">
                <a:solidFill>
                  <a:srgbClr val="F6F3FF"/>
                </a:solidFill>
              </a:rPr>
              <a:t>One-screen judge mode still uses two real API clients.</a:t>
            </a:r>
          </a:p>
        </p:txBody>
      </p:sp>
      <p:sp>
        <p:nvSpPr>
          <p:cNvPr id="18" name="">
            <a:extLst xmlns:a="http://schemas.openxmlformats.org/drawingml/2006/main">
              <a:ext uri="{FF2B5EF4-FFF2-40B4-BE49-F238E27FC236}">
                <a16:creationId xmlns:a16="http://schemas.microsoft.com/office/drawing/2014/main" id="{47054D08-C64E-4F8B-A977-479BF45CB229}"/>
              </a:ext>
            </a:extLst>
          </p:cNvPr>
          <p:cNvSpPr>
            <a:spLocks xmlns:a="http://schemas.openxmlformats.org/drawingml/2006/main" noGrp="1"/>
          </p:cNvSpPr>
          <p:nvPr/>
        </p:nvSpPr>
        <p:spPr>
          <a:xfrm xmlns:a="http://schemas.openxmlformats.org/drawingml/2006/main">
            <a:off x="685800" y="519112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55D6BE"/>
                </a:solidFill>
              </a:defRPr>
            </a:pPr>
            <a:r>
              <a:rPr sz="1350" b="1">
                <a:solidFill>
                  <a:srgbClr val="55D6BE"/>
                </a:solidFill>
              </a:rPr>
              <a:t>Festival-ready</a:t>
            </a:r>
          </a:p>
        </p:txBody>
      </p:sp>
      <p:sp>
        <p:nvSpPr>
          <p:cNvPr id="19" name="">
            <a:extLst xmlns:a="http://schemas.openxmlformats.org/drawingml/2006/main">
              <a:ext uri="{FF2B5EF4-FFF2-40B4-BE49-F238E27FC236}">
                <a16:creationId xmlns:a16="http://schemas.microsoft.com/office/drawing/2014/main" id="{7EEF5B7D-2287-4BCD-B6C5-3A3337930569}"/>
              </a:ext>
            </a:extLst>
          </p:cNvPr>
          <p:cNvSpPr>
            <a:spLocks xmlns:a="http://schemas.openxmlformats.org/drawingml/2006/main" noGrp="1"/>
          </p:cNvSpPr>
          <p:nvPr/>
        </p:nvSpPr>
        <p:spPr>
          <a:xfrm xmlns:a="http://schemas.openxmlformats.org/drawingml/2006/main">
            <a:off x="2524125" y="5191125"/>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F6F3FF"/>
                </a:solidFill>
              </a:defRPr>
            </a:pPr>
            <a:r>
              <a:rPr sz="1650" b="0">
                <a:solidFill>
                  <a:srgbClr val="F6F3FF"/>
                </a:solidFill>
              </a:rPr>
              <a:t>Fast, private, permission-light, resilient to weak signal.</a:t>
            </a:r>
          </a:p>
        </p:txBody>
      </p:sp>
    </p:spTree>
    <p:extLst>
      <p:ext uri="{BB962C8B-B14F-4D97-AF65-F5344CB8AC3E}">
        <p14:creationId xmlns:p14="http://schemas.microsoft.com/office/powerpoint/2010/main" val="1494787979"/>
      </p:ext>
    </p:extLst>
  </p:cSld>
</p:sld>
</file>

<file path=ppt/slides/slide10.xml><?xml version="1.0" encoding="utf-8"?>
<p:sld xmlns:p="http://schemas.openxmlformats.org/presentationml/2006/main">
  <p:cSld>
    <p:bg>
      <p:bgPr>
        <a:solidFill xmlns:a="http://schemas.openxmlformats.org/drawingml/2006/main">
          <a:srgbClr val="090A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BB40CA-18A8-4FEF-BE4E-BE1B8DEBF69C}"/>
              </a:ext>
            </a:extLst>
          </p:cNvPr>
          <p:cNvSpPr>
            <a:spLocks xmlns:a="http://schemas.openxmlformats.org/drawingml/2006/main" noGrp="1"/>
          </p:cNvSpPr>
          <p:nvPr/>
        </p:nvSpPr>
        <p:spPr>
          <a:xfrm xmlns:a="http://schemas.openxmlformats.org/drawingml/2006/main">
            <a:off x="4333875" y="781050"/>
            <a:ext cx="3524250" cy="3524250"/>
          </a:xfrm>
          <a:prstGeom xmlns:a="http://schemas.openxmlformats.org/drawingml/2006/main" prst="ellipse">
            <a:avLst/>
          </a:prstGeom>
          <a:solidFill xmlns:a="http://schemas.openxmlformats.org/drawingml/2006/main">
            <a:srgbClr val="FF7A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EBA0F5D-1D9F-4009-AD10-B6DFFB7E66A7}"/>
              </a:ext>
            </a:extLst>
          </p:cNvPr>
          <p:cNvSpPr>
            <a:spLocks xmlns:a="http://schemas.openxmlformats.org/drawingml/2006/main" noGrp="1"/>
          </p:cNvSpPr>
          <p:nvPr/>
        </p:nvSpPr>
        <p:spPr>
          <a:xfrm xmlns:a="http://schemas.openxmlformats.org/drawingml/2006/main">
            <a:off x="4857750" y="1304925"/>
            <a:ext cx="2476500" cy="2476500"/>
          </a:xfrm>
          <a:prstGeom xmlns:a="http://schemas.openxmlformats.org/drawingml/2006/main" prst="ellipse">
            <a:avLst/>
          </a:prstGeom>
          <a:solidFill xmlns:a="http://schemas.openxmlformats.org/drawingml/2006/main">
            <a:srgbClr val="090A14"/>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25B112-57C7-4C95-BBEF-1B11C5C9173D}"/>
              </a:ext>
            </a:extLst>
          </p:cNvPr>
          <p:cNvSpPr>
            <a:spLocks xmlns:a="http://schemas.openxmlformats.org/drawingml/2006/main" noGrp="1"/>
          </p:cNvSpPr>
          <p:nvPr/>
        </p:nvSpPr>
        <p:spPr>
          <a:xfrm xmlns:a="http://schemas.openxmlformats.org/drawingml/2006/main">
            <a:off x="5524500" y="1971675"/>
            <a:ext cx="1143000" cy="1143000"/>
          </a:xfrm>
          <a:prstGeom xmlns:a="http://schemas.openxmlformats.org/drawingml/2006/main" prst="ellipse">
            <a:avLst/>
          </a:prstGeom>
          <a:solidFill xmlns:a="http://schemas.openxmlformats.org/drawingml/2006/main">
            <a:srgbClr val="8C7B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8F3E49-0B33-4466-AC02-4A80C50AA29A}"/>
              </a:ext>
            </a:extLst>
          </p:cNvPr>
          <p:cNvSpPr>
            <a:spLocks xmlns:a="http://schemas.openxmlformats.org/drawingml/2006/main" noGrp="1"/>
          </p:cNvSpPr>
          <p:nvPr/>
        </p:nvSpPr>
        <p:spPr>
          <a:xfrm xmlns:a="http://schemas.openxmlformats.org/drawingml/2006/main">
            <a:off x="1524000" y="4629150"/>
            <a:ext cx="914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0">
                <a:solidFill>
                  <a:srgbClr val="AAA6BD"/>
                </a:solidFill>
              </a:defRPr>
            </a:pPr>
            <a:r>
              <a:rPr sz="2100" b="0">
                <a:solidFill>
                  <a:srgbClr val="AAA6BD"/>
                </a:solidFill>
              </a:rPr>
              <a:t>Outside Lands already brings the show everywhere.</a:t>
            </a:r>
          </a:p>
        </p:txBody>
      </p:sp>
      <p:sp>
        <p:nvSpPr>
          <p:cNvPr id="5" name="">
            <a:extLst xmlns:a="http://schemas.openxmlformats.org/drawingml/2006/main">
              <a:ext uri="{FF2B5EF4-FFF2-40B4-BE49-F238E27FC236}">
                <a16:creationId xmlns:a16="http://schemas.microsoft.com/office/drawing/2014/main" id="{9C3AA99A-0005-465E-A200-994DC626DAEB}"/>
              </a:ext>
            </a:extLst>
          </p:cNvPr>
          <p:cNvSpPr>
            <a:spLocks xmlns:a="http://schemas.openxmlformats.org/drawingml/2006/main" noGrp="1"/>
          </p:cNvSpPr>
          <p:nvPr/>
        </p:nvSpPr>
        <p:spPr>
          <a:xfrm xmlns:a="http://schemas.openxmlformats.org/drawingml/2006/main">
            <a:off x="1238250" y="5124450"/>
            <a:ext cx="9715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000" b="1">
                <a:solidFill>
                  <a:srgbClr val="F6F3FF"/>
                </a:solidFill>
              </a:defRPr>
            </a:pPr>
            <a:r>
              <a:rPr sz="3000" b="1">
                <a:solidFill>
                  <a:srgbClr val="F6F3FF"/>
                </a:solidFill>
              </a:rPr>
              <a:t>Same Sky brings one person into the feeling of being there.</a:t>
            </a:r>
          </a:p>
        </p:txBody>
      </p:sp>
      <p:sp>
        <p:nvSpPr>
          <p:cNvPr id="6" name="">
            <a:extLst xmlns:a="http://schemas.openxmlformats.org/drawingml/2006/main">
              <a:ext uri="{FF2B5EF4-FFF2-40B4-BE49-F238E27FC236}">
                <a16:creationId xmlns:a16="http://schemas.microsoft.com/office/drawing/2014/main" id="{6C9C359C-5986-40E6-9EA4-33374470B8AA}"/>
              </a:ext>
            </a:extLst>
          </p:cNvPr>
          <p:cNvSpPr>
            <a:spLocks xmlns:a="http://schemas.openxmlformats.org/drawingml/2006/main" noGrp="1"/>
          </p:cNvSpPr>
          <p:nvPr/>
        </p:nvSpPr>
        <p:spPr>
          <a:xfrm xmlns:a="http://schemas.openxmlformats.org/drawingml/2006/main">
            <a:off x="3714750" y="63055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FF7A61"/>
                </a:solidFill>
              </a:defRPr>
            </a:pPr>
            <a:r>
              <a:rPr sz="1050" b="1">
                <a:solidFill>
                  <a:srgbClr val="FF7A61"/>
                </a:solidFill>
              </a:rPr>
              <a:t>same-sky-live.vnmoorthy.chatgpt.site</a:t>
            </a:r>
          </a:p>
        </p:txBody>
      </p:sp>
    </p:spTree>
    <p:extLst>
      <p:ext uri="{BB962C8B-B14F-4D97-AF65-F5344CB8AC3E}">
        <p14:creationId xmlns:p14="http://schemas.microsoft.com/office/powerpoint/2010/main" val="13863916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2026-08-03T00:26:25.1670000Z</dcterms:created>
  <dcterms:modified xsi:type="dcterms:W3CDTF">2026-08-03T00:26:25.1670000Z</dcterms:modified>
</coreProperties>
</file>