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abeb5e35a74cb2" /><Relationship Type="http://schemas.openxmlformats.org/officeDocument/2006/relationships/extended-properties" Target="/docProps/app.xml" Id="Rc2104c93c7f645bb" /><Relationship Type="http://schemas.openxmlformats.org/officeDocument/2006/relationships/officeDocument" Target="/ppt/presentation.xml" Id="R012d33b300744a27" /></Relationships>
</file>

<file path=ppt/presentation.xml><?xml version="1.0" encoding="utf-8"?>
<p:presentation xmlns:p="http://schemas.openxmlformats.org/presentationml/2006/main">
  <p:sldMasterIdLst>
    <p:sldMasterId xmlns:r="http://schemas.openxmlformats.org/officeDocument/2006/relationships" id="2147483648" r:id="R0029685633fc4483"/>
  </p:sldMasterIdLst>
  <p:notesMasterIdLst>
    <p:notesMasterId xmlns:r="http://schemas.openxmlformats.org/officeDocument/2006/relationships" r:id="Rf9aa222d5a49406e"/>
  </p:notesMasterIdLst>
  <p:sldIdLst>
    <p:sldId xmlns:r="http://schemas.openxmlformats.org/officeDocument/2006/relationships" id="256" r:id="Rf8ffa3bf0f764a68"/>
    <p:sldId xmlns:r="http://schemas.openxmlformats.org/officeDocument/2006/relationships" id="257" r:id="R32e6cd4e10294e52"/>
    <p:sldId xmlns:r="http://schemas.openxmlformats.org/officeDocument/2006/relationships" id="258" r:id="Rc591ba87b470455d"/>
    <p:sldId xmlns:r="http://schemas.openxmlformats.org/officeDocument/2006/relationships" id="259" r:id="R0b262c470fac4d66"/>
    <p:sldId xmlns:r="http://schemas.openxmlformats.org/officeDocument/2006/relationships" id="260" r:id="R1adbf39062944941"/>
    <p:sldId xmlns:r="http://schemas.openxmlformats.org/officeDocument/2006/relationships" id="261" r:id="Rfaeb4af39c334b89"/>
    <p:sldId xmlns:r="http://schemas.openxmlformats.org/officeDocument/2006/relationships" id="262" r:id="R7b269d6ad8b7434e"/>
    <p:sldId xmlns:r="http://schemas.openxmlformats.org/officeDocument/2006/relationships" id="263" r:id="Rec55ac328dc94d62"/>
    <p:sldId xmlns:r="http://schemas.openxmlformats.org/officeDocument/2006/relationships" id="264" r:id="R75e9eb4603264a78"/>
    <p:sldId xmlns:r="http://schemas.openxmlformats.org/officeDocument/2006/relationships" id="265" r:id="R711ea7516c834db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000420048994fbe" /><Relationship Type="http://schemas.openxmlformats.org/officeDocument/2006/relationships/slideMaster" Target="/ppt/slideMasters/slideMaster1.xml" Id="R0029685633fc4483" /><Relationship Type="http://schemas.openxmlformats.org/officeDocument/2006/relationships/notesMaster" Target="/ppt/notesMasters/notesMaster1.xml" Id="Rf9aa222d5a49406e" /><Relationship Type="http://schemas.openxmlformats.org/officeDocument/2006/relationships/presProps" Target="/ppt/presProps.xml" Id="R98fdd7e3f9b14a39" /><Relationship Type="http://schemas.openxmlformats.org/officeDocument/2006/relationships/tableStyles" Target="/ppt/tableStyles.xml" Id="R6d246962a42c4ee6" /><Relationship Type="http://schemas.openxmlformats.org/officeDocument/2006/relationships/slide" Target="/ppt/slides/slide1.xml" Id="Rf8ffa3bf0f764a68" /><Relationship Type="http://schemas.openxmlformats.org/officeDocument/2006/relationships/slide" Target="/ppt/slides/slide2.xml" Id="R32e6cd4e10294e52" /><Relationship Type="http://schemas.openxmlformats.org/officeDocument/2006/relationships/slide" Target="/ppt/slides/slide3.xml" Id="Rc591ba87b470455d" /><Relationship Type="http://schemas.openxmlformats.org/officeDocument/2006/relationships/slide" Target="/ppt/slides/slide4.xml" Id="R0b262c470fac4d66" /><Relationship Type="http://schemas.openxmlformats.org/officeDocument/2006/relationships/slide" Target="/ppt/slides/slide5.xml" Id="R1adbf39062944941" /><Relationship Type="http://schemas.openxmlformats.org/officeDocument/2006/relationships/slide" Target="/ppt/slides/slide6.xml" Id="Rfaeb4af39c334b89" /><Relationship Type="http://schemas.openxmlformats.org/officeDocument/2006/relationships/slide" Target="/ppt/slides/slide7.xml" Id="R7b269d6ad8b7434e" /><Relationship Type="http://schemas.openxmlformats.org/officeDocument/2006/relationships/slide" Target="/ppt/slides/slide8.xml" Id="Rec55ac328dc94d62" /><Relationship Type="http://schemas.openxmlformats.org/officeDocument/2006/relationships/slide" Target="/ppt/slides/slide9.xml" Id="R75e9eb4603264a78" /><Relationship Type="http://schemas.openxmlformats.org/officeDocument/2006/relationships/slide" Target="/ppt/slides/slide10.xml" Id="R711ea7516c834db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b0daa664054d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b7b44fb27924776" /><Relationship Type="http://schemas.openxmlformats.org/officeDocument/2006/relationships/notesMaster" Target="/ppt/notesMasters/notesMaster1.xml" Id="R09355e09fed74189"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e84fa15418406f" /><Relationship Type="http://schemas.openxmlformats.org/officeDocument/2006/relationships/notesMaster" Target="/ppt/notesMasters/notesMaster1.xml" Id="Rb37563ba16484f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298387a6f64095" /><Relationship Type="http://schemas.openxmlformats.org/officeDocument/2006/relationships/notesMaster" Target="/ppt/notesMasters/notesMaster1.xml" Id="Rf39bf7d8119b42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3d1f1e45e54c47" /><Relationship Type="http://schemas.openxmlformats.org/officeDocument/2006/relationships/notesMaster" Target="/ppt/notesMasters/notesMaster1.xml" Id="Re63b283ac6a64a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84870249184b29" /><Relationship Type="http://schemas.openxmlformats.org/officeDocument/2006/relationships/notesMaster" Target="/ppt/notesMasters/notesMaster1.xml" Id="R0dcd19c2b3c44f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0ff6a63e9d214766" /><Relationship Type="http://schemas.openxmlformats.org/officeDocument/2006/relationships/notesMaster" Target="/ppt/notesMasters/notesMaster1.xml" Id="R6a1c548f2b984f7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366195723684f99" /><Relationship Type="http://schemas.openxmlformats.org/officeDocument/2006/relationships/notesMaster" Target="/ppt/notesMasters/notesMaster1.xml" Id="R51bdf99c29364b7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f998c24e4454250" /><Relationship Type="http://schemas.openxmlformats.org/officeDocument/2006/relationships/notesMaster" Target="/ppt/notesMasters/notesMaster1.xml" Id="R396ae4fa8a7d43c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0f75e5f7d241ba" /><Relationship Type="http://schemas.openxmlformats.org/officeDocument/2006/relationships/notesMaster" Target="/ppt/notesMasters/notesMaster1.xml" Id="R37126dc5161b4ab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f8f74b1e434d52" /><Relationship Type="http://schemas.openxmlformats.org/officeDocument/2006/relationships/notesMaster" Target="/ppt/notesMasters/notesMaster1.xml" Id="R81d9579f94b7449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Livestreams transmit video. Same Sky transmits presence. It is a private ritual between one person at Outside Lands and one person watching from anywhere.</a:t>
            </a:r>
          </a:p>
          <a:p xmlns:a="http://schemas.openxmlformats.org/drawingml/2006/main">
            <a:r>
              <a:t/>
            </a:r>
          </a:p>
          <a:p xmlns:a="http://schemas.openxmlformats.org/drawingml/2006/main">
            <a:r>
              <a:t>[Sources]</a:t>
            </a:r>
          </a:p>
          <a:p xmlns:a="http://schemas.openxmlformats.org/drawingml/2006/main">
            <a:r>
              <a:t>https://outsidellms.com/</a:t>
            </a:r>
          </a:p>
          <a:p xmlns:a="http://schemas.openxmlformats.org/drawingml/2006/main">
            <a:r>
              <a:t>https://www.sfoutsidelands.com/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Outside Lands already solves reach through the livestream. The unsolved problem is emotional distance: the viewer can see everything and still feel like nobody at the festival is thinking of them.</a:t>
            </a:r>
          </a:p>
          <a:p xmlns:a="http://schemas.openxmlformats.org/drawingml/2006/main">
            <a:r>
              <a:t/>
            </a:r>
          </a:p>
          <a:p xmlns:a="http://schemas.openxmlformats.org/drawingml/2006/main">
            <a:r>
              <a:t>[Sources]</a:t>
            </a:r>
          </a:p>
          <a:p xmlns:a="http://schemas.openxmlformats.org/drawingml/2006/main">
            <a:r>
              <a:t>https://www.primevideo.com/detail/0FFYUNMY3OBBG8WGDH9O8IY7UO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onsite fan catches a rights-safe moment. OpenAI translates only literal inputs into an accessible postcard. The sender reviews it. The viewer holds once. Both phones become the same light for eight seconds.</a:t>
            </a:r>
          </a:p>
          <a:p xmlns:a="http://schemas.openxmlformats.org/drawingml/2006/main">
            <a:r>
              <a:t/>
            </a:r>
          </a:p>
          <a:p xmlns:a="http://schemas.openxmlformats.org/drawingml/2006/main">
            <a:r>
              <a:t>[Sources]</a:t>
            </a:r>
          </a:p>
          <a:p xmlns:a="http://schemas.openxmlformats.org/drawingml/2006/main">
            <a:r>
              <a:t>- Product implementation: Same Sky repository (original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judge mode, the screen shows two real clients against the real APIs. Ask one judge to hold the remote pulse. Then stop speaking. The eight-second shared light is the emotional proof.</a:t>
            </a:r>
          </a:p>
          <a:p xmlns:a="http://schemas.openxmlformats.org/drawingml/2006/main">
            <a:r>
              <a:t/>
            </a:r>
          </a:p>
          <a:p xmlns:a="http://schemas.openxmlformats.org/drawingml/2006/main">
            <a:r>
              <a:t>[Sources]</a:t>
            </a:r>
          </a:p>
          <a:p xmlns:a="http://schemas.openxmlformats.org/drawingml/2006/main">
            <a:r>
              <a:t>- Product implementation: Same Sky repository (original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OpenAI is not decoration. It performs a narrow transformation: messy sensory facts into constrained, accessible language. The prompt forbids lyrics, identity inference, invented weather, emotion, and endorsement. Generation never equals delivery.</a:t>
            </a:r>
          </a:p>
          <a:p xmlns:a="http://schemas.openxmlformats.org/drawingml/2006/main">
            <a:r>
              <a:t/>
            </a:r>
          </a:p>
          <a:p xmlns:a="http://schemas.openxmlformats.org/drawingml/2006/main">
            <a:r>
              <a:t>[Sources]</a:t>
            </a:r>
          </a:p>
          <a:p xmlns:a="http://schemas.openxmlformats.org/drawingml/2006/main">
            <a:r>
              <a:t>https://developers.openai.com/api/docs/guides/latest-model</a:t>
            </a:r>
          </a:p>
          <a:p xmlns:a="http://schemas.openxmlformats.org/drawingml/2006/main">
            <a:r>
              <a:t>https://developers.openai.com/api/docs/guides/images-vision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OpenAI improves the translation. Sites provides durable private state and deployment. JamBase enriches the live set. Codex built and hardened the product. Each integration has an honest fallback, so festival connectivity cannot kill the emotional demo.</a:t>
            </a:r>
          </a:p>
          <a:p xmlns:a="http://schemas.openxmlformats.org/drawingml/2006/main">
            <a:r>
              <a:t/>
            </a:r>
          </a:p>
          <a:p xmlns:a="http://schemas.openxmlformats.org/drawingml/2006/main">
            <a:r>
              <a:t>[Sources]</a:t>
            </a:r>
          </a:p>
          <a:p xmlns:a="http://schemas.openxmlformats.org/drawingml/2006/main">
            <a:r>
              <a:t>https://data.jambase.com/api/docs/getting-started</a:t>
            </a:r>
          </a:p>
          <a:p xmlns:a="http://schemas.openxmlformats.org/drawingml/2006/main">
            <a:r>
              <a:t>https://data.jambase.com/api/docs/attribution</a:t>
            </a:r>
          </a:p>
          <a:p xmlns:a="http://schemas.openxmlformats.org/drawingml/2006/main">
            <a:r>
              <a:t>https://developers.openai.com/api/docs/guides/latest-model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API owns a strict one-way state machine. Long random role tokens authorize every private operation. D1 stores expiring session state. R2 serves resized media only to authenticated participants.</a:t>
            </a:r>
          </a:p>
          <a:p xmlns:a="http://schemas.openxmlformats.org/drawingml/2006/main">
            <a:r>
              <a:t/>
            </a:r>
          </a:p>
          <a:p xmlns:a="http://schemas.openxmlformats.org/drawingml/2006/main">
            <a:r>
              <a:t>[Sources]</a:t>
            </a:r>
          </a:p>
          <a:p xmlns:a="http://schemas.openxmlformats.org/drawingml/2006/main">
            <a:r>
              <a:t>- Product implementation: Same Sky repository (original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Trust is not a footnote. We never record the performance. We do not ask for identity, location, contacts, or a social graph. Both people can delete immediately. Every permission can be skipped, and every animation has reduced-motion behavior.</a:t>
            </a:r>
          </a:p>
          <a:p xmlns:a="http://schemas.openxmlformats.org/drawingml/2006/main">
            <a:r>
              <a:t/>
            </a:r>
          </a:p>
          <a:p xmlns:a="http://schemas.openxmlformats.org/drawingml/2006/main">
            <a:r>
              <a:t>[Sources]</a:t>
            </a:r>
          </a:p>
          <a:p xmlns:a="http://schemas.openxmlformats.org/drawingml/2006/main">
            <a:r>
              <a:t>https://www.sfoutsidelands.com/info/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wins because judges do not have to imagine the value. It is distinct from planners, recaps, feeds, matching, and chatbots. It is emotionally legible, technically real, safe under festival conditions, and complete in thirty seconds.</a:t>
            </a:r>
          </a:p>
          <a:p xmlns:a="http://schemas.openxmlformats.org/drawingml/2006/main">
            <a:r>
              <a:t/>
            </a:r>
          </a:p>
          <a:p xmlns:a="http://schemas.openxmlformats.org/drawingml/2006/main">
            <a:r>
              <a:t>[Sources]</a:t>
            </a:r>
          </a:p>
          <a:p xmlns:a="http://schemas.openxmlformats.org/drawingml/2006/main">
            <a:r>
              <a:t>https://outsidellms.com/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Outside Lands already brings the show everywhere. Same Sky brings one person into the feeling of being there. Open the live app, choose the one-screen judge demo, hold the pulse—and stop speaking.</a:t>
            </a:r>
          </a:p>
          <a:p xmlns:a="http://schemas.openxmlformats.org/drawingml/2006/main">
            <a:r>
              <a:t/>
            </a:r>
          </a:p>
          <a:p xmlns:a="http://schemas.openxmlformats.org/drawingml/2006/main">
            <a:r>
              <a:t>[Sources]</a:t>
            </a:r>
          </a:p>
          <a:p xmlns:a="http://schemas.openxmlformats.org/drawingml/2006/main">
            <a:r>
              <a:t>https://outsidellms.com/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72fe1c2abe740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7267b9059e489d" /><Relationship Type="http://schemas.openxmlformats.org/officeDocument/2006/relationships/slideLayout" Target="/ppt/slideLayouts/slideLayout1.xml" Id="R4c3a1d1e9eaa48a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3a1d1e9eaa48a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88c330b168e4beb" /><Relationship Type="http://schemas.openxmlformats.org/officeDocument/2006/relationships/image" Target="/ppt/media/image.png" Id="Ra8ade043d8a041c0" /><Relationship Type="http://schemas.openxmlformats.org/officeDocument/2006/relationships/notesSlide" Target="/ppt/notesSlides/notesSlide1.xml" Id="R15bb5c7c732d456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1bf6137536843e9" /><Relationship Type="http://schemas.openxmlformats.org/officeDocument/2006/relationships/notesSlide" Target="/ppt/notesSlides/notesSlide2.xml" Id="Rab2aeba819db43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47c8d767cc543ff" /><Relationship Type="http://schemas.openxmlformats.org/officeDocument/2006/relationships/notesSlide" Target="/ppt/notesSlides/notesSlide3.xml" Id="R73c3348b9dc245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ea1d1fdab684417" /><Relationship Type="http://schemas.openxmlformats.org/officeDocument/2006/relationships/notesSlide" Target="/ppt/notesSlides/notesSlide4.xml" Id="R64ff514297ee4d1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0c3da52477c4d40" /><Relationship Type="http://schemas.openxmlformats.org/officeDocument/2006/relationships/notesSlide" Target="/ppt/notesSlides/notesSlide5.xml" Id="R2d804bdc978240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96aaff9e87745f2" /><Relationship Type="http://schemas.openxmlformats.org/officeDocument/2006/relationships/notesSlide" Target="/ppt/notesSlides/notesSlide6.xml" Id="Rc15a84e8c015466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8ac3f833e7540a6" /><Relationship Type="http://schemas.openxmlformats.org/officeDocument/2006/relationships/notesSlide" Target="/ppt/notesSlides/notesSlide7.xml" Id="R02fcf40416ed4e8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cda8ef2d9d4499a" /><Relationship Type="http://schemas.openxmlformats.org/officeDocument/2006/relationships/notesSlide" Target="/ppt/notesSlides/notesSlide8.xml" Id="R369c7992c8ef42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35afde8f7714942" /><Relationship Type="http://schemas.openxmlformats.org/officeDocument/2006/relationships/notesSlide" Target="/ppt/notesSlides/notesSlide9.xml" Id="Rf165b14d3a94414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131a4d003de4edc" /><Relationship Type="http://schemas.openxmlformats.org/officeDocument/2006/relationships/image" Target="/ppt/media/image2.png" Id="Reb41abefa5fa41b1" /><Relationship Type="http://schemas.openxmlformats.org/officeDocument/2006/relationships/notesSlide" Target="/ppt/notesSlides/notesSlide10.xml" Id="R8de145fb97844a31"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8ade043d8a041c0"/>
          <a:srcRect xmlns:a="http://schemas.openxmlformats.org/drawingml/2006/main" l="0" t="5034" r="0" b="5034"/>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925DED5-1ED2-4C50-BA07-3509719892E6}"/>
              </a:ext>
            </a:extLst>
          </p:cNvPr>
          <p:cNvSpPr>
            <a:spLocks xmlns:a="http://schemas.openxmlformats.org/drawingml/2006/main" noGrp="1"/>
          </p:cNvSpPr>
          <p:nvPr/>
        </p:nvSpPr>
        <p:spPr>
          <a:xfrm xmlns:a="http://schemas.openxmlformats.org/drawingml/2006/main">
            <a:off x="0" y="0"/>
            <a:ext cx="76200" cy="6858000"/>
          </a:xfrm>
          <a:prstGeom xmlns:a="http://schemas.openxmlformats.org/drawingml/2006/main" prst="rect">
            <a:avLst/>
          </a:prstGeom>
          <a:solidFill xmlns:a="http://schemas.openxmlformats.org/drawingml/2006/main">
            <a:srgbClr val="C8FF4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033AFB9-C301-45E2-9C50-FB1D367111EF}"/>
              </a:ext>
            </a:extLst>
          </p:cNvPr>
          <p:cNvSpPr>
            <a:spLocks xmlns:a="http://schemas.openxmlformats.org/drawingml/2006/main" noGrp="1"/>
          </p:cNvSpPr>
          <p:nvPr/>
        </p:nvSpPr>
        <p:spPr>
          <a:xfrm xmlns:a="http://schemas.openxmlformats.org/drawingml/2006/main">
            <a:off x="685800" y="495300"/>
            <a:ext cx="619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C8FF4A"/>
                </a:solidFill>
              </a:defRPr>
            </a:pPr>
            <a:r>
              <a:rPr sz="975" b="1">
                <a:solidFill>
                  <a:srgbClr val="C8FF4A"/>
                </a:solidFill>
              </a:rPr>
              <a:t>OUTSIDELLMS III · MAKE THE FESTIVAL BETTER</a:t>
            </a:r>
          </a:p>
        </p:txBody>
      </p:sp>
      <p:sp>
        <p:nvSpPr>
          <p:cNvPr id="4" name="">
            <a:extLst xmlns:a="http://schemas.openxmlformats.org/drawingml/2006/main">
              <a:ext uri="{FF2B5EF4-FFF2-40B4-BE49-F238E27FC236}">
                <a16:creationId xmlns:a16="http://schemas.microsoft.com/office/drawing/2014/main" id="{3A5FD3B5-3468-46CD-8085-8D5F353ABEE1}"/>
              </a:ext>
            </a:extLst>
          </p:cNvPr>
          <p:cNvSpPr>
            <a:spLocks xmlns:a="http://schemas.openxmlformats.org/drawingml/2006/main" noGrp="1"/>
          </p:cNvSpPr>
          <p:nvPr/>
        </p:nvSpPr>
        <p:spPr>
          <a:xfrm xmlns:a="http://schemas.openxmlformats.org/drawingml/2006/main">
            <a:off x="685800" y="1476375"/>
            <a:ext cx="61912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850" b="1">
                <a:solidFill>
                  <a:srgbClr val="F0EEE8"/>
                </a:solidFill>
              </a:defRPr>
            </a:pPr>
            <a:r>
              <a:rPr sz="8850" b="1">
                <a:solidFill>
                  <a:srgbClr val="F0EEE8"/>
                </a:solidFill>
              </a:rPr>
              <a:t>SAME</a:t>
            </a:r>
          </a:p>
          <a:p xmlns:a="http://schemas.openxmlformats.org/drawingml/2006/main">
            <a:pPr algn="l">
              <a:defRPr sz="8850" b="1">
                <a:solidFill>
                  <a:srgbClr val="F0EEE8"/>
                </a:solidFill>
              </a:defRPr>
            </a:pPr>
            <a:r>
              <a:rPr sz="8850" b="1">
                <a:solidFill>
                  <a:srgbClr val="F0EEE8"/>
                </a:solidFill>
              </a:rPr>
              <a:t>SKY</a:t>
            </a:r>
          </a:p>
        </p:txBody>
      </p:sp>
      <p:sp>
        <p:nvSpPr>
          <p:cNvPr id="5" name="">
            <a:extLst xmlns:a="http://schemas.openxmlformats.org/drawingml/2006/main">
              <a:ext uri="{FF2B5EF4-FFF2-40B4-BE49-F238E27FC236}">
                <a16:creationId xmlns:a16="http://schemas.microsoft.com/office/drawing/2014/main" id="{0AEA83CA-CC7C-4A21-B4D3-0B776629BF5B}"/>
              </a:ext>
            </a:extLst>
          </p:cNvPr>
          <p:cNvSpPr>
            <a:spLocks xmlns:a="http://schemas.openxmlformats.org/drawingml/2006/main" noGrp="1"/>
          </p:cNvSpPr>
          <p:nvPr/>
        </p:nvSpPr>
        <p:spPr>
          <a:xfrm xmlns:a="http://schemas.openxmlformats.org/drawingml/2006/main">
            <a:off x="723900" y="4410075"/>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a:solidFill>
                  <a:srgbClr val="FF5E45"/>
                </a:solidFill>
              </a:defRPr>
            </a:pPr>
            <a:r>
              <a:rPr sz="2250" b="1">
                <a:solidFill>
                  <a:srgbClr val="FF5E45"/>
                </a:solidFill>
              </a:rPr>
              <a:t>One set. Two skies.</a:t>
            </a:r>
          </a:p>
        </p:txBody>
      </p:sp>
      <p:sp>
        <p:nvSpPr>
          <p:cNvPr id="6" name="">
            <a:extLst xmlns:a="http://schemas.openxmlformats.org/drawingml/2006/main">
              <a:ext uri="{FF2B5EF4-FFF2-40B4-BE49-F238E27FC236}">
                <a16:creationId xmlns:a16="http://schemas.microsoft.com/office/drawing/2014/main" id="{9298EBC1-8D1C-4D83-A1A8-E0244E42A701}"/>
              </a:ext>
            </a:extLst>
          </p:cNvPr>
          <p:cNvSpPr>
            <a:spLocks xmlns:a="http://schemas.openxmlformats.org/drawingml/2006/main" noGrp="1"/>
          </p:cNvSpPr>
          <p:nvPr/>
        </p:nvSpPr>
        <p:spPr>
          <a:xfrm xmlns:a="http://schemas.openxmlformats.org/drawingml/2006/main">
            <a:off x="723900" y="5105400"/>
            <a:ext cx="1428750" cy="28575"/>
          </a:xfrm>
          <a:prstGeom xmlns:a="http://schemas.openxmlformats.org/drawingml/2006/main" prst="rect">
            <a:avLst/>
          </a:prstGeom>
          <a:solidFill xmlns:a="http://schemas.openxmlformats.org/drawingml/2006/main">
            <a:srgbClr val="C8FF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E7C2A50-F12C-4B6F-885D-4D769DFACCBE}"/>
              </a:ext>
            </a:extLst>
          </p:cNvPr>
          <p:cNvSpPr>
            <a:spLocks xmlns:a="http://schemas.openxmlformats.org/drawingml/2006/main" noGrp="1"/>
          </p:cNvSpPr>
          <p:nvPr/>
        </p:nvSpPr>
        <p:spPr>
          <a:xfrm xmlns:a="http://schemas.openxmlformats.org/drawingml/2006/main">
            <a:off x="723900" y="5381625"/>
            <a:ext cx="5048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0EEE8"/>
                </a:solidFill>
              </a:defRPr>
            </a:pPr>
            <a:r>
              <a:rPr sz="1500" b="0">
                <a:solidFill>
                  <a:srgbClr val="F0EEE8"/>
                </a:solidFill>
              </a:rPr>
              <a:t>A private 30-second ritual that lets one person at the festival send presence—not content—to one person anywhere.</a:t>
            </a:r>
          </a:p>
        </p:txBody>
      </p:sp>
      <p:sp>
        <p:nvSpPr>
          <p:cNvPr id="8" name="">
            <a:extLst xmlns:a="http://schemas.openxmlformats.org/drawingml/2006/main">
              <a:ext uri="{FF2B5EF4-FFF2-40B4-BE49-F238E27FC236}">
                <a16:creationId xmlns:a16="http://schemas.microsoft.com/office/drawing/2014/main" id="{16490E11-F2CD-42FD-BD2E-D8722E064FDF}"/>
              </a:ext>
            </a:extLst>
          </p:cNvPr>
          <p:cNvSpPr>
            <a:spLocks xmlns:a="http://schemas.openxmlformats.org/drawingml/2006/main" noGrp="1"/>
          </p:cNvSpPr>
          <p:nvPr/>
        </p:nvSpPr>
        <p:spPr>
          <a:xfrm xmlns:a="http://schemas.openxmlformats.org/drawingml/2006/main">
            <a:off x="7239000" y="63436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825" b="1">
                <a:solidFill>
                  <a:srgbClr val="F0EEE8"/>
                </a:solidFill>
              </a:defRPr>
            </a:pPr>
            <a:r>
              <a:rPr sz="825" b="1">
                <a:solidFill>
                  <a:srgbClr val="F0EEE8"/>
                </a:solidFill>
              </a:rPr>
              <a:t>LIVE BUILD  /  same-sky-live.vnmoorthy.chatgpt.site</a:t>
            </a:r>
          </a:p>
        </p:txBody>
      </p:sp>
    </p:spTree>
    <p:extLst>
      <p:ext uri="{BB962C8B-B14F-4D97-AF65-F5344CB8AC3E}">
        <p14:creationId xmlns:p14="http://schemas.microsoft.com/office/powerpoint/2010/main" val="1749835678"/>
      </p:ext>
    </p:extLst>
  </p:cSld>
</p:sld>
</file>

<file path=ppt/slides/slide2.xml><?xml version="1.0" encoding="utf-8"?>
<p:sld xmlns:p="http://schemas.openxmlformats.org/presentationml/2006/main">
  <p:cSld>
    <p:bg>
      <p:bgPr>
        <a:solidFill xmlns:a="http://schemas.openxmlformats.org/drawingml/2006/main">
          <a:srgbClr val="07070B"/>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3933339-26A0-4409-A776-E80D7A84453A}"/>
              </a:ext>
            </a:extLst>
          </p:cNvPr>
          <p:cNvSpPr>
            <a:spLocks xmlns:a="http://schemas.openxmlformats.org/drawingml/2006/main" noGrp="1"/>
          </p:cNvSpPr>
          <p:nvPr/>
        </p:nvSpPr>
        <p:spPr>
          <a:xfrm xmlns:a="http://schemas.openxmlformats.org/drawingml/2006/main">
            <a:off x="685800" y="4572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5E45"/>
                </a:solidFill>
              </a:defRPr>
            </a:pPr>
            <a:r>
              <a:rPr sz="975" b="1">
                <a:solidFill>
                  <a:srgbClr val="FF5E45"/>
                </a:solidFill>
              </a:rPr>
              <a:t>02 / 10</a:t>
            </a:r>
          </a:p>
        </p:txBody>
      </p:sp>
      <p:sp>
        <p:nvSpPr>
          <p:cNvPr id="2" name="">
            <a:extLst xmlns:a="http://schemas.openxmlformats.org/drawingml/2006/main">
              <a:ext uri="{FF2B5EF4-FFF2-40B4-BE49-F238E27FC236}">
                <a16:creationId xmlns:a16="http://schemas.microsoft.com/office/drawing/2014/main" id="{8C880C19-5934-482C-AA43-3BC6063D861B}"/>
              </a:ext>
            </a:extLst>
          </p:cNvPr>
          <p:cNvSpPr>
            <a:spLocks xmlns:a="http://schemas.openxmlformats.org/drawingml/2006/main" noGrp="1"/>
          </p:cNvSpPr>
          <p:nvPr/>
        </p:nvSpPr>
        <p:spPr>
          <a:xfrm xmlns:a="http://schemas.openxmlformats.org/drawingml/2006/main">
            <a:off x="20193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AAA9A3"/>
                </a:solidFill>
              </a:defRPr>
            </a:pPr>
            <a:r>
              <a:rPr sz="975" b="1">
                <a:solidFill>
                  <a:srgbClr val="AAA9A3"/>
                </a:solidFill>
              </a:rPr>
              <a:t>THE HUMAN GAP</a:t>
            </a:r>
          </a:p>
        </p:txBody>
      </p:sp>
      <p:sp>
        <p:nvSpPr>
          <p:cNvPr id="3" name="">
            <a:extLst xmlns:a="http://schemas.openxmlformats.org/drawingml/2006/main">
              <a:ext uri="{FF2B5EF4-FFF2-40B4-BE49-F238E27FC236}">
                <a16:creationId xmlns:a16="http://schemas.microsoft.com/office/drawing/2014/main" id="{BC226FDC-4492-45CD-8B37-E3BABC20C463}"/>
              </a:ext>
            </a:extLst>
          </p:cNvPr>
          <p:cNvSpPr>
            <a:spLocks xmlns:a="http://schemas.openxmlformats.org/drawingml/2006/main" noGrp="1"/>
          </p:cNvSpPr>
          <p:nvPr/>
        </p:nvSpPr>
        <p:spPr>
          <a:xfrm xmlns:a="http://schemas.openxmlformats.org/drawingml/2006/main">
            <a:off x="685800" y="781050"/>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049827-BF05-4392-9264-401DCA88B909}"/>
              </a:ext>
            </a:extLst>
          </p:cNvPr>
          <p:cNvSpPr>
            <a:spLocks xmlns:a="http://schemas.openxmlformats.org/drawingml/2006/main" noGrp="1"/>
          </p:cNvSpPr>
          <p:nvPr/>
        </p:nvSpPr>
        <p:spPr>
          <a:xfrm xmlns:a="http://schemas.openxmlformats.org/drawingml/2006/main">
            <a:off x="685800" y="1028700"/>
            <a:ext cx="1028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a:solidFill>
                  <a:srgbClr val="F0EEE8"/>
                </a:solidFill>
              </a:defRPr>
            </a:pPr>
            <a:r>
              <a:rPr sz="3750" b="1">
                <a:solidFill>
                  <a:srgbClr val="F0EEE8"/>
                </a:solidFill>
              </a:rPr>
              <a:t>The stream carries the show. It still leaves someone out.</a:t>
            </a:r>
          </a:p>
        </p:txBody>
      </p:sp>
      <p:sp>
        <p:nvSpPr>
          <p:cNvPr id="5" name="">
            <a:extLst xmlns:a="http://schemas.openxmlformats.org/drawingml/2006/main">
              <a:ext uri="{FF2B5EF4-FFF2-40B4-BE49-F238E27FC236}">
                <a16:creationId xmlns:a16="http://schemas.microsoft.com/office/drawing/2014/main" id="{C8D0CAFF-3D44-4AA5-B597-597BB67992C9}"/>
              </a:ext>
            </a:extLst>
          </p:cNvPr>
          <p:cNvSpPr>
            <a:spLocks xmlns:a="http://schemas.openxmlformats.org/drawingml/2006/main" noGrp="1"/>
          </p:cNvSpPr>
          <p:nvPr/>
        </p:nvSpPr>
        <p:spPr>
          <a:xfrm xmlns:a="http://schemas.openxmlformats.org/drawingml/2006/main">
            <a:off x="685800" y="2419350"/>
            <a:ext cx="4000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5700" b="1">
                <a:solidFill>
                  <a:srgbClr val="F0EEE8"/>
                </a:solidFill>
              </a:defRPr>
            </a:pPr>
            <a:r>
              <a:rPr sz="5700" b="1">
                <a:solidFill>
                  <a:srgbClr val="F0EEE8"/>
                </a:solidFill>
              </a:rPr>
              <a:t>VIDEO</a:t>
            </a:r>
          </a:p>
        </p:txBody>
      </p:sp>
      <p:sp>
        <p:nvSpPr>
          <p:cNvPr id="6" name="">
            <a:extLst xmlns:a="http://schemas.openxmlformats.org/drawingml/2006/main">
              <a:ext uri="{FF2B5EF4-FFF2-40B4-BE49-F238E27FC236}">
                <a16:creationId xmlns:a16="http://schemas.microsoft.com/office/drawing/2014/main" id="{03AED438-C284-457A-BE04-A5B107319DC0}"/>
              </a:ext>
            </a:extLst>
          </p:cNvPr>
          <p:cNvSpPr>
            <a:spLocks xmlns:a="http://schemas.openxmlformats.org/drawingml/2006/main" noGrp="1"/>
          </p:cNvSpPr>
          <p:nvPr/>
        </p:nvSpPr>
        <p:spPr>
          <a:xfrm xmlns:a="http://schemas.openxmlformats.org/drawingml/2006/main">
            <a:off x="4905375" y="2419350"/>
            <a:ext cx="857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5700" b="1">
                <a:solidFill>
                  <a:srgbClr val="FF5E45"/>
                </a:solidFill>
              </a:defRPr>
            </a:pPr>
            <a:r>
              <a:rPr sz="5700" b="1">
                <a:solidFill>
                  <a:srgbClr val="FF5E45"/>
                </a:solidFill>
              </a:rPr>
              <a:t>≠</a:t>
            </a:r>
          </a:p>
        </p:txBody>
      </p:sp>
      <p:sp>
        <p:nvSpPr>
          <p:cNvPr id="7" name="">
            <a:extLst xmlns:a="http://schemas.openxmlformats.org/drawingml/2006/main">
              <a:ext uri="{FF2B5EF4-FFF2-40B4-BE49-F238E27FC236}">
                <a16:creationId xmlns:a16="http://schemas.microsoft.com/office/drawing/2014/main" id="{DD6EB321-6039-4811-811E-C1CBE09F35A1}"/>
              </a:ext>
            </a:extLst>
          </p:cNvPr>
          <p:cNvSpPr>
            <a:spLocks xmlns:a="http://schemas.openxmlformats.org/drawingml/2006/main" noGrp="1"/>
          </p:cNvSpPr>
          <p:nvPr/>
        </p:nvSpPr>
        <p:spPr>
          <a:xfrm xmlns:a="http://schemas.openxmlformats.org/drawingml/2006/main">
            <a:off x="5953125" y="2419350"/>
            <a:ext cx="555307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5700" b="1">
                <a:solidFill>
                  <a:srgbClr val="F0EEE8"/>
                </a:solidFill>
              </a:defRPr>
            </a:pPr>
            <a:r>
              <a:rPr sz="5700" b="1">
                <a:solidFill>
                  <a:srgbClr val="F0EEE8"/>
                </a:solidFill>
              </a:rPr>
              <a:t>PRESENCE</a:t>
            </a:r>
          </a:p>
        </p:txBody>
      </p:sp>
      <p:sp>
        <p:nvSpPr>
          <p:cNvPr id="8" name="">
            <a:extLst xmlns:a="http://schemas.openxmlformats.org/drawingml/2006/main">
              <a:ext uri="{FF2B5EF4-FFF2-40B4-BE49-F238E27FC236}">
                <a16:creationId xmlns:a16="http://schemas.microsoft.com/office/drawing/2014/main" id="{0D0B0F1C-B2A5-41A0-A1D8-8184334B8EF1}"/>
              </a:ext>
            </a:extLst>
          </p:cNvPr>
          <p:cNvSpPr>
            <a:spLocks xmlns:a="http://schemas.openxmlformats.org/drawingml/2006/main" noGrp="1"/>
          </p:cNvSpPr>
          <p:nvPr/>
        </p:nvSpPr>
        <p:spPr>
          <a:xfrm xmlns:a="http://schemas.openxmlformats.org/drawingml/2006/main">
            <a:off x="685800" y="3600450"/>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93AEA6E-F179-4F7B-87E1-8297449F1FF4}"/>
              </a:ext>
            </a:extLst>
          </p:cNvPr>
          <p:cNvSpPr>
            <a:spLocks xmlns:a="http://schemas.openxmlformats.org/drawingml/2006/main" noGrp="1"/>
          </p:cNvSpPr>
          <p:nvPr/>
        </p:nvSpPr>
        <p:spPr>
          <a:xfrm xmlns:a="http://schemas.openxmlformats.org/drawingml/2006/main">
            <a:off x="685800" y="3981450"/>
            <a:ext cx="438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0">
                <a:solidFill>
                  <a:srgbClr val="AAA9A3"/>
                </a:solidFill>
              </a:defRPr>
            </a:pPr>
            <a:r>
              <a:rPr sz="2025" b="0">
                <a:solidFill>
                  <a:srgbClr val="AAA9A3"/>
                </a:solidFill>
              </a:rPr>
              <a:t>The remote fan sees every pixel.</a:t>
            </a:r>
          </a:p>
        </p:txBody>
      </p:sp>
      <p:sp>
        <p:nvSpPr>
          <p:cNvPr id="10" name="">
            <a:extLst xmlns:a="http://schemas.openxmlformats.org/drawingml/2006/main">
              <a:ext uri="{FF2B5EF4-FFF2-40B4-BE49-F238E27FC236}">
                <a16:creationId xmlns:a16="http://schemas.microsoft.com/office/drawing/2014/main" id="{DC7670D8-435A-4CB7-B149-FC89786D1BFE}"/>
              </a:ext>
            </a:extLst>
          </p:cNvPr>
          <p:cNvSpPr>
            <a:spLocks xmlns:a="http://schemas.openxmlformats.org/drawingml/2006/main" noGrp="1"/>
          </p:cNvSpPr>
          <p:nvPr/>
        </p:nvSpPr>
        <p:spPr>
          <a:xfrm xmlns:a="http://schemas.openxmlformats.org/drawingml/2006/main">
            <a:off x="6191250" y="398145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2025" b="1">
                <a:solidFill>
                  <a:srgbClr val="C8FF4A"/>
                </a:solidFill>
              </a:defRPr>
            </a:pPr>
            <a:r>
              <a:rPr sz="2025" b="1">
                <a:solidFill>
                  <a:srgbClr val="C8FF4A"/>
                </a:solidFill>
              </a:rPr>
              <a:t>They still cannot feel chosen.</a:t>
            </a:r>
          </a:p>
        </p:txBody>
      </p:sp>
      <p:sp>
        <p:nvSpPr>
          <p:cNvPr id="11" name="">
            <a:extLst xmlns:a="http://schemas.openxmlformats.org/drawingml/2006/main">
              <a:ext uri="{FF2B5EF4-FFF2-40B4-BE49-F238E27FC236}">
                <a16:creationId xmlns:a16="http://schemas.microsoft.com/office/drawing/2014/main" id="{0266DD59-847C-40FA-A899-6EF58F3520C3}"/>
              </a:ext>
            </a:extLst>
          </p:cNvPr>
          <p:cNvSpPr>
            <a:spLocks xmlns:a="http://schemas.openxmlformats.org/drawingml/2006/main" noGrp="1"/>
          </p:cNvSpPr>
          <p:nvPr/>
        </p:nvSpPr>
        <p:spPr>
          <a:xfrm xmlns:a="http://schemas.openxmlformats.org/drawingml/2006/main">
            <a:off x="2171700" y="5095875"/>
            <a:ext cx="7848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a:solidFill>
                  <a:srgbClr val="F0EEE8"/>
                </a:solidFill>
              </a:defRPr>
            </a:pPr>
            <a:r>
              <a:rPr sz="2025" b="1">
                <a:solidFill>
                  <a:srgbClr val="F0EEE8"/>
                </a:solidFill>
              </a:rPr>
              <a:t>Same Sky changes the unit of connection from an audience of millions to one specific human being.</a:t>
            </a:r>
          </a:p>
        </p:txBody>
      </p:sp>
    </p:spTree>
    <p:extLst>
      <p:ext uri="{BB962C8B-B14F-4D97-AF65-F5344CB8AC3E}">
        <p14:creationId xmlns:p14="http://schemas.microsoft.com/office/powerpoint/2010/main" val="886250597"/>
      </p:ext>
    </p:extLst>
  </p:cSld>
</p:sld>
</file>

<file path=ppt/slides/slide3.xml><?xml version="1.0" encoding="utf-8"?>
<p:sld xmlns:p="http://schemas.openxmlformats.org/presentationml/2006/main">
  <p:cSld>
    <p:bg>
      <p:bgPr>
        <a:solidFill xmlns:a="http://schemas.openxmlformats.org/drawingml/2006/main">
          <a:srgbClr val="07070B"/>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C1745C7-B95D-40DA-9566-C3FCF7B8E8DA}"/>
              </a:ext>
            </a:extLst>
          </p:cNvPr>
          <p:cNvSpPr>
            <a:spLocks xmlns:a="http://schemas.openxmlformats.org/drawingml/2006/main" noGrp="1"/>
          </p:cNvSpPr>
          <p:nvPr/>
        </p:nvSpPr>
        <p:spPr>
          <a:xfrm xmlns:a="http://schemas.openxmlformats.org/drawingml/2006/main">
            <a:off x="685800" y="4572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5E45"/>
                </a:solidFill>
              </a:defRPr>
            </a:pPr>
            <a:r>
              <a:rPr sz="975" b="1">
                <a:solidFill>
                  <a:srgbClr val="FF5E45"/>
                </a:solidFill>
              </a:rPr>
              <a:t>03 / 10</a:t>
            </a:r>
          </a:p>
        </p:txBody>
      </p:sp>
      <p:sp>
        <p:nvSpPr>
          <p:cNvPr id="2" name="">
            <a:extLst xmlns:a="http://schemas.openxmlformats.org/drawingml/2006/main">
              <a:ext uri="{FF2B5EF4-FFF2-40B4-BE49-F238E27FC236}">
                <a16:creationId xmlns:a16="http://schemas.microsoft.com/office/drawing/2014/main" id="{D4C7E42F-18B5-4200-8A89-33D7DD337841}"/>
              </a:ext>
            </a:extLst>
          </p:cNvPr>
          <p:cNvSpPr>
            <a:spLocks xmlns:a="http://schemas.openxmlformats.org/drawingml/2006/main" noGrp="1"/>
          </p:cNvSpPr>
          <p:nvPr/>
        </p:nvSpPr>
        <p:spPr>
          <a:xfrm xmlns:a="http://schemas.openxmlformats.org/drawingml/2006/main">
            <a:off x="20193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AAA9A3"/>
                </a:solidFill>
              </a:defRPr>
            </a:pPr>
            <a:r>
              <a:rPr sz="975" b="1">
                <a:solidFill>
                  <a:srgbClr val="AAA9A3"/>
                </a:solidFill>
              </a:rPr>
              <a:t>THE RITUAL</a:t>
            </a:r>
          </a:p>
        </p:txBody>
      </p:sp>
      <p:sp>
        <p:nvSpPr>
          <p:cNvPr id="3" name="">
            <a:extLst xmlns:a="http://schemas.openxmlformats.org/drawingml/2006/main">
              <a:ext uri="{FF2B5EF4-FFF2-40B4-BE49-F238E27FC236}">
                <a16:creationId xmlns:a16="http://schemas.microsoft.com/office/drawing/2014/main" id="{3620A459-2448-4079-A291-D3D86E3002D4}"/>
              </a:ext>
            </a:extLst>
          </p:cNvPr>
          <p:cNvSpPr>
            <a:spLocks xmlns:a="http://schemas.openxmlformats.org/drawingml/2006/main" noGrp="1"/>
          </p:cNvSpPr>
          <p:nvPr/>
        </p:nvSpPr>
        <p:spPr>
          <a:xfrm xmlns:a="http://schemas.openxmlformats.org/drawingml/2006/main">
            <a:off x="685800" y="781050"/>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583A42-22AD-4AD4-A9DB-2A2AC9CCB7E9}"/>
              </a:ext>
            </a:extLst>
          </p:cNvPr>
          <p:cNvSpPr>
            <a:spLocks xmlns:a="http://schemas.openxmlformats.org/drawingml/2006/main" noGrp="1"/>
          </p:cNvSpPr>
          <p:nvPr/>
        </p:nvSpPr>
        <p:spPr>
          <a:xfrm xmlns:a="http://schemas.openxmlformats.org/drawingml/2006/main">
            <a:off x="685800" y="1028700"/>
            <a:ext cx="1028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a:solidFill>
                  <a:srgbClr val="F0EEE8"/>
                </a:solidFill>
              </a:defRPr>
            </a:pPr>
            <a:r>
              <a:rPr sz="3750" b="1">
                <a:solidFill>
                  <a:srgbClr val="F0EEE8"/>
                </a:solidFill>
              </a:rPr>
              <a:t>Thirty seconds. One private bridge.</a:t>
            </a:r>
          </a:p>
        </p:txBody>
      </p:sp>
      <p:sp>
        <p:nvSpPr>
          <p:cNvPr id="5" name="">
            <a:extLst xmlns:a="http://schemas.openxmlformats.org/drawingml/2006/main">
              <a:ext uri="{FF2B5EF4-FFF2-40B4-BE49-F238E27FC236}">
                <a16:creationId xmlns:a16="http://schemas.microsoft.com/office/drawing/2014/main" id="{F4419336-EB7F-477A-98AC-5CE2584FD8E7}"/>
              </a:ext>
            </a:extLst>
          </p:cNvPr>
          <p:cNvSpPr>
            <a:spLocks xmlns:a="http://schemas.openxmlformats.org/drawingml/2006/main" noGrp="1"/>
          </p:cNvSpPr>
          <p:nvPr/>
        </p:nvSpPr>
        <p:spPr>
          <a:xfrm xmlns:a="http://schemas.openxmlformats.org/drawingml/2006/main">
            <a:off x="1409700" y="3486150"/>
            <a:ext cx="9372600" cy="19050"/>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4F53080-FC0A-496C-A35B-58316623A963}"/>
              </a:ext>
            </a:extLst>
          </p:cNvPr>
          <p:cNvSpPr>
            <a:spLocks xmlns:a="http://schemas.openxmlformats.org/drawingml/2006/main" noGrp="1"/>
          </p:cNvSpPr>
          <p:nvPr/>
        </p:nvSpPr>
        <p:spPr>
          <a:xfrm xmlns:a="http://schemas.openxmlformats.org/drawingml/2006/main">
            <a:off x="1771650" y="3095625"/>
            <a:ext cx="762000" cy="762000"/>
          </a:xfrm>
          <a:prstGeom xmlns:a="http://schemas.openxmlformats.org/drawingml/2006/main" prst="ellipse">
            <a:avLst/>
          </a:prstGeom>
          <a:solidFill xmlns:a="http://schemas.openxmlformats.org/drawingml/2006/main">
            <a:srgbClr val="07070B"/>
          </a:solidFill>
          <a:ln xmlns:a="http://schemas.openxmlformats.org/drawingml/2006/main" w="28575">
            <a:solidFill>
              <a:srgbClr val="FF5E45"/>
            </a:solidFill>
            <a:prstDash val="solid"/>
          </a:ln>
        </p:spPr>
      </p:sp>
      <p:sp>
        <p:nvSpPr>
          <p:cNvPr id="7" name="">
            <a:extLst xmlns:a="http://schemas.openxmlformats.org/drawingml/2006/main">
              <a:ext uri="{FF2B5EF4-FFF2-40B4-BE49-F238E27FC236}">
                <a16:creationId xmlns:a16="http://schemas.microsoft.com/office/drawing/2014/main" id="{51EE02EE-D50A-4370-BA7D-A77106B995B4}"/>
              </a:ext>
            </a:extLst>
          </p:cNvPr>
          <p:cNvSpPr>
            <a:spLocks xmlns:a="http://schemas.openxmlformats.org/drawingml/2006/main" noGrp="1"/>
          </p:cNvSpPr>
          <p:nvPr/>
        </p:nvSpPr>
        <p:spPr>
          <a:xfrm xmlns:a="http://schemas.openxmlformats.org/drawingml/2006/main">
            <a:off x="1771650" y="3276600"/>
            <a:ext cx="762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FF5E45"/>
                </a:solidFill>
              </a:defRPr>
            </a:pPr>
            <a:r>
              <a:rPr sz="1575" b="1">
                <a:solidFill>
                  <a:srgbClr val="FF5E45"/>
                </a:solidFill>
              </a:rPr>
              <a:t>01</a:t>
            </a:r>
          </a:p>
        </p:txBody>
      </p:sp>
      <p:sp>
        <p:nvSpPr>
          <p:cNvPr id="8" name="">
            <a:extLst xmlns:a="http://schemas.openxmlformats.org/drawingml/2006/main">
              <a:ext uri="{FF2B5EF4-FFF2-40B4-BE49-F238E27FC236}">
                <a16:creationId xmlns:a16="http://schemas.microsoft.com/office/drawing/2014/main" id="{A4C49A16-ECE1-4B38-B8E6-A9CC3F7B15D5}"/>
              </a:ext>
            </a:extLst>
          </p:cNvPr>
          <p:cNvSpPr>
            <a:spLocks xmlns:a="http://schemas.openxmlformats.org/drawingml/2006/main" noGrp="1"/>
          </p:cNvSpPr>
          <p:nvPr/>
        </p:nvSpPr>
        <p:spPr>
          <a:xfrm xmlns:a="http://schemas.openxmlformats.org/drawingml/2006/main">
            <a:off x="762000" y="417195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FF5E45"/>
                </a:solidFill>
              </a:defRPr>
            </a:pPr>
            <a:r>
              <a:rPr sz="1350" b="1">
                <a:solidFill>
                  <a:srgbClr val="FF5E45"/>
                </a:solidFill>
              </a:rPr>
              <a:t>CATCH</a:t>
            </a:r>
          </a:p>
        </p:txBody>
      </p:sp>
      <p:sp>
        <p:nvSpPr>
          <p:cNvPr id="9" name="">
            <a:extLst xmlns:a="http://schemas.openxmlformats.org/drawingml/2006/main">
              <a:ext uri="{FF2B5EF4-FFF2-40B4-BE49-F238E27FC236}">
                <a16:creationId xmlns:a16="http://schemas.microsoft.com/office/drawing/2014/main" id="{BC27F5D3-4C4B-4DBA-B3E7-A4C23CFE033A}"/>
              </a:ext>
            </a:extLst>
          </p:cNvPr>
          <p:cNvSpPr>
            <a:spLocks xmlns:a="http://schemas.openxmlformats.org/drawingml/2006/main" noGrp="1"/>
          </p:cNvSpPr>
          <p:nvPr/>
        </p:nvSpPr>
        <p:spPr>
          <a:xfrm xmlns:a="http://schemas.openxmlformats.org/drawingml/2006/main">
            <a:off x="828675" y="4667250"/>
            <a:ext cx="2647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a:solidFill>
                  <a:srgbClr val="F0EEE8"/>
                </a:solidFill>
              </a:defRPr>
            </a:pPr>
            <a:r>
              <a:rPr sz="1500" b="0">
                <a:solidFill>
                  <a:srgbClr val="F0EEE8"/>
                </a:solidFill>
              </a:rPr>
              <a:t>One image + literal sensations</a:t>
            </a:r>
          </a:p>
        </p:txBody>
      </p:sp>
      <p:sp>
        <p:nvSpPr>
          <p:cNvPr id="10" name="">
            <a:extLst xmlns:a="http://schemas.openxmlformats.org/drawingml/2006/main">
              <a:ext uri="{FF2B5EF4-FFF2-40B4-BE49-F238E27FC236}">
                <a16:creationId xmlns:a16="http://schemas.microsoft.com/office/drawing/2014/main" id="{76ED9760-C8E3-417B-8150-988500C69D23}"/>
              </a:ext>
            </a:extLst>
          </p:cNvPr>
          <p:cNvSpPr>
            <a:spLocks xmlns:a="http://schemas.openxmlformats.org/drawingml/2006/main" noGrp="1"/>
          </p:cNvSpPr>
          <p:nvPr/>
        </p:nvSpPr>
        <p:spPr>
          <a:xfrm xmlns:a="http://schemas.openxmlformats.org/drawingml/2006/main">
            <a:off x="5581650" y="3095625"/>
            <a:ext cx="762000" cy="762000"/>
          </a:xfrm>
          <a:prstGeom xmlns:a="http://schemas.openxmlformats.org/drawingml/2006/main" prst="ellipse">
            <a:avLst/>
          </a:prstGeom>
          <a:solidFill xmlns:a="http://schemas.openxmlformats.org/drawingml/2006/main">
            <a:srgbClr val="07070B"/>
          </a:solidFill>
          <a:ln xmlns:a="http://schemas.openxmlformats.org/drawingml/2006/main" w="28575">
            <a:solidFill>
              <a:srgbClr val="C8FF4A"/>
            </a:solidFill>
            <a:prstDash val="solid"/>
          </a:ln>
        </p:spPr>
      </p:sp>
      <p:sp>
        <p:nvSpPr>
          <p:cNvPr id="11" name="">
            <a:extLst xmlns:a="http://schemas.openxmlformats.org/drawingml/2006/main">
              <a:ext uri="{FF2B5EF4-FFF2-40B4-BE49-F238E27FC236}">
                <a16:creationId xmlns:a16="http://schemas.microsoft.com/office/drawing/2014/main" id="{6575989F-D028-449D-9246-C1C8DAA1A015}"/>
              </a:ext>
            </a:extLst>
          </p:cNvPr>
          <p:cNvSpPr>
            <a:spLocks xmlns:a="http://schemas.openxmlformats.org/drawingml/2006/main" noGrp="1"/>
          </p:cNvSpPr>
          <p:nvPr/>
        </p:nvSpPr>
        <p:spPr>
          <a:xfrm xmlns:a="http://schemas.openxmlformats.org/drawingml/2006/main">
            <a:off x="5581650" y="3276600"/>
            <a:ext cx="762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C8FF4A"/>
                </a:solidFill>
              </a:defRPr>
            </a:pPr>
            <a:r>
              <a:rPr sz="1575" b="1">
                <a:solidFill>
                  <a:srgbClr val="C8FF4A"/>
                </a:solidFill>
              </a:rPr>
              <a:t>02</a:t>
            </a:r>
          </a:p>
        </p:txBody>
      </p:sp>
      <p:sp>
        <p:nvSpPr>
          <p:cNvPr id="12" name="">
            <a:extLst xmlns:a="http://schemas.openxmlformats.org/drawingml/2006/main">
              <a:ext uri="{FF2B5EF4-FFF2-40B4-BE49-F238E27FC236}">
                <a16:creationId xmlns:a16="http://schemas.microsoft.com/office/drawing/2014/main" id="{CB17F85E-53FA-437F-B7E9-E51AD51BA7D7}"/>
              </a:ext>
            </a:extLst>
          </p:cNvPr>
          <p:cNvSpPr>
            <a:spLocks xmlns:a="http://schemas.openxmlformats.org/drawingml/2006/main" noGrp="1"/>
          </p:cNvSpPr>
          <p:nvPr/>
        </p:nvSpPr>
        <p:spPr>
          <a:xfrm xmlns:a="http://schemas.openxmlformats.org/drawingml/2006/main">
            <a:off x="4572000" y="417195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C8FF4A"/>
                </a:solidFill>
              </a:defRPr>
            </a:pPr>
            <a:r>
              <a:rPr sz="1350" b="1">
                <a:solidFill>
                  <a:srgbClr val="C8FF4A"/>
                </a:solidFill>
              </a:rPr>
              <a:t>SEND</a:t>
            </a:r>
          </a:p>
        </p:txBody>
      </p:sp>
      <p:sp>
        <p:nvSpPr>
          <p:cNvPr id="13" name="">
            <a:extLst xmlns:a="http://schemas.openxmlformats.org/drawingml/2006/main">
              <a:ext uri="{FF2B5EF4-FFF2-40B4-BE49-F238E27FC236}">
                <a16:creationId xmlns:a16="http://schemas.microsoft.com/office/drawing/2014/main" id="{D3CD6C03-6037-45A3-A0CA-FBE19CACFD88}"/>
              </a:ext>
            </a:extLst>
          </p:cNvPr>
          <p:cNvSpPr>
            <a:spLocks xmlns:a="http://schemas.openxmlformats.org/drawingml/2006/main" noGrp="1"/>
          </p:cNvSpPr>
          <p:nvPr/>
        </p:nvSpPr>
        <p:spPr>
          <a:xfrm xmlns:a="http://schemas.openxmlformats.org/drawingml/2006/main">
            <a:off x="4638675" y="4667250"/>
            <a:ext cx="2647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a:solidFill>
                  <a:srgbClr val="F0EEE8"/>
                </a:solidFill>
              </a:defRPr>
            </a:pPr>
            <a:r>
              <a:rPr sz="1500" b="0">
                <a:solidFill>
                  <a:srgbClr val="F0EEE8"/>
                </a:solidFill>
              </a:rPr>
              <a:t>Human-approved sensory postcard</a:t>
            </a:r>
          </a:p>
        </p:txBody>
      </p:sp>
      <p:sp>
        <p:nvSpPr>
          <p:cNvPr id="14" name="">
            <a:extLst xmlns:a="http://schemas.openxmlformats.org/drawingml/2006/main">
              <a:ext uri="{FF2B5EF4-FFF2-40B4-BE49-F238E27FC236}">
                <a16:creationId xmlns:a16="http://schemas.microsoft.com/office/drawing/2014/main" id="{AF297C3B-AF19-4A6E-B085-B6017DAC6E3C}"/>
              </a:ext>
            </a:extLst>
          </p:cNvPr>
          <p:cNvSpPr>
            <a:spLocks xmlns:a="http://schemas.openxmlformats.org/drawingml/2006/main" noGrp="1"/>
          </p:cNvSpPr>
          <p:nvPr/>
        </p:nvSpPr>
        <p:spPr>
          <a:xfrm xmlns:a="http://schemas.openxmlformats.org/drawingml/2006/main">
            <a:off x="9391650" y="3095625"/>
            <a:ext cx="762000" cy="762000"/>
          </a:xfrm>
          <a:prstGeom xmlns:a="http://schemas.openxmlformats.org/drawingml/2006/main" prst="ellipse">
            <a:avLst/>
          </a:prstGeom>
          <a:solidFill xmlns:a="http://schemas.openxmlformats.org/drawingml/2006/main">
            <a:srgbClr val="07070B"/>
          </a:solidFill>
          <a:ln xmlns:a="http://schemas.openxmlformats.org/drawingml/2006/main" w="28575">
            <a:solidFill>
              <a:srgbClr val="F0EEE8"/>
            </a:solidFill>
            <a:prstDash val="solid"/>
          </a:ln>
        </p:spPr>
      </p:sp>
      <p:sp>
        <p:nvSpPr>
          <p:cNvPr id="15" name="">
            <a:extLst xmlns:a="http://schemas.openxmlformats.org/drawingml/2006/main">
              <a:ext uri="{FF2B5EF4-FFF2-40B4-BE49-F238E27FC236}">
                <a16:creationId xmlns:a16="http://schemas.microsoft.com/office/drawing/2014/main" id="{53E1023F-258D-4A94-8DCE-F0CD7F85B21B}"/>
              </a:ext>
            </a:extLst>
          </p:cNvPr>
          <p:cNvSpPr>
            <a:spLocks xmlns:a="http://schemas.openxmlformats.org/drawingml/2006/main" noGrp="1"/>
          </p:cNvSpPr>
          <p:nvPr/>
        </p:nvSpPr>
        <p:spPr>
          <a:xfrm xmlns:a="http://schemas.openxmlformats.org/drawingml/2006/main">
            <a:off x="9391650" y="3276600"/>
            <a:ext cx="762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F0EEE8"/>
                </a:solidFill>
              </a:defRPr>
            </a:pPr>
            <a:r>
              <a:rPr sz="1575" b="1">
                <a:solidFill>
                  <a:srgbClr val="F0EEE8"/>
                </a:solidFill>
              </a:rPr>
              <a:t>03</a:t>
            </a:r>
          </a:p>
        </p:txBody>
      </p:sp>
      <p:sp>
        <p:nvSpPr>
          <p:cNvPr id="16" name="">
            <a:extLst xmlns:a="http://schemas.openxmlformats.org/drawingml/2006/main">
              <a:ext uri="{FF2B5EF4-FFF2-40B4-BE49-F238E27FC236}">
                <a16:creationId xmlns:a16="http://schemas.microsoft.com/office/drawing/2014/main" id="{CFA9069F-4BD8-4FFE-9A98-28572761C1D9}"/>
              </a:ext>
            </a:extLst>
          </p:cNvPr>
          <p:cNvSpPr>
            <a:spLocks xmlns:a="http://schemas.openxmlformats.org/drawingml/2006/main" noGrp="1"/>
          </p:cNvSpPr>
          <p:nvPr/>
        </p:nvSpPr>
        <p:spPr>
          <a:xfrm xmlns:a="http://schemas.openxmlformats.org/drawingml/2006/main">
            <a:off x="8382000" y="417195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F0EEE8"/>
                </a:solidFill>
              </a:defRPr>
            </a:pPr>
            <a:r>
              <a:rPr sz="1350" b="1">
                <a:solidFill>
                  <a:srgbClr val="F0EEE8"/>
                </a:solidFill>
              </a:rPr>
              <a:t>RETURN</a:t>
            </a:r>
          </a:p>
        </p:txBody>
      </p:sp>
      <p:sp>
        <p:nvSpPr>
          <p:cNvPr id="17" name="">
            <a:extLst xmlns:a="http://schemas.openxmlformats.org/drawingml/2006/main">
              <a:ext uri="{FF2B5EF4-FFF2-40B4-BE49-F238E27FC236}">
                <a16:creationId xmlns:a16="http://schemas.microsoft.com/office/drawing/2014/main" id="{8426FA69-2F01-463E-B3F7-99691EE08474}"/>
              </a:ext>
            </a:extLst>
          </p:cNvPr>
          <p:cNvSpPr>
            <a:spLocks xmlns:a="http://schemas.openxmlformats.org/drawingml/2006/main" noGrp="1"/>
          </p:cNvSpPr>
          <p:nvPr/>
        </p:nvSpPr>
        <p:spPr>
          <a:xfrm xmlns:a="http://schemas.openxmlformats.org/drawingml/2006/main">
            <a:off x="8448675" y="4667250"/>
            <a:ext cx="2647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a:solidFill>
                  <a:srgbClr val="F0EEE8"/>
                </a:solidFill>
              </a:defRPr>
            </a:pPr>
            <a:r>
              <a:rPr sz="1500" b="0">
                <a:solidFill>
                  <a:srgbClr val="F0EEE8"/>
                </a:solidFill>
              </a:rPr>
              <a:t>One pulse, synchronized on both phones</a:t>
            </a:r>
          </a:p>
        </p:txBody>
      </p:sp>
      <p:sp>
        <p:nvSpPr>
          <p:cNvPr id="18" name="">
            <a:extLst xmlns:a="http://schemas.openxmlformats.org/drawingml/2006/main">
              <a:ext uri="{FF2B5EF4-FFF2-40B4-BE49-F238E27FC236}">
                <a16:creationId xmlns:a16="http://schemas.microsoft.com/office/drawing/2014/main" id="{7D290BE4-E1F2-452D-84DF-1C6734770ECD}"/>
              </a:ext>
            </a:extLst>
          </p:cNvPr>
          <p:cNvSpPr>
            <a:spLocks xmlns:a="http://schemas.openxmlformats.org/drawingml/2006/main" noGrp="1"/>
          </p:cNvSpPr>
          <p:nvPr/>
        </p:nvSpPr>
        <p:spPr>
          <a:xfrm xmlns:a="http://schemas.openxmlformats.org/drawingml/2006/main">
            <a:off x="685800" y="6076950"/>
            <a:ext cx="10820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AAA9A3"/>
                </a:solidFill>
              </a:defRPr>
            </a:pPr>
            <a:r>
              <a:rPr sz="1275" b="1">
                <a:solidFill>
                  <a:srgbClr val="AAA9A3"/>
                </a:solidFill>
              </a:rPr>
              <a:t>Nothing becomes a post. Nothing asks for a follow.</a:t>
            </a:r>
          </a:p>
        </p:txBody>
      </p:sp>
    </p:spTree>
    <p:extLst>
      <p:ext uri="{BB962C8B-B14F-4D97-AF65-F5344CB8AC3E}">
        <p14:creationId xmlns:p14="http://schemas.microsoft.com/office/powerpoint/2010/main" val="1916684892"/>
      </p:ext>
    </p:extLst>
  </p:cSld>
</p:sld>
</file>

<file path=ppt/slides/slide4.xml><?xml version="1.0" encoding="utf-8"?>
<p:sld xmlns:p="http://schemas.openxmlformats.org/presentationml/2006/main">
  <p:cSld>
    <p:bg>
      <p:bgPr>
        <a:solidFill xmlns:a="http://schemas.openxmlformats.org/drawingml/2006/main">
          <a:srgbClr val="07070B"/>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5E770BC-7578-495F-A404-D52D2867166A}"/>
              </a:ext>
            </a:extLst>
          </p:cNvPr>
          <p:cNvSpPr>
            <a:spLocks xmlns:a="http://schemas.openxmlformats.org/drawingml/2006/main" noGrp="1"/>
          </p:cNvSpPr>
          <p:nvPr/>
        </p:nvSpPr>
        <p:spPr>
          <a:xfrm xmlns:a="http://schemas.openxmlformats.org/drawingml/2006/main">
            <a:off x="685800" y="4572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5E45"/>
                </a:solidFill>
              </a:defRPr>
            </a:pPr>
            <a:r>
              <a:rPr sz="975" b="1">
                <a:solidFill>
                  <a:srgbClr val="FF5E45"/>
                </a:solidFill>
              </a:rPr>
              <a:t>04 / 10</a:t>
            </a:r>
          </a:p>
        </p:txBody>
      </p:sp>
      <p:sp>
        <p:nvSpPr>
          <p:cNvPr id="2" name="">
            <a:extLst xmlns:a="http://schemas.openxmlformats.org/drawingml/2006/main">
              <a:ext uri="{FF2B5EF4-FFF2-40B4-BE49-F238E27FC236}">
                <a16:creationId xmlns:a16="http://schemas.microsoft.com/office/drawing/2014/main" id="{F5BFBFDA-5A3A-4BE7-93D5-37EA63F4E6E7}"/>
              </a:ext>
            </a:extLst>
          </p:cNvPr>
          <p:cNvSpPr>
            <a:spLocks xmlns:a="http://schemas.openxmlformats.org/drawingml/2006/main" noGrp="1"/>
          </p:cNvSpPr>
          <p:nvPr/>
        </p:nvSpPr>
        <p:spPr>
          <a:xfrm xmlns:a="http://schemas.openxmlformats.org/drawingml/2006/main">
            <a:off x="20193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AAA9A3"/>
                </a:solidFill>
              </a:defRPr>
            </a:pPr>
            <a:r>
              <a:rPr sz="975" b="1">
                <a:solidFill>
                  <a:srgbClr val="AAA9A3"/>
                </a:solidFill>
              </a:rPr>
              <a:t>THE JUDGE MOMENT</a:t>
            </a:r>
          </a:p>
        </p:txBody>
      </p:sp>
      <p:sp>
        <p:nvSpPr>
          <p:cNvPr id="3" name="">
            <a:extLst xmlns:a="http://schemas.openxmlformats.org/drawingml/2006/main">
              <a:ext uri="{FF2B5EF4-FFF2-40B4-BE49-F238E27FC236}">
                <a16:creationId xmlns:a16="http://schemas.microsoft.com/office/drawing/2014/main" id="{FC5A6DA7-F3DF-4964-9B5A-838C859CAFEE}"/>
              </a:ext>
            </a:extLst>
          </p:cNvPr>
          <p:cNvSpPr>
            <a:spLocks xmlns:a="http://schemas.openxmlformats.org/drawingml/2006/main" noGrp="1"/>
          </p:cNvSpPr>
          <p:nvPr/>
        </p:nvSpPr>
        <p:spPr>
          <a:xfrm xmlns:a="http://schemas.openxmlformats.org/drawingml/2006/main">
            <a:off x="685800" y="781050"/>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4E57DDC-0EBD-4451-BCDC-4D75FF65C2DD}"/>
              </a:ext>
            </a:extLst>
          </p:cNvPr>
          <p:cNvSpPr>
            <a:spLocks xmlns:a="http://schemas.openxmlformats.org/drawingml/2006/main" noGrp="1"/>
          </p:cNvSpPr>
          <p:nvPr/>
        </p:nvSpPr>
        <p:spPr>
          <a:xfrm xmlns:a="http://schemas.openxmlformats.org/drawingml/2006/main">
            <a:off x="685800" y="1028700"/>
            <a:ext cx="1028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a:solidFill>
                  <a:srgbClr val="F0EEE8"/>
                </a:solidFill>
              </a:defRPr>
            </a:pPr>
            <a:r>
              <a:rPr sz="3750" b="1">
                <a:solidFill>
                  <a:srgbClr val="F0EEE8"/>
                </a:solidFill>
              </a:rPr>
              <a:t>The room does not watch the demo. The room feels it.</a:t>
            </a:r>
          </a:p>
        </p:txBody>
      </p:sp>
      <p:sp>
        <p:nvSpPr>
          <p:cNvPr id="5" name="">
            <a:extLst xmlns:a="http://schemas.openxmlformats.org/drawingml/2006/main">
              <a:ext uri="{FF2B5EF4-FFF2-40B4-BE49-F238E27FC236}">
                <a16:creationId xmlns:a16="http://schemas.microsoft.com/office/drawing/2014/main" id="{2FFD4048-DA83-4F63-94F1-79B896AAF4F5}"/>
              </a:ext>
            </a:extLst>
          </p:cNvPr>
          <p:cNvSpPr>
            <a:spLocks xmlns:a="http://schemas.openxmlformats.org/drawingml/2006/main" noGrp="1"/>
          </p:cNvSpPr>
          <p:nvPr/>
        </p:nvSpPr>
        <p:spPr>
          <a:xfrm xmlns:a="http://schemas.openxmlformats.org/drawingml/2006/main">
            <a:off x="1085850" y="2286000"/>
            <a:ext cx="2667000" cy="3429000"/>
          </a:xfrm>
          <a:prstGeom xmlns:a="http://schemas.openxmlformats.org/drawingml/2006/main" prst="roundRect">
            <a:avLst>
              <a:gd name="adj" fmla="val 2857"/>
            </a:avLst>
          </a:prstGeom>
          <a:solidFill xmlns:a="http://schemas.openxmlformats.org/drawingml/2006/main">
            <a:srgbClr val="101116"/>
          </a:solidFill>
          <a:ln xmlns:a="http://schemas.openxmlformats.org/drawingml/2006/main" w="19050">
            <a:solidFill>
              <a:srgbClr val="353539"/>
            </a:solidFill>
            <a:prstDash val="solid"/>
          </a:ln>
        </p:spPr>
      </p:sp>
      <p:sp>
        <p:nvSpPr>
          <p:cNvPr id="6" name="">
            <a:extLst xmlns:a="http://schemas.openxmlformats.org/drawingml/2006/main">
              <a:ext uri="{FF2B5EF4-FFF2-40B4-BE49-F238E27FC236}">
                <a16:creationId xmlns:a16="http://schemas.microsoft.com/office/drawing/2014/main" id="{10374077-5B3F-4AEF-8F51-ED9920F3FFE8}"/>
              </a:ext>
            </a:extLst>
          </p:cNvPr>
          <p:cNvSpPr>
            <a:spLocks xmlns:a="http://schemas.openxmlformats.org/drawingml/2006/main" noGrp="1"/>
          </p:cNvSpPr>
          <p:nvPr/>
        </p:nvSpPr>
        <p:spPr>
          <a:xfrm xmlns:a="http://schemas.openxmlformats.org/drawingml/2006/main">
            <a:off x="8439150" y="2286000"/>
            <a:ext cx="2667000" cy="3429000"/>
          </a:xfrm>
          <a:prstGeom xmlns:a="http://schemas.openxmlformats.org/drawingml/2006/main" prst="roundRect">
            <a:avLst>
              <a:gd name="adj" fmla="val 2857"/>
            </a:avLst>
          </a:prstGeom>
          <a:solidFill xmlns:a="http://schemas.openxmlformats.org/drawingml/2006/main">
            <a:srgbClr val="101116"/>
          </a:solidFill>
          <a:ln xmlns:a="http://schemas.openxmlformats.org/drawingml/2006/main" w="19050">
            <a:solidFill>
              <a:srgbClr val="353539"/>
            </a:solidFill>
            <a:prstDash val="solid"/>
          </a:ln>
        </p:spPr>
      </p:sp>
      <p:sp>
        <p:nvSpPr>
          <p:cNvPr id="7" name="">
            <a:extLst xmlns:a="http://schemas.openxmlformats.org/drawingml/2006/main">
              <a:ext uri="{FF2B5EF4-FFF2-40B4-BE49-F238E27FC236}">
                <a16:creationId xmlns:a16="http://schemas.microsoft.com/office/drawing/2014/main" id="{1E2B6695-E5BC-43C4-A4BD-187129D86FB3}"/>
              </a:ext>
            </a:extLst>
          </p:cNvPr>
          <p:cNvSpPr>
            <a:spLocks xmlns:a="http://schemas.openxmlformats.org/drawingml/2006/main" noGrp="1"/>
          </p:cNvSpPr>
          <p:nvPr/>
        </p:nvSpPr>
        <p:spPr>
          <a:xfrm xmlns:a="http://schemas.openxmlformats.org/drawingml/2006/main">
            <a:off x="1390650" y="2552700"/>
            <a:ext cx="2057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FF5E45"/>
                </a:solidFill>
              </a:defRPr>
            </a:pPr>
            <a:r>
              <a:rPr sz="1050" b="1">
                <a:solidFill>
                  <a:srgbClr val="FF5E45"/>
                </a:solidFill>
              </a:rPr>
              <a:t>HERE</a:t>
            </a:r>
          </a:p>
        </p:txBody>
      </p:sp>
      <p:sp>
        <p:nvSpPr>
          <p:cNvPr id="8" name="">
            <a:extLst xmlns:a="http://schemas.openxmlformats.org/drawingml/2006/main">
              <a:ext uri="{FF2B5EF4-FFF2-40B4-BE49-F238E27FC236}">
                <a16:creationId xmlns:a16="http://schemas.microsoft.com/office/drawing/2014/main" id="{A1DA2D75-4161-4BDE-AAC2-7C3AF6F4294E}"/>
              </a:ext>
            </a:extLst>
          </p:cNvPr>
          <p:cNvSpPr>
            <a:spLocks xmlns:a="http://schemas.openxmlformats.org/drawingml/2006/main" noGrp="1"/>
          </p:cNvSpPr>
          <p:nvPr/>
        </p:nvSpPr>
        <p:spPr>
          <a:xfrm xmlns:a="http://schemas.openxmlformats.org/drawingml/2006/main">
            <a:off x="8743950" y="2552700"/>
            <a:ext cx="2057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C8FF4A"/>
                </a:solidFill>
              </a:defRPr>
            </a:pPr>
            <a:r>
              <a:rPr sz="1050" b="1">
                <a:solidFill>
                  <a:srgbClr val="C8FF4A"/>
                </a:solidFill>
              </a:rPr>
              <a:t>FAR AWAY</a:t>
            </a:r>
          </a:p>
        </p:txBody>
      </p:sp>
      <p:sp>
        <p:nvSpPr>
          <p:cNvPr id="9" name="">
            <a:extLst xmlns:a="http://schemas.openxmlformats.org/drawingml/2006/main">
              <a:ext uri="{FF2B5EF4-FFF2-40B4-BE49-F238E27FC236}">
                <a16:creationId xmlns:a16="http://schemas.microsoft.com/office/drawing/2014/main" id="{B95CED7C-7177-4791-87E0-EAC455E3B641}"/>
              </a:ext>
            </a:extLst>
          </p:cNvPr>
          <p:cNvSpPr>
            <a:spLocks xmlns:a="http://schemas.openxmlformats.org/drawingml/2006/main" noGrp="1"/>
          </p:cNvSpPr>
          <p:nvPr/>
        </p:nvSpPr>
        <p:spPr>
          <a:xfrm xmlns:a="http://schemas.openxmlformats.org/drawingml/2006/main">
            <a:off x="1905000" y="3276600"/>
            <a:ext cx="1028700" cy="1028700"/>
          </a:xfrm>
          <a:prstGeom xmlns:a="http://schemas.openxmlformats.org/drawingml/2006/main" prst="ellipse">
            <a:avLst/>
          </a:prstGeom>
          <a:solidFill xmlns:a="http://schemas.openxmlformats.org/drawingml/2006/main">
            <a:srgbClr val="FF5E4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6D27E12-1950-4742-9975-6F001004CCF3}"/>
              </a:ext>
            </a:extLst>
          </p:cNvPr>
          <p:cNvSpPr>
            <a:spLocks xmlns:a="http://schemas.openxmlformats.org/drawingml/2006/main" noGrp="1"/>
          </p:cNvSpPr>
          <p:nvPr/>
        </p:nvSpPr>
        <p:spPr>
          <a:xfrm xmlns:a="http://schemas.openxmlformats.org/drawingml/2006/main">
            <a:off x="9258300" y="3276600"/>
            <a:ext cx="1028700" cy="1028700"/>
          </a:xfrm>
          <a:prstGeom xmlns:a="http://schemas.openxmlformats.org/drawingml/2006/main" prst="ellipse">
            <a:avLst/>
          </a:prstGeom>
          <a:solidFill xmlns:a="http://schemas.openxmlformats.org/drawingml/2006/main">
            <a:srgbClr val="C8FF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83B9272-FE94-41C3-9917-32E37DC9BC77}"/>
              </a:ext>
            </a:extLst>
          </p:cNvPr>
          <p:cNvSpPr>
            <a:spLocks xmlns:a="http://schemas.openxmlformats.org/drawingml/2006/main" noGrp="1"/>
          </p:cNvSpPr>
          <p:nvPr/>
        </p:nvSpPr>
        <p:spPr>
          <a:xfrm xmlns:a="http://schemas.openxmlformats.org/drawingml/2006/main">
            <a:off x="1485900" y="4781550"/>
            <a:ext cx="1866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F0EEE8"/>
                </a:solidFill>
              </a:defRPr>
            </a:pPr>
            <a:r>
              <a:rPr sz="1725" b="1">
                <a:solidFill>
                  <a:srgbClr val="F0EEE8"/>
                </a:solidFill>
              </a:rPr>
              <a:t>FEEL</a:t>
            </a:r>
          </a:p>
        </p:txBody>
      </p:sp>
      <p:sp>
        <p:nvSpPr>
          <p:cNvPr id="12" name="">
            <a:extLst xmlns:a="http://schemas.openxmlformats.org/drawingml/2006/main">
              <a:ext uri="{FF2B5EF4-FFF2-40B4-BE49-F238E27FC236}">
                <a16:creationId xmlns:a16="http://schemas.microsoft.com/office/drawing/2014/main" id="{6509BF01-D80C-4F96-9C21-0ED8A728A194}"/>
              </a:ext>
            </a:extLst>
          </p:cNvPr>
          <p:cNvSpPr>
            <a:spLocks xmlns:a="http://schemas.openxmlformats.org/drawingml/2006/main" noGrp="1"/>
          </p:cNvSpPr>
          <p:nvPr/>
        </p:nvSpPr>
        <p:spPr>
          <a:xfrm xmlns:a="http://schemas.openxmlformats.org/drawingml/2006/main">
            <a:off x="8839200" y="4781550"/>
            <a:ext cx="1866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F0EEE8"/>
                </a:solidFill>
              </a:defRPr>
            </a:pPr>
            <a:r>
              <a:rPr sz="1725" b="1">
                <a:solidFill>
                  <a:srgbClr val="F0EEE8"/>
                </a:solidFill>
              </a:rPr>
              <a:t>HOLD</a:t>
            </a:r>
          </a:p>
        </p:txBody>
      </p:sp>
      <p:sp>
        <p:nvSpPr>
          <p:cNvPr id="13" name="">
            <a:extLst xmlns:a="http://schemas.openxmlformats.org/drawingml/2006/main">
              <a:ext uri="{FF2B5EF4-FFF2-40B4-BE49-F238E27FC236}">
                <a16:creationId xmlns:a16="http://schemas.microsoft.com/office/drawing/2014/main" id="{267BE837-5E90-4BF6-BB10-880C24B309E9}"/>
              </a:ext>
            </a:extLst>
          </p:cNvPr>
          <p:cNvSpPr>
            <a:spLocks xmlns:a="http://schemas.openxmlformats.org/drawingml/2006/main" noGrp="1"/>
          </p:cNvSpPr>
          <p:nvPr/>
        </p:nvSpPr>
        <p:spPr>
          <a:xfrm xmlns:a="http://schemas.openxmlformats.org/drawingml/2006/main">
            <a:off x="3752850" y="3990975"/>
            <a:ext cx="4686300" cy="19050"/>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B347298-ACF1-4046-879E-6282B641E89C}"/>
              </a:ext>
            </a:extLst>
          </p:cNvPr>
          <p:cNvSpPr>
            <a:spLocks xmlns:a="http://schemas.openxmlformats.org/drawingml/2006/main" noGrp="1"/>
          </p:cNvSpPr>
          <p:nvPr/>
        </p:nvSpPr>
        <p:spPr>
          <a:xfrm xmlns:a="http://schemas.openxmlformats.org/drawingml/2006/main">
            <a:off x="5334000" y="3124200"/>
            <a:ext cx="1524000" cy="1524000"/>
          </a:xfrm>
          <a:prstGeom xmlns:a="http://schemas.openxmlformats.org/drawingml/2006/main" prst="ellipse">
            <a:avLst/>
          </a:prstGeom>
          <a:solidFill xmlns:a="http://schemas.openxmlformats.org/drawingml/2006/main">
            <a:srgbClr val="07070B"/>
          </a:solidFill>
          <a:ln xmlns:a="http://schemas.openxmlformats.org/drawingml/2006/main" w="19050">
            <a:solidFill>
              <a:srgbClr val="F0EEE8"/>
            </a:solidFill>
            <a:prstDash val="solid"/>
          </a:ln>
        </p:spPr>
      </p:sp>
      <p:sp>
        <p:nvSpPr>
          <p:cNvPr id="15" name="">
            <a:extLst xmlns:a="http://schemas.openxmlformats.org/drawingml/2006/main">
              <a:ext uri="{FF2B5EF4-FFF2-40B4-BE49-F238E27FC236}">
                <a16:creationId xmlns:a16="http://schemas.microsoft.com/office/drawing/2014/main" id="{180E349B-2CAD-47F2-B31A-DF16FA0D6CEB}"/>
              </a:ext>
            </a:extLst>
          </p:cNvPr>
          <p:cNvSpPr>
            <a:spLocks xmlns:a="http://schemas.openxmlformats.org/drawingml/2006/main" noGrp="1"/>
          </p:cNvSpPr>
          <p:nvPr/>
        </p:nvSpPr>
        <p:spPr>
          <a:xfrm xmlns:a="http://schemas.openxmlformats.org/drawingml/2006/main">
            <a:off x="5334000" y="3209925"/>
            <a:ext cx="1524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5400" b="1">
                <a:solidFill>
                  <a:srgbClr val="F0EEE8"/>
                </a:solidFill>
              </a:defRPr>
            </a:pPr>
            <a:r>
              <a:rPr sz="5400" b="1">
                <a:solidFill>
                  <a:srgbClr val="F0EEE8"/>
                </a:solidFill>
              </a:rPr>
              <a:t>8</a:t>
            </a:r>
          </a:p>
        </p:txBody>
      </p:sp>
      <p:sp>
        <p:nvSpPr>
          <p:cNvPr id="16" name="">
            <a:extLst xmlns:a="http://schemas.openxmlformats.org/drawingml/2006/main">
              <a:ext uri="{FF2B5EF4-FFF2-40B4-BE49-F238E27FC236}">
                <a16:creationId xmlns:a16="http://schemas.microsoft.com/office/drawing/2014/main" id="{0588739A-C624-4F48-869D-CB4690F74B25}"/>
              </a:ext>
            </a:extLst>
          </p:cNvPr>
          <p:cNvSpPr>
            <a:spLocks xmlns:a="http://schemas.openxmlformats.org/drawingml/2006/main" noGrp="1"/>
          </p:cNvSpPr>
          <p:nvPr/>
        </p:nvSpPr>
        <p:spPr>
          <a:xfrm xmlns:a="http://schemas.openxmlformats.org/drawingml/2006/main">
            <a:off x="5429250" y="4048125"/>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00" b="1">
                <a:solidFill>
                  <a:srgbClr val="AAA9A3"/>
                </a:solidFill>
              </a:defRPr>
            </a:pPr>
            <a:r>
              <a:rPr sz="900" b="1">
                <a:solidFill>
                  <a:srgbClr val="AAA9A3"/>
                </a:solidFill>
              </a:rPr>
              <a:t>SECONDS</a:t>
            </a:r>
          </a:p>
          <a:p xmlns:a="http://schemas.openxmlformats.org/drawingml/2006/main">
            <a:pPr algn="ctr">
              <a:defRPr sz="900" b="1">
                <a:solidFill>
                  <a:srgbClr val="AAA9A3"/>
                </a:solidFill>
              </a:defRPr>
            </a:pPr>
            <a:r>
              <a:rPr sz="900" b="1">
                <a:solidFill>
                  <a:srgbClr val="AAA9A3"/>
                </a:solidFill>
              </a:rPr>
              <a:t>OF SHARED LIGHT</a:t>
            </a:r>
          </a:p>
        </p:txBody>
      </p:sp>
    </p:spTree>
    <p:extLst>
      <p:ext uri="{BB962C8B-B14F-4D97-AF65-F5344CB8AC3E}">
        <p14:creationId xmlns:p14="http://schemas.microsoft.com/office/powerpoint/2010/main" val="1554983219"/>
      </p:ext>
    </p:extLst>
  </p:cSld>
</p:sld>
</file>

<file path=ppt/slides/slide5.xml><?xml version="1.0" encoding="utf-8"?>
<p:sld xmlns:p="http://schemas.openxmlformats.org/presentationml/2006/main">
  <p:cSld>
    <p:bg>
      <p:bgPr>
        <a:solidFill xmlns:a="http://schemas.openxmlformats.org/drawingml/2006/main">
          <a:srgbClr val="07070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2E89DE8-CD78-4DA5-B11A-20E1D0801884}"/>
              </a:ext>
            </a:extLst>
          </p:cNvPr>
          <p:cNvSpPr>
            <a:spLocks xmlns:a="http://schemas.openxmlformats.org/drawingml/2006/main" noGrp="1"/>
          </p:cNvSpPr>
          <p:nvPr/>
        </p:nvSpPr>
        <p:spPr>
          <a:xfrm xmlns:a="http://schemas.openxmlformats.org/drawingml/2006/main">
            <a:off x="685800" y="4572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5E45"/>
                </a:solidFill>
              </a:defRPr>
            </a:pPr>
            <a:r>
              <a:rPr sz="975" b="1">
                <a:solidFill>
                  <a:srgbClr val="FF5E45"/>
                </a:solidFill>
              </a:rPr>
              <a:t>05 / 10</a:t>
            </a:r>
          </a:p>
        </p:txBody>
      </p:sp>
      <p:sp>
        <p:nvSpPr>
          <p:cNvPr id="2" name="">
            <a:extLst xmlns:a="http://schemas.openxmlformats.org/drawingml/2006/main">
              <a:ext uri="{FF2B5EF4-FFF2-40B4-BE49-F238E27FC236}">
                <a16:creationId xmlns:a16="http://schemas.microsoft.com/office/drawing/2014/main" id="{020FE630-3677-45FF-B819-EF180C29C836}"/>
              </a:ext>
            </a:extLst>
          </p:cNvPr>
          <p:cNvSpPr>
            <a:spLocks xmlns:a="http://schemas.openxmlformats.org/drawingml/2006/main" noGrp="1"/>
          </p:cNvSpPr>
          <p:nvPr/>
        </p:nvSpPr>
        <p:spPr>
          <a:xfrm xmlns:a="http://schemas.openxmlformats.org/drawingml/2006/main">
            <a:off x="20193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AAA9A3"/>
                </a:solidFill>
              </a:defRPr>
            </a:pPr>
            <a:r>
              <a:rPr sz="975" b="1">
                <a:solidFill>
                  <a:srgbClr val="AAA9A3"/>
                </a:solidFill>
              </a:rPr>
              <a:t>OPENAI WITH A JOB</a:t>
            </a:r>
          </a:p>
        </p:txBody>
      </p:sp>
      <p:sp>
        <p:nvSpPr>
          <p:cNvPr id="3" name="">
            <a:extLst xmlns:a="http://schemas.openxmlformats.org/drawingml/2006/main">
              <a:ext uri="{FF2B5EF4-FFF2-40B4-BE49-F238E27FC236}">
                <a16:creationId xmlns:a16="http://schemas.microsoft.com/office/drawing/2014/main" id="{E5217989-6EA1-4D49-8F3C-2F5EBB1E264B}"/>
              </a:ext>
            </a:extLst>
          </p:cNvPr>
          <p:cNvSpPr>
            <a:spLocks xmlns:a="http://schemas.openxmlformats.org/drawingml/2006/main" noGrp="1"/>
          </p:cNvSpPr>
          <p:nvPr/>
        </p:nvSpPr>
        <p:spPr>
          <a:xfrm xmlns:a="http://schemas.openxmlformats.org/drawingml/2006/main">
            <a:off x="685800" y="781050"/>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1CBD920-30F2-4D19-8137-D6D52DC5B085}"/>
              </a:ext>
            </a:extLst>
          </p:cNvPr>
          <p:cNvSpPr>
            <a:spLocks xmlns:a="http://schemas.openxmlformats.org/drawingml/2006/main" noGrp="1"/>
          </p:cNvSpPr>
          <p:nvPr/>
        </p:nvSpPr>
        <p:spPr>
          <a:xfrm xmlns:a="http://schemas.openxmlformats.org/drawingml/2006/main">
            <a:off x="685800" y="1028700"/>
            <a:ext cx="1028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a:solidFill>
                  <a:srgbClr val="F0EEE8"/>
                </a:solidFill>
              </a:defRPr>
            </a:pPr>
            <a:r>
              <a:rPr sz="3750" b="1">
                <a:solidFill>
                  <a:srgbClr val="F0EEE8"/>
                </a:solidFill>
              </a:rPr>
              <a:t>Facts in. Feeling out. A human always decides.</a:t>
            </a:r>
          </a:p>
        </p:txBody>
      </p:sp>
      <p:sp>
        <p:nvSpPr>
          <p:cNvPr id="5" name="">
            <a:extLst xmlns:a="http://schemas.openxmlformats.org/drawingml/2006/main">
              <a:ext uri="{FF2B5EF4-FFF2-40B4-BE49-F238E27FC236}">
                <a16:creationId xmlns:a16="http://schemas.microsoft.com/office/drawing/2014/main" id="{DDEFA896-5A94-4270-A79E-5A83A144BA9C}"/>
              </a:ext>
            </a:extLst>
          </p:cNvPr>
          <p:cNvSpPr>
            <a:spLocks xmlns:a="http://schemas.openxmlformats.org/drawingml/2006/main" noGrp="1"/>
          </p:cNvSpPr>
          <p:nvPr/>
        </p:nvSpPr>
        <p:spPr>
          <a:xfrm xmlns:a="http://schemas.openxmlformats.org/drawingml/2006/main">
            <a:off x="1809750" y="3571875"/>
            <a:ext cx="8572500" cy="19050"/>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6D4E961-1E93-4587-B838-0EEDD3503878}"/>
              </a:ext>
            </a:extLst>
          </p:cNvPr>
          <p:cNvSpPr>
            <a:spLocks xmlns:a="http://schemas.openxmlformats.org/drawingml/2006/main" noGrp="1"/>
          </p:cNvSpPr>
          <p:nvPr/>
        </p:nvSpPr>
        <p:spPr>
          <a:xfrm xmlns:a="http://schemas.openxmlformats.org/drawingml/2006/main">
            <a:off x="685800" y="24003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FF5E45"/>
                </a:solidFill>
              </a:defRPr>
            </a:pPr>
            <a:r>
              <a:rPr sz="1125" b="1">
                <a:solidFill>
                  <a:srgbClr val="FF5E45"/>
                </a:solidFill>
              </a:rPr>
              <a:t>FIELD FACTS</a:t>
            </a:r>
          </a:p>
        </p:txBody>
      </p:sp>
      <p:sp>
        <p:nvSpPr>
          <p:cNvPr id="7" name="">
            <a:extLst xmlns:a="http://schemas.openxmlformats.org/drawingml/2006/main">
              <a:ext uri="{FF2B5EF4-FFF2-40B4-BE49-F238E27FC236}">
                <a16:creationId xmlns:a16="http://schemas.microsoft.com/office/drawing/2014/main" id="{BEC49935-C3D8-44FC-9489-54CA0248188C}"/>
              </a:ext>
            </a:extLst>
          </p:cNvPr>
          <p:cNvSpPr>
            <a:spLocks xmlns:a="http://schemas.openxmlformats.org/drawingml/2006/main" noGrp="1"/>
          </p:cNvSpPr>
          <p:nvPr/>
        </p:nvSpPr>
        <p:spPr>
          <a:xfrm xmlns:a="http://schemas.openxmlformats.org/drawingml/2006/main">
            <a:off x="685800" y="2952750"/>
            <a:ext cx="3048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F0EEE8"/>
                </a:solidFill>
              </a:defRPr>
            </a:pPr>
            <a:r>
              <a:rPr sz="1875" b="1">
                <a:solidFill>
                  <a:srgbClr val="F0EEE8"/>
                </a:solidFill>
              </a:rPr>
              <a:t>cool air</a:t>
            </a:r>
          </a:p>
          <a:p xmlns:a="http://schemas.openxmlformats.org/drawingml/2006/main">
            <a:pPr algn="l">
              <a:defRPr sz="1875" b="1">
                <a:solidFill>
                  <a:srgbClr val="F0EEE8"/>
                </a:solidFill>
              </a:defRPr>
            </a:pPr>
            <a:r>
              <a:rPr sz="1875" b="1">
                <a:solidFill>
                  <a:srgbClr val="F0EEE8"/>
                </a:solidFill>
              </a:rPr>
              <a:t>amber beam</a:t>
            </a:r>
          </a:p>
          <a:p xmlns:a="http://schemas.openxmlformats.org/drawingml/2006/main">
            <a:pPr algn="l">
              <a:defRPr sz="1875" b="1">
                <a:solidFill>
                  <a:srgbClr val="F0EEE8"/>
                </a:solidFill>
              </a:defRPr>
            </a:pPr>
            <a:r>
              <a:rPr sz="1875" b="1">
                <a:solidFill>
                  <a:srgbClr val="F0EEE8"/>
                </a:solidFill>
              </a:rPr>
              <a:t>82 / 100 energy</a:t>
            </a:r>
          </a:p>
        </p:txBody>
      </p:sp>
      <p:sp>
        <p:nvSpPr>
          <p:cNvPr id="8" name="">
            <a:extLst xmlns:a="http://schemas.openxmlformats.org/drawingml/2006/main">
              <a:ext uri="{FF2B5EF4-FFF2-40B4-BE49-F238E27FC236}">
                <a16:creationId xmlns:a16="http://schemas.microsoft.com/office/drawing/2014/main" id="{DD27434A-22BC-4E96-90B1-24401E6B2737}"/>
              </a:ext>
            </a:extLst>
          </p:cNvPr>
          <p:cNvSpPr>
            <a:spLocks xmlns:a="http://schemas.openxmlformats.org/drawingml/2006/main" noGrp="1"/>
          </p:cNvSpPr>
          <p:nvPr/>
        </p:nvSpPr>
        <p:spPr>
          <a:xfrm xmlns:a="http://schemas.openxmlformats.org/drawingml/2006/main">
            <a:off x="3800475" y="3362325"/>
            <a:ext cx="428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250" b="1">
                <a:solidFill>
                  <a:srgbClr val="FF5E45"/>
                </a:solidFill>
              </a:defRPr>
            </a:pPr>
            <a:r>
              <a:rPr sz="2250" b="1">
                <a:solidFill>
                  <a:srgbClr val="FF5E45"/>
                </a:solidFill>
              </a:rPr>
              <a:t>→</a:t>
            </a:r>
          </a:p>
        </p:txBody>
      </p:sp>
      <p:sp>
        <p:nvSpPr>
          <p:cNvPr id="9" name="">
            <a:extLst xmlns:a="http://schemas.openxmlformats.org/drawingml/2006/main">
              <a:ext uri="{FF2B5EF4-FFF2-40B4-BE49-F238E27FC236}">
                <a16:creationId xmlns:a16="http://schemas.microsoft.com/office/drawing/2014/main" id="{AD6A9A70-5B40-4AF6-A4B8-32B7909C6984}"/>
              </a:ext>
            </a:extLst>
          </p:cNvPr>
          <p:cNvSpPr>
            <a:spLocks xmlns:a="http://schemas.openxmlformats.org/drawingml/2006/main" noGrp="1"/>
          </p:cNvSpPr>
          <p:nvPr/>
        </p:nvSpPr>
        <p:spPr>
          <a:xfrm xmlns:a="http://schemas.openxmlformats.org/drawingml/2006/main">
            <a:off x="4457700" y="24003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C8FF4A"/>
                </a:solidFill>
              </a:defRPr>
            </a:pPr>
            <a:r>
              <a:rPr sz="1125" b="1">
                <a:solidFill>
                  <a:srgbClr val="C8FF4A"/>
                </a:solidFill>
              </a:rPr>
              <a:t>OPENAI</a:t>
            </a:r>
          </a:p>
        </p:txBody>
      </p:sp>
      <p:sp>
        <p:nvSpPr>
          <p:cNvPr id="10" name="">
            <a:extLst xmlns:a="http://schemas.openxmlformats.org/drawingml/2006/main">
              <a:ext uri="{FF2B5EF4-FFF2-40B4-BE49-F238E27FC236}">
                <a16:creationId xmlns:a16="http://schemas.microsoft.com/office/drawing/2014/main" id="{78E4DF9B-72C5-4EF2-88A5-8701F5CA9511}"/>
              </a:ext>
            </a:extLst>
          </p:cNvPr>
          <p:cNvSpPr>
            <a:spLocks xmlns:a="http://schemas.openxmlformats.org/drawingml/2006/main" noGrp="1"/>
          </p:cNvSpPr>
          <p:nvPr/>
        </p:nvSpPr>
        <p:spPr>
          <a:xfrm xmlns:a="http://schemas.openxmlformats.org/drawingml/2006/main">
            <a:off x="4457700" y="2952750"/>
            <a:ext cx="3048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F0EEE8"/>
                </a:solidFill>
              </a:defRPr>
            </a:pPr>
            <a:r>
              <a:rPr sz="1875" b="1">
                <a:solidFill>
                  <a:srgbClr val="F0EEE8"/>
                </a:solidFill>
              </a:rPr>
              <a:t>constrained translation</a:t>
            </a:r>
          </a:p>
          <a:p xmlns:a="http://schemas.openxmlformats.org/drawingml/2006/main">
            <a:pPr algn="l">
              <a:defRPr sz="1875" b="1">
                <a:solidFill>
                  <a:srgbClr val="F0EEE8"/>
                </a:solidFill>
              </a:defRPr>
            </a:pPr>
            <a:r>
              <a:rPr sz="1875" b="1">
                <a:solidFill>
                  <a:srgbClr val="F0EEE8"/>
                </a:solidFill>
              </a:rPr>
              <a:t>accessible alt text</a:t>
            </a:r>
          </a:p>
          <a:p xmlns:a="http://schemas.openxmlformats.org/drawingml/2006/main">
            <a:pPr algn="l">
              <a:defRPr sz="1875" b="1">
                <a:solidFill>
                  <a:srgbClr val="F0EEE8"/>
                </a:solidFill>
              </a:defRPr>
            </a:pPr>
            <a:r>
              <a:rPr sz="1875" b="1">
                <a:solidFill>
                  <a:srgbClr val="F0EEE8"/>
                </a:solidFill>
              </a:rPr>
              <a:t>strict structured output</a:t>
            </a:r>
          </a:p>
        </p:txBody>
      </p:sp>
      <p:sp>
        <p:nvSpPr>
          <p:cNvPr id="11" name="">
            <a:extLst xmlns:a="http://schemas.openxmlformats.org/drawingml/2006/main">
              <a:ext uri="{FF2B5EF4-FFF2-40B4-BE49-F238E27FC236}">
                <a16:creationId xmlns:a16="http://schemas.microsoft.com/office/drawing/2014/main" id="{280FAB4A-D601-445B-80E0-34FF660686A0}"/>
              </a:ext>
            </a:extLst>
          </p:cNvPr>
          <p:cNvSpPr>
            <a:spLocks xmlns:a="http://schemas.openxmlformats.org/drawingml/2006/main" noGrp="1"/>
          </p:cNvSpPr>
          <p:nvPr/>
        </p:nvSpPr>
        <p:spPr>
          <a:xfrm xmlns:a="http://schemas.openxmlformats.org/drawingml/2006/main">
            <a:off x="7572375" y="3362325"/>
            <a:ext cx="428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250" b="1">
                <a:solidFill>
                  <a:srgbClr val="FF5E45"/>
                </a:solidFill>
              </a:defRPr>
            </a:pPr>
            <a:r>
              <a:rPr sz="2250" b="1">
                <a:solidFill>
                  <a:srgbClr val="FF5E45"/>
                </a:solidFill>
              </a:rPr>
              <a:t>→</a:t>
            </a:r>
          </a:p>
        </p:txBody>
      </p:sp>
      <p:sp>
        <p:nvSpPr>
          <p:cNvPr id="12" name="">
            <a:extLst xmlns:a="http://schemas.openxmlformats.org/drawingml/2006/main">
              <a:ext uri="{FF2B5EF4-FFF2-40B4-BE49-F238E27FC236}">
                <a16:creationId xmlns:a16="http://schemas.microsoft.com/office/drawing/2014/main" id="{4F3958AD-FFC4-4C71-94A9-52AAE21E0985}"/>
              </a:ext>
            </a:extLst>
          </p:cNvPr>
          <p:cNvSpPr>
            <a:spLocks xmlns:a="http://schemas.openxmlformats.org/drawingml/2006/main" noGrp="1"/>
          </p:cNvSpPr>
          <p:nvPr/>
        </p:nvSpPr>
        <p:spPr>
          <a:xfrm xmlns:a="http://schemas.openxmlformats.org/drawingml/2006/main">
            <a:off x="8229600" y="24003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F0EEE8"/>
                </a:solidFill>
              </a:defRPr>
            </a:pPr>
            <a:r>
              <a:rPr sz="1125" b="1">
                <a:solidFill>
                  <a:srgbClr val="F0EEE8"/>
                </a:solidFill>
              </a:rPr>
              <a:t>HUMAN REVIEW</a:t>
            </a:r>
          </a:p>
        </p:txBody>
      </p:sp>
      <p:sp>
        <p:nvSpPr>
          <p:cNvPr id="13" name="">
            <a:extLst xmlns:a="http://schemas.openxmlformats.org/drawingml/2006/main">
              <a:ext uri="{FF2B5EF4-FFF2-40B4-BE49-F238E27FC236}">
                <a16:creationId xmlns:a16="http://schemas.microsoft.com/office/drawing/2014/main" id="{D2928BCC-E079-4E0F-AD34-589F99311C4D}"/>
              </a:ext>
            </a:extLst>
          </p:cNvPr>
          <p:cNvSpPr>
            <a:spLocks xmlns:a="http://schemas.openxmlformats.org/drawingml/2006/main" noGrp="1"/>
          </p:cNvSpPr>
          <p:nvPr/>
        </p:nvSpPr>
        <p:spPr>
          <a:xfrm xmlns:a="http://schemas.openxmlformats.org/drawingml/2006/main">
            <a:off x="8229600" y="2952750"/>
            <a:ext cx="3048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F0EEE8"/>
                </a:solidFill>
              </a:defRPr>
            </a:pPr>
            <a:r>
              <a:rPr sz="1875" b="1">
                <a:solidFill>
                  <a:srgbClr val="F0EEE8"/>
                </a:solidFill>
              </a:rPr>
              <a:t>edit nothing</a:t>
            </a:r>
          </a:p>
          <a:p xmlns:a="http://schemas.openxmlformats.org/drawingml/2006/main">
            <a:pPr algn="l">
              <a:defRPr sz="1875" b="1">
                <a:solidFill>
                  <a:srgbClr val="F0EEE8"/>
                </a:solidFill>
              </a:defRPr>
            </a:pPr>
            <a:r>
              <a:rPr sz="1875" b="1">
                <a:solidFill>
                  <a:srgbClr val="F0EEE8"/>
                </a:solidFill>
              </a:rPr>
              <a:t>approve everything</a:t>
            </a:r>
          </a:p>
          <a:p xmlns:a="http://schemas.openxmlformats.org/drawingml/2006/main">
            <a:pPr algn="l">
              <a:defRPr sz="1875" b="1">
                <a:solidFill>
                  <a:srgbClr val="F0EEE8"/>
                </a:solidFill>
              </a:defRPr>
            </a:pPr>
            <a:r>
              <a:rPr sz="1875" b="1">
                <a:solidFill>
                  <a:srgbClr val="F0EEE8"/>
                </a:solidFill>
              </a:rPr>
              <a:t>then publish once</a:t>
            </a:r>
          </a:p>
        </p:txBody>
      </p:sp>
      <p:sp>
        <p:nvSpPr>
          <p:cNvPr id="14" name="">
            <a:extLst xmlns:a="http://schemas.openxmlformats.org/drawingml/2006/main">
              <a:ext uri="{FF2B5EF4-FFF2-40B4-BE49-F238E27FC236}">
                <a16:creationId xmlns:a16="http://schemas.microsoft.com/office/drawing/2014/main" id="{F06CF87E-1198-4936-AE6B-610F2B5506D2}"/>
              </a:ext>
            </a:extLst>
          </p:cNvPr>
          <p:cNvSpPr>
            <a:spLocks xmlns:a="http://schemas.openxmlformats.org/drawingml/2006/main" noGrp="1"/>
          </p:cNvSpPr>
          <p:nvPr/>
        </p:nvSpPr>
        <p:spPr>
          <a:xfrm xmlns:a="http://schemas.openxmlformats.org/drawingml/2006/main">
            <a:off x="685800" y="5829300"/>
            <a:ext cx="10820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1">
                <a:solidFill>
                  <a:srgbClr val="AAA9A3"/>
                </a:solidFill>
              </a:defRPr>
            </a:pPr>
            <a:r>
              <a:rPr sz="975" b="1">
                <a:solidFill>
                  <a:srgbClr val="AAA9A3"/>
                </a:solidFill>
              </a:rPr>
              <a:t>NO LYRICS · NO FACE IDENTIFICATION · NO INFERRED EMOTION · NO INVENTED WEATHER</a:t>
            </a:r>
          </a:p>
        </p:txBody>
      </p:sp>
    </p:spTree>
    <p:extLst>
      <p:ext uri="{BB962C8B-B14F-4D97-AF65-F5344CB8AC3E}">
        <p14:creationId xmlns:p14="http://schemas.microsoft.com/office/powerpoint/2010/main" val="764790533"/>
      </p:ext>
    </p:extLst>
  </p:cSld>
</p:sld>
</file>

<file path=ppt/slides/slide6.xml><?xml version="1.0" encoding="utf-8"?>
<p:sld xmlns:p="http://schemas.openxmlformats.org/presentationml/2006/main">
  <p:cSld>
    <p:bg>
      <p:bgPr>
        <a:solidFill xmlns:a="http://schemas.openxmlformats.org/drawingml/2006/main">
          <a:srgbClr val="07070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B0B3691-CC79-43DE-9DB7-222D933EAFD1}"/>
              </a:ext>
            </a:extLst>
          </p:cNvPr>
          <p:cNvSpPr>
            <a:spLocks xmlns:a="http://schemas.openxmlformats.org/drawingml/2006/main" noGrp="1"/>
          </p:cNvSpPr>
          <p:nvPr/>
        </p:nvSpPr>
        <p:spPr>
          <a:xfrm xmlns:a="http://schemas.openxmlformats.org/drawingml/2006/main">
            <a:off x="685800" y="4572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5E45"/>
                </a:solidFill>
              </a:defRPr>
            </a:pPr>
            <a:r>
              <a:rPr sz="975" b="1">
                <a:solidFill>
                  <a:srgbClr val="FF5E45"/>
                </a:solidFill>
              </a:rPr>
              <a:t>06 / 10</a:t>
            </a:r>
          </a:p>
        </p:txBody>
      </p:sp>
      <p:sp>
        <p:nvSpPr>
          <p:cNvPr id="2" name="">
            <a:extLst xmlns:a="http://schemas.openxmlformats.org/drawingml/2006/main">
              <a:ext uri="{FF2B5EF4-FFF2-40B4-BE49-F238E27FC236}">
                <a16:creationId xmlns:a16="http://schemas.microsoft.com/office/drawing/2014/main" id="{3EFB811D-07D6-455F-88E8-5B8B40932357}"/>
              </a:ext>
            </a:extLst>
          </p:cNvPr>
          <p:cNvSpPr>
            <a:spLocks xmlns:a="http://schemas.openxmlformats.org/drawingml/2006/main" noGrp="1"/>
          </p:cNvSpPr>
          <p:nvPr/>
        </p:nvSpPr>
        <p:spPr>
          <a:xfrm xmlns:a="http://schemas.openxmlformats.org/drawingml/2006/main">
            <a:off x="20193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AAA9A3"/>
                </a:solidFill>
              </a:defRPr>
            </a:pPr>
            <a:r>
              <a:rPr sz="975" b="1">
                <a:solidFill>
                  <a:srgbClr val="AAA9A3"/>
                </a:solidFill>
              </a:rPr>
              <a:t>SPONSOR STACK</a:t>
            </a:r>
          </a:p>
        </p:txBody>
      </p:sp>
      <p:sp>
        <p:nvSpPr>
          <p:cNvPr id="3" name="">
            <a:extLst xmlns:a="http://schemas.openxmlformats.org/drawingml/2006/main">
              <a:ext uri="{FF2B5EF4-FFF2-40B4-BE49-F238E27FC236}">
                <a16:creationId xmlns:a16="http://schemas.microsoft.com/office/drawing/2014/main" id="{CDD5C512-7404-4ABA-BA65-7025531C4484}"/>
              </a:ext>
            </a:extLst>
          </p:cNvPr>
          <p:cNvSpPr>
            <a:spLocks xmlns:a="http://schemas.openxmlformats.org/drawingml/2006/main" noGrp="1"/>
          </p:cNvSpPr>
          <p:nvPr/>
        </p:nvSpPr>
        <p:spPr>
          <a:xfrm xmlns:a="http://schemas.openxmlformats.org/drawingml/2006/main">
            <a:off x="685800" y="781050"/>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3989E88-234F-41FF-A585-8264848F597C}"/>
              </a:ext>
            </a:extLst>
          </p:cNvPr>
          <p:cNvSpPr>
            <a:spLocks xmlns:a="http://schemas.openxmlformats.org/drawingml/2006/main" noGrp="1"/>
          </p:cNvSpPr>
          <p:nvPr/>
        </p:nvSpPr>
        <p:spPr>
          <a:xfrm xmlns:a="http://schemas.openxmlformats.org/drawingml/2006/main">
            <a:off x="685800" y="1028700"/>
            <a:ext cx="1028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a:solidFill>
                  <a:srgbClr val="F0EEE8"/>
                </a:solidFill>
              </a:defRPr>
            </a:pPr>
            <a:r>
              <a:rPr sz="3750" b="1">
                <a:solidFill>
                  <a:srgbClr val="F0EEE8"/>
                </a:solidFill>
              </a:rPr>
              <a:t>Every dependency strengthens the ritual. None can break it.</a:t>
            </a:r>
          </a:p>
        </p:txBody>
      </p:sp>
      <p:sp>
        <p:nvSpPr>
          <p:cNvPr id="5" name="">
            <a:extLst xmlns:a="http://schemas.openxmlformats.org/drawingml/2006/main">
              <a:ext uri="{FF2B5EF4-FFF2-40B4-BE49-F238E27FC236}">
                <a16:creationId xmlns:a16="http://schemas.microsoft.com/office/drawing/2014/main" id="{62CEA18A-11B7-4A3F-BC4A-6839344A6275}"/>
              </a:ext>
            </a:extLst>
          </p:cNvPr>
          <p:cNvSpPr>
            <a:spLocks xmlns:a="http://schemas.openxmlformats.org/drawingml/2006/main" noGrp="1"/>
          </p:cNvSpPr>
          <p:nvPr/>
        </p:nvSpPr>
        <p:spPr>
          <a:xfrm xmlns:a="http://schemas.openxmlformats.org/drawingml/2006/main">
            <a:off x="685800" y="2466975"/>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84A0763-5796-4C41-84F4-4B07DA60102D}"/>
              </a:ext>
            </a:extLst>
          </p:cNvPr>
          <p:cNvSpPr>
            <a:spLocks xmlns:a="http://schemas.openxmlformats.org/drawingml/2006/main" noGrp="1"/>
          </p:cNvSpPr>
          <p:nvPr/>
        </p:nvSpPr>
        <p:spPr>
          <a:xfrm xmlns:a="http://schemas.openxmlformats.org/drawingml/2006/main">
            <a:off x="685800" y="2619375"/>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0EEE8"/>
                </a:solidFill>
              </a:defRPr>
            </a:pPr>
            <a:r>
              <a:rPr sz="1575" b="1">
                <a:solidFill>
                  <a:srgbClr val="F0EEE8"/>
                </a:solidFill>
              </a:rPr>
              <a:t>OPENAI</a:t>
            </a:r>
          </a:p>
        </p:txBody>
      </p:sp>
      <p:sp>
        <p:nvSpPr>
          <p:cNvPr id="7" name="">
            <a:extLst xmlns:a="http://schemas.openxmlformats.org/drawingml/2006/main">
              <a:ext uri="{FF2B5EF4-FFF2-40B4-BE49-F238E27FC236}">
                <a16:creationId xmlns:a16="http://schemas.microsoft.com/office/drawing/2014/main" id="{2ABED83C-043A-4A4E-A462-DA1ED9867306}"/>
              </a:ext>
            </a:extLst>
          </p:cNvPr>
          <p:cNvSpPr>
            <a:spLocks xmlns:a="http://schemas.openxmlformats.org/drawingml/2006/main" noGrp="1"/>
          </p:cNvSpPr>
          <p:nvPr/>
        </p:nvSpPr>
        <p:spPr>
          <a:xfrm xmlns:a="http://schemas.openxmlformats.org/drawingml/2006/main">
            <a:off x="3238500" y="2619375"/>
            <a:ext cx="561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AAA9A3"/>
                </a:solidFill>
              </a:defRPr>
            </a:pPr>
            <a:r>
              <a:rPr sz="1725" b="0">
                <a:solidFill>
                  <a:srgbClr val="AAA9A3"/>
                </a:solidFill>
              </a:rPr>
              <a:t>multimodal → constrained sensory language</a:t>
            </a:r>
          </a:p>
        </p:txBody>
      </p:sp>
      <p:sp>
        <p:nvSpPr>
          <p:cNvPr id="8" name="">
            <a:extLst xmlns:a="http://schemas.openxmlformats.org/drawingml/2006/main">
              <a:ext uri="{FF2B5EF4-FFF2-40B4-BE49-F238E27FC236}">
                <a16:creationId xmlns:a16="http://schemas.microsoft.com/office/drawing/2014/main" id="{C43EDDA8-C8F9-4C0D-9C96-A6169A39BA53}"/>
              </a:ext>
            </a:extLst>
          </p:cNvPr>
          <p:cNvSpPr>
            <a:spLocks xmlns:a="http://schemas.openxmlformats.org/drawingml/2006/main" noGrp="1"/>
          </p:cNvSpPr>
          <p:nvPr/>
        </p:nvSpPr>
        <p:spPr>
          <a:xfrm xmlns:a="http://schemas.openxmlformats.org/drawingml/2006/main">
            <a:off x="9067800" y="2657475"/>
            <a:ext cx="2438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5E45"/>
                </a:solidFill>
              </a:defRPr>
            </a:pPr>
            <a:r>
              <a:rPr sz="900" b="1">
                <a:solidFill>
                  <a:srgbClr val="FF5E45"/>
                </a:solidFill>
              </a:rPr>
              <a:t>LIVE / SAFE FALLBACK</a:t>
            </a:r>
          </a:p>
        </p:txBody>
      </p:sp>
      <p:sp>
        <p:nvSpPr>
          <p:cNvPr id="9" name="">
            <a:extLst xmlns:a="http://schemas.openxmlformats.org/drawingml/2006/main">
              <a:ext uri="{FF2B5EF4-FFF2-40B4-BE49-F238E27FC236}">
                <a16:creationId xmlns:a16="http://schemas.microsoft.com/office/drawing/2014/main" id="{104943EA-E25D-493A-AF85-CDD868E41B9E}"/>
              </a:ext>
            </a:extLst>
          </p:cNvPr>
          <p:cNvSpPr>
            <a:spLocks xmlns:a="http://schemas.openxmlformats.org/drawingml/2006/main" noGrp="1"/>
          </p:cNvSpPr>
          <p:nvPr/>
        </p:nvSpPr>
        <p:spPr>
          <a:xfrm xmlns:a="http://schemas.openxmlformats.org/drawingml/2006/main">
            <a:off x="685800" y="3209925"/>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F3BAC70-7BA0-443B-8244-7F5933945B03}"/>
              </a:ext>
            </a:extLst>
          </p:cNvPr>
          <p:cNvSpPr>
            <a:spLocks xmlns:a="http://schemas.openxmlformats.org/drawingml/2006/main" noGrp="1"/>
          </p:cNvSpPr>
          <p:nvPr/>
        </p:nvSpPr>
        <p:spPr>
          <a:xfrm xmlns:a="http://schemas.openxmlformats.org/drawingml/2006/main">
            <a:off x="685800" y="3362325"/>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C8FF4A"/>
                </a:solidFill>
              </a:defRPr>
            </a:pPr>
            <a:r>
              <a:rPr sz="1575" b="1">
                <a:solidFill>
                  <a:srgbClr val="C8FF4A"/>
                </a:solidFill>
              </a:rPr>
              <a:t>CHATGPT SITES</a:t>
            </a:r>
          </a:p>
        </p:txBody>
      </p:sp>
      <p:sp>
        <p:nvSpPr>
          <p:cNvPr id="11" name="">
            <a:extLst xmlns:a="http://schemas.openxmlformats.org/drawingml/2006/main">
              <a:ext uri="{FF2B5EF4-FFF2-40B4-BE49-F238E27FC236}">
                <a16:creationId xmlns:a16="http://schemas.microsoft.com/office/drawing/2014/main" id="{E02604B9-5164-47B8-96B6-40D204AB371C}"/>
              </a:ext>
            </a:extLst>
          </p:cNvPr>
          <p:cNvSpPr>
            <a:spLocks xmlns:a="http://schemas.openxmlformats.org/drawingml/2006/main" noGrp="1"/>
          </p:cNvSpPr>
          <p:nvPr/>
        </p:nvSpPr>
        <p:spPr>
          <a:xfrm xmlns:a="http://schemas.openxmlformats.org/drawingml/2006/main">
            <a:off x="3238500" y="3362325"/>
            <a:ext cx="561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AAA9A3"/>
                </a:solidFill>
              </a:defRPr>
            </a:pPr>
            <a:r>
              <a:rPr sz="1725" b="0">
                <a:solidFill>
                  <a:srgbClr val="AAA9A3"/>
                </a:solidFill>
              </a:rPr>
              <a:t>edge app → D1 state → R2 private media</a:t>
            </a:r>
          </a:p>
        </p:txBody>
      </p:sp>
      <p:sp>
        <p:nvSpPr>
          <p:cNvPr id="12" name="">
            <a:extLst xmlns:a="http://schemas.openxmlformats.org/drawingml/2006/main">
              <a:ext uri="{FF2B5EF4-FFF2-40B4-BE49-F238E27FC236}">
                <a16:creationId xmlns:a16="http://schemas.microsoft.com/office/drawing/2014/main" id="{8C569B66-DFC2-41E6-908C-DAE6B9A1871D}"/>
              </a:ext>
            </a:extLst>
          </p:cNvPr>
          <p:cNvSpPr>
            <a:spLocks xmlns:a="http://schemas.openxmlformats.org/drawingml/2006/main" noGrp="1"/>
          </p:cNvSpPr>
          <p:nvPr/>
        </p:nvSpPr>
        <p:spPr>
          <a:xfrm xmlns:a="http://schemas.openxmlformats.org/drawingml/2006/main">
            <a:off x="9067800" y="3400425"/>
            <a:ext cx="2438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C8FF4A"/>
                </a:solidFill>
              </a:defRPr>
            </a:pPr>
            <a:r>
              <a:rPr sz="900" b="1">
                <a:solidFill>
                  <a:srgbClr val="C8FF4A"/>
                </a:solidFill>
              </a:rPr>
              <a:t>DEPLOYED</a:t>
            </a:r>
          </a:p>
        </p:txBody>
      </p:sp>
      <p:sp>
        <p:nvSpPr>
          <p:cNvPr id="13" name="">
            <a:extLst xmlns:a="http://schemas.openxmlformats.org/drawingml/2006/main">
              <a:ext uri="{FF2B5EF4-FFF2-40B4-BE49-F238E27FC236}">
                <a16:creationId xmlns:a16="http://schemas.microsoft.com/office/drawing/2014/main" id="{B61D1965-71CD-4415-A585-871D20920086}"/>
              </a:ext>
            </a:extLst>
          </p:cNvPr>
          <p:cNvSpPr>
            <a:spLocks xmlns:a="http://schemas.openxmlformats.org/drawingml/2006/main" noGrp="1"/>
          </p:cNvSpPr>
          <p:nvPr/>
        </p:nvSpPr>
        <p:spPr>
          <a:xfrm xmlns:a="http://schemas.openxmlformats.org/drawingml/2006/main">
            <a:off x="685800" y="3952875"/>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0E24D70-A15A-4BDC-BA07-BB5366AD8CE4}"/>
              </a:ext>
            </a:extLst>
          </p:cNvPr>
          <p:cNvSpPr>
            <a:spLocks xmlns:a="http://schemas.openxmlformats.org/drawingml/2006/main" noGrp="1"/>
          </p:cNvSpPr>
          <p:nvPr/>
        </p:nvSpPr>
        <p:spPr>
          <a:xfrm xmlns:a="http://schemas.openxmlformats.org/drawingml/2006/main">
            <a:off x="685800" y="4105275"/>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0EEE8"/>
                </a:solidFill>
              </a:defRPr>
            </a:pPr>
            <a:r>
              <a:rPr sz="1575" b="1">
                <a:solidFill>
                  <a:srgbClr val="F0EEE8"/>
                </a:solidFill>
              </a:rPr>
              <a:t>JAMBASE</a:t>
            </a:r>
          </a:p>
        </p:txBody>
      </p:sp>
      <p:sp>
        <p:nvSpPr>
          <p:cNvPr id="15" name="">
            <a:extLst xmlns:a="http://schemas.openxmlformats.org/drawingml/2006/main">
              <a:ext uri="{FF2B5EF4-FFF2-40B4-BE49-F238E27FC236}">
                <a16:creationId xmlns:a16="http://schemas.microsoft.com/office/drawing/2014/main" id="{0612D95E-49DE-4C7A-982A-75632E0C04F8}"/>
              </a:ext>
            </a:extLst>
          </p:cNvPr>
          <p:cNvSpPr>
            <a:spLocks xmlns:a="http://schemas.openxmlformats.org/drawingml/2006/main" noGrp="1"/>
          </p:cNvSpPr>
          <p:nvPr/>
        </p:nvSpPr>
        <p:spPr>
          <a:xfrm xmlns:a="http://schemas.openxmlformats.org/drawingml/2006/main">
            <a:off x="3238500" y="4105275"/>
            <a:ext cx="561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AAA9A3"/>
                </a:solidFill>
              </a:defRPr>
            </a:pPr>
            <a:r>
              <a:rPr sz="1725" b="0">
                <a:solidFill>
                  <a:srgbClr val="AAA9A3"/>
                </a:solidFill>
              </a:rPr>
              <a:t>artist and set enrichment</a:t>
            </a:r>
          </a:p>
        </p:txBody>
      </p:sp>
      <p:sp>
        <p:nvSpPr>
          <p:cNvPr id="16" name="">
            <a:extLst xmlns:a="http://schemas.openxmlformats.org/drawingml/2006/main">
              <a:ext uri="{FF2B5EF4-FFF2-40B4-BE49-F238E27FC236}">
                <a16:creationId xmlns:a16="http://schemas.microsoft.com/office/drawing/2014/main" id="{369565A8-F80D-4B07-9A70-262405648347}"/>
              </a:ext>
            </a:extLst>
          </p:cNvPr>
          <p:cNvSpPr>
            <a:spLocks xmlns:a="http://schemas.openxmlformats.org/drawingml/2006/main" noGrp="1"/>
          </p:cNvSpPr>
          <p:nvPr/>
        </p:nvSpPr>
        <p:spPr>
          <a:xfrm xmlns:a="http://schemas.openxmlformats.org/drawingml/2006/main">
            <a:off x="9067800" y="4143375"/>
            <a:ext cx="2438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5E45"/>
                </a:solidFill>
              </a:defRPr>
            </a:pPr>
            <a:r>
              <a:rPr sz="900" b="1">
                <a:solidFill>
                  <a:srgbClr val="FF5E45"/>
                </a:solidFill>
              </a:rPr>
              <a:t>OPTIONAL / ATTRIBUTED</a:t>
            </a:r>
          </a:p>
        </p:txBody>
      </p:sp>
      <p:sp>
        <p:nvSpPr>
          <p:cNvPr id="17" name="">
            <a:extLst xmlns:a="http://schemas.openxmlformats.org/drawingml/2006/main">
              <a:ext uri="{FF2B5EF4-FFF2-40B4-BE49-F238E27FC236}">
                <a16:creationId xmlns:a16="http://schemas.microsoft.com/office/drawing/2014/main" id="{5901BD2E-073D-483A-8102-4B009B2C888A}"/>
              </a:ext>
            </a:extLst>
          </p:cNvPr>
          <p:cNvSpPr>
            <a:spLocks xmlns:a="http://schemas.openxmlformats.org/drawingml/2006/main" noGrp="1"/>
          </p:cNvSpPr>
          <p:nvPr/>
        </p:nvSpPr>
        <p:spPr>
          <a:xfrm xmlns:a="http://schemas.openxmlformats.org/drawingml/2006/main">
            <a:off x="685800" y="4695825"/>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F1FE0F3-055D-46A1-ADFC-5ADB83958652}"/>
              </a:ext>
            </a:extLst>
          </p:cNvPr>
          <p:cNvSpPr>
            <a:spLocks xmlns:a="http://schemas.openxmlformats.org/drawingml/2006/main" noGrp="1"/>
          </p:cNvSpPr>
          <p:nvPr/>
        </p:nvSpPr>
        <p:spPr>
          <a:xfrm xmlns:a="http://schemas.openxmlformats.org/drawingml/2006/main">
            <a:off x="685800" y="4848225"/>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0EEE8"/>
                </a:solidFill>
              </a:defRPr>
            </a:pPr>
            <a:r>
              <a:rPr sz="1575" b="1">
                <a:solidFill>
                  <a:srgbClr val="F0EEE8"/>
                </a:solidFill>
              </a:rPr>
              <a:t>CODEX</a:t>
            </a:r>
          </a:p>
        </p:txBody>
      </p:sp>
      <p:sp>
        <p:nvSpPr>
          <p:cNvPr id="19" name="">
            <a:extLst xmlns:a="http://schemas.openxmlformats.org/drawingml/2006/main">
              <a:ext uri="{FF2B5EF4-FFF2-40B4-BE49-F238E27FC236}">
                <a16:creationId xmlns:a16="http://schemas.microsoft.com/office/drawing/2014/main" id="{D285C9A6-7716-4BA6-AF6B-758EA04D21B8}"/>
              </a:ext>
            </a:extLst>
          </p:cNvPr>
          <p:cNvSpPr>
            <a:spLocks xmlns:a="http://schemas.openxmlformats.org/drawingml/2006/main" noGrp="1"/>
          </p:cNvSpPr>
          <p:nvPr/>
        </p:nvSpPr>
        <p:spPr>
          <a:xfrm xmlns:a="http://schemas.openxmlformats.org/drawingml/2006/main">
            <a:off x="3238500" y="4848225"/>
            <a:ext cx="561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AAA9A3"/>
                </a:solidFill>
              </a:defRPr>
            </a:pPr>
            <a:r>
              <a:rPr sz="1725" b="0">
                <a:solidFill>
                  <a:srgbClr val="AAA9A3"/>
                </a:solidFill>
              </a:rPr>
              <a:t>research → build → red-team → ship</a:t>
            </a:r>
          </a:p>
        </p:txBody>
      </p:sp>
      <p:sp>
        <p:nvSpPr>
          <p:cNvPr id="20" name="">
            <a:extLst xmlns:a="http://schemas.openxmlformats.org/drawingml/2006/main">
              <a:ext uri="{FF2B5EF4-FFF2-40B4-BE49-F238E27FC236}">
                <a16:creationId xmlns:a16="http://schemas.microsoft.com/office/drawing/2014/main" id="{2D6B92BC-893F-4BEC-B3FD-09B94DE1E12F}"/>
              </a:ext>
            </a:extLst>
          </p:cNvPr>
          <p:cNvSpPr>
            <a:spLocks xmlns:a="http://schemas.openxmlformats.org/drawingml/2006/main" noGrp="1"/>
          </p:cNvSpPr>
          <p:nvPr/>
        </p:nvSpPr>
        <p:spPr>
          <a:xfrm xmlns:a="http://schemas.openxmlformats.org/drawingml/2006/main">
            <a:off x="9067800" y="4886325"/>
            <a:ext cx="2438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5E45"/>
                </a:solidFill>
              </a:defRPr>
            </a:pPr>
            <a:r>
              <a:rPr sz="900" b="1">
                <a:solidFill>
                  <a:srgbClr val="FF5E45"/>
                </a:solidFill>
              </a:rPr>
              <a:t>VERIFIED</a:t>
            </a:r>
          </a:p>
        </p:txBody>
      </p:sp>
      <p:sp>
        <p:nvSpPr>
          <p:cNvPr id="21" name="">
            <a:extLst xmlns:a="http://schemas.openxmlformats.org/drawingml/2006/main">
              <a:ext uri="{FF2B5EF4-FFF2-40B4-BE49-F238E27FC236}">
                <a16:creationId xmlns:a16="http://schemas.microsoft.com/office/drawing/2014/main" id="{36090AC4-BFA7-4C65-9C6E-F20AB9656E08}"/>
              </a:ext>
            </a:extLst>
          </p:cNvPr>
          <p:cNvSpPr>
            <a:spLocks xmlns:a="http://schemas.openxmlformats.org/drawingml/2006/main" noGrp="1"/>
          </p:cNvSpPr>
          <p:nvPr/>
        </p:nvSpPr>
        <p:spPr>
          <a:xfrm xmlns:a="http://schemas.openxmlformats.org/drawingml/2006/main">
            <a:off x="685800" y="5438775"/>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Tree>
    <p:extLst>
      <p:ext uri="{BB962C8B-B14F-4D97-AF65-F5344CB8AC3E}">
        <p14:creationId xmlns:p14="http://schemas.microsoft.com/office/powerpoint/2010/main" val="1771382832"/>
      </p:ext>
    </p:extLst>
  </p:cSld>
</p:sld>
</file>

<file path=ppt/slides/slide7.xml><?xml version="1.0" encoding="utf-8"?>
<p:sld xmlns:p="http://schemas.openxmlformats.org/presentationml/2006/main">
  <p:cSld>
    <p:bg>
      <p:bgPr>
        <a:solidFill xmlns:a="http://schemas.openxmlformats.org/drawingml/2006/main">
          <a:srgbClr val="07070B"/>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A51F08A-18B4-4AD9-885B-60CD1D92A4B3}"/>
              </a:ext>
            </a:extLst>
          </p:cNvPr>
          <p:cNvSpPr>
            <a:spLocks xmlns:a="http://schemas.openxmlformats.org/drawingml/2006/main" noGrp="1"/>
          </p:cNvSpPr>
          <p:nvPr/>
        </p:nvSpPr>
        <p:spPr>
          <a:xfrm xmlns:a="http://schemas.openxmlformats.org/drawingml/2006/main">
            <a:off x="685800" y="4572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5E45"/>
                </a:solidFill>
              </a:defRPr>
            </a:pPr>
            <a:r>
              <a:rPr sz="975" b="1">
                <a:solidFill>
                  <a:srgbClr val="FF5E45"/>
                </a:solidFill>
              </a:rPr>
              <a:t>07 / 10</a:t>
            </a:r>
          </a:p>
        </p:txBody>
      </p:sp>
      <p:sp>
        <p:nvSpPr>
          <p:cNvPr id="2" name="">
            <a:extLst xmlns:a="http://schemas.openxmlformats.org/drawingml/2006/main">
              <a:ext uri="{FF2B5EF4-FFF2-40B4-BE49-F238E27FC236}">
                <a16:creationId xmlns:a16="http://schemas.microsoft.com/office/drawing/2014/main" id="{46685A48-85E6-44B4-B766-0910579DEA64}"/>
              </a:ext>
            </a:extLst>
          </p:cNvPr>
          <p:cNvSpPr>
            <a:spLocks xmlns:a="http://schemas.openxmlformats.org/drawingml/2006/main" noGrp="1"/>
          </p:cNvSpPr>
          <p:nvPr/>
        </p:nvSpPr>
        <p:spPr>
          <a:xfrm xmlns:a="http://schemas.openxmlformats.org/drawingml/2006/main">
            <a:off x="20193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AAA9A3"/>
                </a:solidFill>
              </a:defRPr>
            </a:pPr>
            <a:r>
              <a:rPr sz="975" b="1">
                <a:solidFill>
                  <a:srgbClr val="AAA9A3"/>
                </a:solidFill>
              </a:rPr>
              <a:t>ARCHITECTURE</a:t>
            </a:r>
          </a:p>
        </p:txBody>
      </p:sp>
      <p:sp>
        <p:nvSpPr>
          <p:cNvPr id="3" name="">
            <a:extLst xmlns:a="http://schemas.openxmlformats.org/drawingml/2006/main">
              <a:ext uri="{FF2B5EF4-FFF2-40B4-BE49-F238E27FC236}">
                <a16:creationId xmlns:a16="http://schemas.microsoft.com/office/drawing/2014/main" id="{E40B97DA-20CD-4349-8BA8-2920342298EE}"/>
              </a:ext>
            </a:extLst>
          </p:cNvPr>
          <p:cNvSpPr>
            <a:spLocks xmlns:a="http://schemas.openxmlformats.org/drawingml/2006/main" noGrp="1"/>
          </p:cNvSpPr>
          <p:nvPr/>
        </p:nvSpPr>
        <p:spPr>
          <a:xfrm xmlns:a="http://schemas.openxmlformats.org/drawingml/2006/main">
            <a:off x="685800" y="781050"/>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0185B71-64DF-4F94-A7A6-ECE4E2E684D1}"/>
              </a:ext>
            </a:extLst>
          </p:cNvPr>
          <p:cNvSpPr>
            <a:spLocks xmlns:a="http://schemas.openxmlformats.org/drawingml/2006/main" noGrp="1"/>
          </p:cNvSpPr>
          <p:nvPr/>
        </p:nvSpPr>
        <p:spPr>
          <a:xfrm xmlns:a="http://schemas.openxmlformats.org/drawingml/2006/main">
            <a:off x="685800" y="1028700"/>
            <a:ext cx="1028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a:solidFill>
                  <a:srgbClr val="F0EEE8"/>
                </a:solidFill>
              </a:defRPr>
            </a:pPr>
            <a:r>
              <a:rPr sz="3750" b="1">
                <a:solidFill>
                  <a:srgbClr val="F0EEE8"/>
                </a:solidFill>
              </a:rPr>
              <a:t>A strict state machine keeps two private clients in one moment.</a:t>
            </a:r>
          </a:p>
        </p:txBody>
      </p:sp>
      <p:sp>
        <p:nvSpPr>
          <p:cNvPr id="5" name="">
            <a:extLst xmlns:a="http://schemas.openxmlformats.org/drawingml/2006/main">
              <a:ext uri="{FF2B5EF4-FFF2-40B4-BE49-F238E27FC236}">
                <a16:creationId xmlns:a16="http://schemas.microsoft.com/office/drawing/2014/main" id="{4A5FCAD1-648D-4812-BF55-E437B3EE2CA3}"/>
              </a:ext>
            </a:extLst>
          </p:cNvPr>
          <p:cNvSpPr>
            <a:spLocks xmlns:a="http://schemas.openxmlformats.org/drawingml/2006/main" noGrp="1"/>
          </p:cNvSpPr>
          <p:nvPr/>
        </p:nvSpPr>
        <p:spPr>
          <a:xfrm xmlns:a="http://schemas.openxmlformats.org/drawingml/2006/main">
            <a:off x="1619250" y="3438525"/>
            <a:ext cx="8953500" cy="19050"/>
          </a:xfrm>
          <a:prstGeom xmlns:a="http://schemas.openxmlformats.org/drawingml/2006/main" prst="rect">
            <a:avLst/>
          </a:prstGeom>
          <a:solidFill xmlns:a="http://schemas.openxmlformats.org/drawingml/2006/main">
            <a:srgbClr val="FF5E4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A731ABF-FDA2-4487-9946-CA0EFC0D14FB}"/>
              </a:ext>
            </a:extLst>
          </p:cNvPr>
          <p:cNvSpPr>
            <a:spLocks xmlns:a="http://schemas.openxmlformats.org/drawingml/2006/main" noGrp="1"/>
          </p:cNvSpPr>
          <p:nvPr/>
        </p:nvSpPr>
        <p:spPr>
          <a:xfrm xmlns:a="http://schemas.openxmlformats.org/drawingml/2006/main">
            <a:off x="704850" y="2762250"/>
            <a:ext cx="2190750" cy="1352550"/>
          </a:xfrm>
          <a:prstGeom xmlns:a="http://schemas.openxmlformats.org/drawingml/2006/main" prst="rect">
            <a:avLst/>
          </a:prstGeom>
          <a:solidFill xmlns:a="http://schemas.openxmlformats.org/drawingml/2006/main">
            <a:srgbClr val="101116"/>
          </a:solidFill>
          <a:ln xmlns:a="http://schemas.openxmlformats.org/drawingml/2006/main" w="9525">
            <a:solidFill>
              <a:srgbClr val="353539"/>
            </a:solidFill>
            <a:prstDash val="solid"/>
          </a:ln>
        </p:spPr>
      </p:sp>
      <p:sp>
        <p:nvSpPr>
          <p:cNvPr id="7" name="">
            <a:extLst xmlns:a="http://schemas.openxmlformats.org/drawingml/2006/main">
              <a:ext uri="{FF2B5EF4-FFF2-40B4-BE49-F238E27FC236}">
                <a16:creationId xmlns:a16="http://schemas.microsoft.com/office/drawing/2014/main" id="{81F7729A-8B8B-4EC5-8447-795D1C2934D9}"/>
              </a:ext>
            </a:extLst>
          </p:cNvPr>
          <p:cNvSpPr>
            <a:spLocks xmlns:a="http://schemas.openxmlformats.org/drawingml/2006/main" noGrp="1"/>
          </p:cNvSpPr>
          <p:nvPr/>
        </p:nvSpPr>
        <p:spPr>
          <a:xfrm xmlns:a="http://schemas.openxmlformats.org/drawingml/2006/main">
            <a:off x="876300" y="3009900"/>
            <a:ext cx="1847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F0EEE8"/>
                </a:solidFill>
              </a:defRPr>
            </a:pPr>
            <a:r>
              <a:rPr sz="1200" b="1">
                <a:solidFill>
                  <a:srgbClr val="F0EEE8"/>
                </a:solidFill>
              </a:rPr>
              <a:t>HERE CLIENT</a:t>
            </a:r>
          </a:p>
        </p:txBody>
      </p:sp>
      <p:sp>
        <p:nvSpPr>
          <p:cNvPr id="8" name="">
            <a:extLst xmlns:a="http://schemas.openxmlformats.org/drawingml/2006/main">
              <a:ext uri="{FF2B5EF4-FFF2-40B4-BE49-F238E27FC236}">
                <a16:creationId xmlns:a16="http://schemas.microsoft.com/office/drawing/2014/main" id="{21BAA3B2-CCF5-4D78-97C8-154345EE81C4}"/>
              </a:ext>
            </a:extLst>
          </p:cNvPr>
          <p:cNvSpPr>
            <a:spLocks xmlns:a="http://schemas.openxmlformats.org/drawingml/2006/main" noGrp="1"/>
          </p:cNvSpPr>
          <p:nvPr/>
        </p:nvSpPr>
        <p:spPr>
          <a:xfrm xmlns:a="http://schemas.openxmlformats.org/drawingml/2006/main">
            <a:off x="876300" y="3524250"/>
            <a:ext cx="1847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9A3"/>
                </a:solidFill>
              </a:defRPr>
            </a:pPr>
            <a:r>
              <a:rPr sz="1350" b="0">
                <a:solidFill>
                  <a:srgbClr val="AAA9A3"/>
                </a:solidFill>
              </a:rPr>
              <a:t>capture + consent</a:t>
            </a:r>
          </a:p>
        </p:txBody>
      </p:sp>
      <p:sp>
        <p:nvSpPr>
          <p:cNvPr id="9" name="">
            <a:extLst xmlns:a="http://schemas.openxmlformats.org/drawingml/2006/main">
              <a:ext uri="{FF2B5EF4-FFF2-40B4-BE49-F238E27FC236}">
                <a16:creationId xmlns:a16="http://schemas.microsoft.com/office/drawing/2014/main" id="{E45B10FB-3D2F-4975-A9F1-BD25D02AC442}"/>
              </a:ext>
            </a:extLst>
          </p:cNvPr>
          <p:cNvSpPr>
            <a:spLocks xmlns:a="http://schemas.openxmlformats.org/drawingml/2006/main" noGrp="1"/>
          </p:cNvSpPr>
          <p:nvPr/>
        </p:nvSpPr>
        <p:spPr>
          <a:xfrm xmlns:a="http://schemas.openxmlformats.org/drawingml/2006/main">
            <a:off x="3467100" y="2762250"/>
            <a:ext cx="2190750" cy="1352550"/>
          </a:xfrm>
          <a:prstGeom xmlns:a="http://schemas.openxmlformats.org/drawingml/2006/main" prst="rect">
            <a:avLst/>
          </a:prstGeom>
          <a:solidFill xmlns:a="http://schemas.openxmlformats.org/drawingml/2006/main">
            <a:srgbClr val="101116"/>
          </a:solidFill>
          <a:ln xmlns:a="http://schemas.openxmlformats.org/drawingml/2006/main" w="28575">
            <a:solidFill>
              <a:srgbClr val="C8FF4A"/>
            </a:solidFill>
            <a:prstDash val="solid"/>
          </a:ln>
        </p:spPr>
      </p:sp>
      <p:sp>
        <p:nvSpPr>
          <p:cNvPr id="10" name="">
            <a:extLst xmlns:a="http://schemas.openxmlformats.org/drawingml/2006/main">
              <a:ext uri="{FF2B5EF4-FFF2-40B4-BE49-F238E27FC236}">
                <a16:creationId xmlns:a16="http://schemas.microsoft.com/office/drawing/2014/main" id="{5F4848A7-DDD2-41F9-813A-6E6AFC5AA5CD}"/>
              </a:ext>
            </a:extLst>
          </p:cNvPr>
          <p:cNvSpPr>
            <a:spLocks xmlns:a="http://schemas.openxmlformats.org/drawingml/2006/main" noGrp="1"/>
          </p:cNvSpPr>
          <p:nvPr/>
        </p:nvSpPr>
        <p:spPr>
          <a:xfrm xmlns:a="http://schemas.openxmlformats.org/drawingml/2006/main">
            <a:off x="3638550" y="3009900"/>
            <a:ext cx="1847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C8FF4A"/>
                </a:solidFill>
              </a:defRPr>
            </a:pPr>
            <a:r>
              <a:rPr sz="1200" b="1">
                <a:solidFill>
                  <a:srgbClr val="C8FF4A"/>
                </a:solidFill>
              </a:rPr>
              <a:t>SITES API</a:t>
            </a:r>
          </a:p>
        </p:txBody>
      </p:sp>
      <p:sp>
        <p:nvSpPr>
          <p:cNvPr id="11" name="">
            <a:extLst xmlns:a="http://schemas.openxmlformats.org/drawingml/2006/main">
              <a:ext uri="{FF2B5EF4-FFF2-40B4-BE49-F238E27FC236}">
                <a16:creationId xmlns:a16="http://schemas.microsoft.com/office/drawing/2014/main" id="{E406AE72-A1D9-4EAA-BC48-82B090497A4C}"/>
              </a:ext>
            </a:extLst>
          </p:cNvPr>
          <p:cNvSpPr>
            <a:spLocks xmlns:a="http://schemas.openxmlformats.org/drawingml/2006/main" noGrp="1"/>
          </p:cNvSpPr>
          <p:nvPr/>
        </p:nvSpPr>
        <p:spPr>
          <a:xfrm xmlns:a="http://schemas.openxmlformats.org/drawingml/2006/main">
            <a:off x="3638550" y="3524250"/>
            <a:ext cx="1847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9A3"/>
                </a:solidFill>
              </a:defRPr>
            </a:pPr>
            <a:r>
              <a:rPr sz="1350" b="0">
                <a:solidFill>
                  <a:srgbClr val="AAA9A3"/>
                </a:solidFill>
              </a:rPr>
              <a:t>role tokens</a:t>
            </a:r>
          </a:p>
        </p:txBody>
      </p:sp>
      <p:sp>
        <p:nvSpPr>
          <p:cNvPr id="12" name="">
            <a:extLst xmlns:a="http://schemas.openxmlformats.org/drawingml/2006/main">
              <a:ext uri="{FF2B5EF4-FFF2-40B4-BE49-F238E27FC236}">
                <a16:creationId xmlns:a16="http://schemas.microsoft.com/office/drawing/2014/main" id="{379544C7-A764-4C99-982C-7BB1F811ED5B}"/>
              </a:ext>
            </a:extLst>
          </p:cNvPr>
          <p:cNvSpPr>
            <a:spLocks xmlns:a="http://schemas.openxmlformats.org/drawingml/2006/main" noGrp="1"/>
          </p:cNvSpPr>
          <p:nvPr/>
        </p:nvSpPr>
        <p:spPr>
          <a:xfrm xmlns:a="http://schemas.openxmlformats.org/drawingml/2006/main">
            <a:off x="6229350" y="2762250"/>
            <a:ext cx="2190750" cy="1352550"/>
          </a:xfrm>
          <a:prstGeom xmlns:a="http://schemas.openxmlformats.org/drawingml/2006/main" prst="rect">
            <a:avLst/>
          </a:prstGeom>
          <a:solidFill xmlns:a="http://schemas.openxmlformats.org/drawingml/2006/main">
            <a:srgbClr val="101116"/>
          </a:solidFill>
          <a:ln xmlns:a="http://schemas.openxmlformats.org/drawingml/2006/main" w="9525">
            <a:solidFill>
              <a:srgbClr val="353539"/>
            </a:solidFill>
            <a:prstDash val="solid"/>
          </a:ln>
        </p:spPr>
      </p:sp>
      <p:sp>
        <p:nvSpPr>
          <p:cNvPr id="13" name="">
            <a:extLst xmlns:a="http://schemas.openxmlformats.org/drawingml/2006/main">
              <a:ext uri="{FF2B5EF4-FFF2-40B4-BE49-F238E27FC236}">
                <a16:creationId xmlns:a16="http://schemas.microsoft.com/office/drawing/2014/main" id="{AC194D21-E9C3-4B45-836B-47335682750D}"/>
              </a:ext>
            </a:extLst>
          </p:cNvPr>
          <p:cNvSpPr>
            <a:spLocks xmlns:a="http://schemas.openxmlformats.org/drawingml/2006/main" noGrp="1"/>
          </p:cNvSpPr>
          <p:nvPr/>
        </p:nvSpPr>
        <p:spPr>
          <a:xfrm xmlns:a="http://schemas.openxmlformats.org/drawingml/2006/main">
            <a:off x="6400800" y="3009900"/>
            <a:ext cx="1847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F0EEE8"/>
                </a:solidFill>
              </a:defRPr>
            </a:pPr>
            <a:r>
              <a:rPr sz="1200" b="1">
                <a:solidFill>
                  <a:srgbClr val="F0EEE8"/>
                </a:solidFill>
              </a:rPr>
              <a:t>D1 + R2</a:t>
            </a:r>
          </a:p>
        </p:txBody>
      </p:sp>
      <p:sp>
        <p:nvSpPr>
          <p:cNvPr id="14" name="">
            <a:extLst xmlns:a="http://schemas.openxmlformats.org/drawingml/2006/main">
              <a:ext uri="{FF2B5EF4-FFF2-40B4-BE49-F238E27FC236}">
                <a16:creationId xmlns:a16="http://schemas.microsoft.com/office/drawing/2014/main" id="{C6AD9633-6646-4AE1-9A61-1AEE363170CB}"/>
              </a:ext>
            </a:extLst>
          </p:cNvPr>
          <p:cNvSpPr>
            <a:spLocks xmlns:a="http://schemas.openxmlformats.org/drawingml/2006/main" noGrp="1"/>
          </p:cNvSpPr>
          <p:nvPr/>
        </p:nvSpPr>
        <p:spPr>
          <a:xfrm xmlns:a="http://schemas.openxmlformats.org/drawingml/2006/main">
            <a:off x="6400800" y="3524250"/>
            <a:ext cx="1847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9A3"/>
                </a:solidFill>
              </a:defRPr>
            </a:pPr>
            <a:r>
              <a:rPr sz="1350" b="0">
                <a:solidFill>
                  <a:srgbClr val="AAA9A3"/>
                </a:solidFill>
              </a:rPr>
              <a:t>state + private media</a:t>
            </a:r>
          </a:p>
        </p:txBody>
      </p:sp>
      <p:sp>
        <p:nvSpPr>
          <p:cNvPr id="15" name="">
            <a:extLst xmlns:a="http://schemas.openxmlformats.org/drawingml/2006/main">
              <a:ext uri="{FF2B5EF4-FFF2-40B4-BE49-F238E27FC236}">
                <a16:creationId xmlns:a16="http://schemas.microsoft.com/office/drawing/2014/main" id="{1EA5BEA0-85A4-4B31-9B43-52252CBFFAAB}"/>
              </a:ext>
            </a:extLst>
          </p:cNvPr>
          <p:cNvSpPr>
            <a:spLocks xmlns:a="http://schemas.openxmlformats.org/drawingml/2006/main" noGrp="1"/>
          </p:cNvSpPr>
          <p:nvPr/>
        </p:nvSpPr>
        <p:spPr>
          <a:xfrm xmlns:a="http://schemas.openxmlformats.org/drawingml/2006/main">
            <a:off x="8991600" y="2762250"/>
            <a:ext cx="2190750" cy="1352550"/>
          </a:xfrm>
          <a:prstGeom xmlns:a="http://schemas.openxmlformats.org/drawingml/2006/main" prst="rect">
            <a:avLst/>
          </a:prstGeom>
          <a:solidFill xmlns:a="http://schemas.openxmlformats.org/drawingml/2006/main">
            <a:srgbClr val="101116"/>
          </a:solidFill>
          <a:ln xmlns:a="http://schemas.openxmlformats.org/drawingml/2006/main" w="9525">
            <a:solidFill>
              <a:srgbClr val="353539"/>
            </a:solidFill>
            <a:prstDash val="solid"/>
          </a:ln>
        </p:spPr>
      </p:sp>
      <p:sp>
        <p:nvSpPr>
          <p:cNvPr id="16" name="">
            <a:extLst xmlns:a="http://schemas.openxmlformats.org/drawingml/2006/main">
              <a:ext uri="{FF2B5EF4-FFF2-40B4-BE49-F238E27FC236}">
                <a16:creationId xmlns:a16="http://schemas.microsoft.com/office/drawing/2014/main" id="{09A63AB3-6FD5-4629-BBAE-ADC42EF43DF9}"/>
              </a:ext>
            </a:extLst>
          </p:cNvPr>
          <p:cNvSpPr>
            <a:spLocks xmlns:a="http://schemas.openxmlformats.org/drawingml/2006/main" noGrp="1"/>
          </p:cNvSpPr>
          <p:nvPr/>
        </p:nvSpPr>
        <p:spPr>
          <a:xfrm xmlns:a="http://schemas.openxmlformats.org/drawingml/2006/main">
            <a:off x="9163050" y="3009900"/>
            <a:ext cx="1847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F0EEE8"/>
                </a:solidFill>
              </a:defRPr>
            </a:pPr>
            <a:r>
              <a:rPr sz="1200" b="1">
                <a:solidFill>
                  <a:srgbClr val="F0EEE8"/>
                </a:solidFill>
              </a:rPr>
              <a:t>FAR CLIENT</a:t>
            </a:r>
          </a:p>
        </p:txBody>
      </p:sp>
      <p:sp>
        <p:nvSpPr>
          <p:cNvPr id="17" name="">
            <a:extLst xmlns:a="http://schemas.openxmlformats.org/drawingml/2006/main">
              <a:ext uri="{FF2B5EF4-FFF2-40B4-BE49-F238E27FC236}">
                <a16:creationId xmlns:a16="http://schemas.microsoft.com/office/drawing/2014/main" id="{CBE93BC9-578A-48C0-AF2C-B4E7055E254B}"/>
              </a:ext>
            </a:extLst>
          </p:cNvPr>
          <p:cNvSpPr>
            <a:spLocks xmlns:a="http://schemas.openxmlformats.org/drawingml/2006/main" noGrp="1"/>
          </p:cNvSpPr>
          <p:nvPr/>
        </p:nvSpPr>
        <p:spPr>
          <a:xfrm xmlns:a="http://schemas.openxmlformats.org/drawingml/2006/main">
            <a:off x="9163050" y="3524250"/>
            <a:ext cx="1847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9A3"/>
                </a:solidFill>
              </a:defRPr>
            </a:pPr>
            <a:r>
              <a:rPr sz="1350" b="0">
                <a:solidFill>
                  <a:srgbClr val="AAA9A3"/>
                </a:solidFill>
              </a:rPr>
              <a:t>poll + hold</a:t>
            </a:r>
          </a:p>
        </p:txBody>
      </p:sp>
      <p:sp>
        <p:nvSpPr>
          <p:cNvPr id="18" name="">
            <a:extLst xmlns:a="http://schemas.openxmlformats.org/drawingml/2006/main">
              <a:ext uri="{FF2B5EF4-FFF2-40B4-BE49-F238E27FC236}">
                <a16:creationId xmlns:a16="http://schemas.microsoft.com/office/drawing/2014/main" id="{FE6D12DE-C195-4AB2-9326-61566890D791}"/>
              </a:ext>
            </a:extLst>
          </p:cNvPr>
          <p:cNvSpPr>
            <a:spLocks xmlns:a="http://schemas.openxmlformats.org/drawingml/2006/main" noGrp="1"/>
          </p:cNvSpPr>
          <p:nvPr/>
        </p:nvSpPr>
        <p:spPr>
          <a:xfrm xmlns:a="http://schemas.openxmlformats.org/drawingml/2006/main">
            <a:off x="685800" y="4762500"/>
            <a:ext cx="10820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F0EEE8"/>
                </a:solidFill>
              </a:defRPr>
            </a:pPr>
            <a:r>
              <a:rPr sz="1425" b="1">
                <a:solidFill>
                  <a:srgbClr val="F0EEE8"/>
                </a:solidFill>
              </a:rPr>
              <a:t>waiting  →  connected  →  draft_ready  →  postcard_ready  →  pulse_ready  →  completed</a:t>
            </a:r>
          </a:p>
        </p:txBody>
      </p:sp>
      <p:sp>
        <p:nvSpPr>
          <p:cNvPr id="19" name="">
            <a:extLst xmlns:a="http://schemas.openxmlformats.org/drawingml/2006/main">
              <a:ext uri="{FF2B5EF4-FFF2-40B4-BE49-F238E27FC236}">
                <a16:creationId xmlns:a16="http://schemas.microsoft.com/office/drawing/2014/main" id="{2B804C18-5FD7-4802-941C-F8DAFE83625E}"/>
              </a:ext>
            </a:extLst>
          </p:cNvPr>
          <p:cNvSpPr>
            <a:spLocks xmlns:a="http://schemas.openxmlformats.org/drawingml/2006/main" noGrp="1"/>
          </p:cNvSpPr>
          <p:nvPr/>
        </p:nvSpPr>
        <p:spPr>
          <a:xfrm xmlns:a="http://schemas.openxmlformats.org/drawingml/2006/main">
            <a:off x="685800" y="5600700"/>
            <a:ext cx="10820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1">
                <a:solidFill>
                  <a:srgbClr val="C8FF4A"/>
                </a:solidFill>
              </a:defRPr>
            </a:pPr>
            <a:r>
              <a:rPr sz="975" b="1">
                <a:solidFill>
                  <a:srgbClr val="C8FF4A"/>
                </a:solidFill>
              </a:rPr>
              <a:t>24H TTL  /  CAPABILITY TOKENS  /  AUTHENTICATED MEDIA  /  IDEMPOTENT PULSE</a:t>
            </a:r>
          </a:p>
        </p:txBody>
      </p:sp>
    </p:spTree>
    <p:extLst>
      <p:ext uri="{BB962C8B-B14F-4D97-AF65-F5344CB8AC3E}">
        <p14:creationId xmlns:p14="http://schemas.microsoft.com/office/powerpoint/2010/main" val="701910747"/>
      </p:ext>
    </p:extLst>
  </p:cSld>
</p:sld>
</file>

<file path=ppt/slides/slide8.xml><?xml version="1.0" encoding="utf-8"?>
<p:sld xmlns:p="http://schemas.openxmlformats.org/presentationml/2006/main">
  <p:cSld>
    <p:bg>
      <p:bgPr>
        <a:solidFill xmlns:a="http://schemas.openxmlformats.org/drawingml/2006/main">
          <a:srgbClr val="07070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EBCE39-2466-4F19-A468-F22D4736F0E5}"/>
              </a:ext>
            </a:extLst>
          </p:cNvPr>
          <p:cNvSpPr>
            <a:spLocks xmlns:a="http://schemas.openxmlformats.org/drawingml/2006/main" noGrp="1"/>
          </p:cNvSpPr>
          <p:nvPr/>
        </p:nvSpPr>
        <p:spPr>
          <a:xfrm xmlns:a="http://schemas.openxmlformats.org/drawingml/2006/main">
            <a:off x="685800" y="4572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5E45"/>
                </a:solidFill>
              </a:defRPr>
            </a:pPr>
            <a:r>
              <a:rPr sz="975" b="1">
                <a:solidFill>
                  <a:srgbClr val="FF5E45"/>
                </a:solidFill>
              </a:rPr>
              <a:t>08 / 10</a:t>
            </a:r>
          </a:p>
        </p:txBody>
      </p:sp>
      <p:sp>
        <p:nvSpPr>
          <p:cNvPr id="2" name="">
            <a:extLst xmlns:a="http://schemas.openxmlformats.org/drawingml/2006/main">
              <a:ext uri="{FF2B5EF4-FFF2-40B4-BE49-F238E27FC236}">
                <a16:creationId xmlns:a16="http://schemas.microsoft.com/office/drawing/2014/main" id="{96F7747D-9CBE-44C2-BE6B-DBB813C79DA0}"/>
              </a:ext>
            </a:extLst>
          </p:cNvPr>
          <p:cNvSpPr>
            <a:spLocks xmlns:a="http://schemas.openxmlformats.org/drawingml/2006/main" noGrp="1"/>
          </p:cNvSpPr>
          <p:nvPr/>
        </p:nvSpPr>
        <p:spPr>
          <a:xfrm xmlns:a="http://schemas.openxmlformats.org/drawingml/2006/main">
            <a:off x="20193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AAA9A3"/>
                </a:solidFill>
              </a:defRPr>
            </a:pPr>
            <a:r>
              <a:rPr sz="975" b="1">
                <a:solidFill>
                  <a:srgbClr val="AAA9A3"/>
                </a:solidFill>
              </a:rPr>
              <a:t>TRUST IS THE PRODUCT</a:t>
            </a:r>
          </a:p>
        </p:txBody>
      </p:sp>
      <p:sp>
        <p:nvSpPr>
          <p:cNvPr id="3" name="">
            <a:extLst xmlns:a="http://schemas.openxmlformats.org/drawingml/2006/main">
              <a:ext uri="{FF2B5EF4-FFF2-40B4-BE49-F238E27FC236}">
                <a16:creationId xmlns:a16="http://schemas.microsoft.com/office/drawing/2014/main" id="{6C35CE03-2696-4817-8591-D03F936E3338}"/>
              </a:ext>
            </a:extLst>
          </p:cNvPr>
          <p:cNvSpPr>
            <a:spLocks xmlns:a="http://schemas.openxmlformats.org/drawingml/2006/main" noGrp="1"/>
          </p:cNvSpPr>
          <p:nvPr/>
        </p:nvSpPr>
        <p:spPr>
          <a:xfrm xmlns:a="http://schemas.openxmlformats.org/drawingml/2006/main">
            <a:off x="685800" y="781050"/>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C911DE-6419-4747-B5A8-8452DF93F699}"/>
              </a:ext>
            </a:extLst>
          </p:cNvPr>
          <p:cNvSpPr>
            <a:spLocks xmlns:a="http://schemas.openxmlformats.org/drawingml/2006/main" noGrp="1"/>
          </p:cNvSpPr>
          <p:nvPr/>
        </p:nvSpPr>
        <p:spPr>
          <a:xfrm xmlns:a="http://schemas.openxmlformats.org/drawingml/2006/main">
            <a:off x="685800" y="1028700"/>
            <a:ext cx="1028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a:solidFill>
                  <a:srgbClr val="F0EEE8"/>
                </a:solidFill>
              </a:defRPr>
            </a:pPr>
            <a:r>
              <a:rPr sz="3750" b="1">
                <a:solidFill>
                  <a:srgbClr val="F0EEE8"/>
                </a:solidFill>
              </a:rPr>
              <a:t>Designed for a festival—not merely demonstrated at one.</a:t>
            </a:r>
          </a:p>
        </p:txBody>
      </p:sp>
      <p:sp>
        <p:nvSpPr>
          <p:cNvPr id="5" name="">
            <a:extLst xmlns:a="http://schemas.openxmlformats.org/drawingml/2006/main">
              <a:ext uri="{FF2B5EF4-FFF2-40B4-BE49-F238E27FC236}">
                <a16:creationId xmlns:a16="http://schemas.microsoft.com/office/drawing/2014/main" id="{375CF133-AE64-42E3-802F-4823D673810E}"/>
              </a:ext>
            </a:extLst>
          </p:cNvPr>
          <p:cNvSpPr>
            <a:spLocks xmlns:a="http://schemas.openxmlformats.org/drawingml/2006/main" noGrp="1"/>
          </p:cNvSpPr>
          <p:nvPr/>
        </p:nvSpPr>
        <p:spPr>
          <a:xfrm xmlns:a="http://schemas.openxmlformats.org/drawingml/2006/main">
            <a:off x="685800" y="2266950"/>
            <a:ext cx="180975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0" b="1">
                <a:solidFill>
                  <a:srgbClr val="FF5E45"/>
                </a:solidFill>
              </a:defRPr>
            </a:pPr>
            <a:r>
              <a:rPr sz="6750" b="1">
                <a:solidFill>
                  <a:srgbClr val="FF5E45"/>
                </a:solidFill>
              </a:rPr>
              <a:t>NO</a:t>
            </a:r>
          </a:p>
        </p:txBody>
      </p:sp>
      <p:sp>
        <p:nvSpPr>
          <p:cNvPr id="6" name="">
            <a:extLst xmlns:a="http://schemas.openxmlformats.org/drawingml/2006/main">
              <a:ext uri="{FF2B5EF4-FFF2-40B4-BE49-F238E27FC236}">
                <a16:creationId xmlns:a16="http://schemas.microsoft.com/office/drawing/2014/main" id="{7650AE2A-C320-4FD3-BF38-E22FA2A4E9F4}"/>
              </a:ext>
            </a:extLst>
          </p:cNvPr>
          <p:cNvSpPr>
            <a:spLocks xmlns:a="http://schemas.openxmlformats.org/drawingml/2006/main" noGrp="1"/>
          </p:cNvSpPr>
          <p:nvPr/>
        </p:nvSpPr>
        <p:spPr>
          <a:xfrm xmlns:a="http://schemas.openxmlformats.org/drawingml/2006/main">
            <a:off x="2571750" y="2266950"/>
            <a:ext cx="285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325" b="1">
                <a:solidFill>
                  <a:srgbClr val="F0EEE8"/>
                </a:solidFill>
              </a:defRPr>
            </a:pPr>
            <a:r>
              <a:rPr sz="2325" b="1">
                <a:solidFill>
                  <a:srgbClr val="F0EEE8"/>
                </a:solidFill>
              </a:rPr>
              <a:t>accounts</a:t>
            </a:r>
          </a:p>
          <a:p xmlns:a="http://schemas.openxmlformats.org/drawingml/2006/main">
            <a:pPr algn="l">
              <a:defRPr sz="2325" b="1">
                <a:solidFill>
                  <a:srgbClr val="F0EEE8"/>
                </a:solidFill>
              </a:defRPr>
            </a:pPr>
            <a:r>
              <a:rPr sz="2325" b="1">
                <a:solidFill>
                  <a:srgbClr val="F0EEE8"/>
                </a:solidFill>
              </a:rPr>
              <a:t>raw audio</a:t>
            </a:r>
          </a:p>
          <a:p xmlns:a="http://schemas.openxmlformats.org/drawingml/2006/main">
            <a:pPr algn="l">
              <a:defRPr sz="2325" b="1">
                <a:solidFill>
                  <a:srgbClr val="F0EEE8"/>
                </a:solidFill>
              </a:defRPr>
            </a:pPr>
            <a:r>
              <a:rPr sz="2325" b="1">
                <a:solidFill>
                  <a:srgbClr val="F0EEE8"/>
                </a:solidFill>
              </a:rPr>
              <a:t>public photos</a:t>
            </a:r>
          </a:p>
        </p:txBody>
      </p:sp>
      <p:sp>
        <p:nvSpPr>
          <p:cNvPr id="7" name="">
            <a:extLst xmlns:a="http://schemas.openxmlformats.org/drawingml/2006/main">
              <a:ext uri="{FF2B5EF4-FFF2-40B4-BE49-F238E27FC236}">
                <a16:creationId xmlns:a16="http://schemas.microsoft.com/office/drawing/2014/main" id="{7F8E0CDE-87BA-4B03-BA07-740AFE69F0B1}"/>
              </a:ext>
            </a:extLst>
          </p:cNvPr>
          <p:cNvSpPr>
            <a:spLocks xmlns:a="http://schemas.openxmlformats.org/drawingml/2006/main" noGrp="1"/>
          </p:cNvSpPr>
          <p:nvPr/>
        </p:nvSpPr>
        <p:spPr>
          <a:xfrm xmlns:a="http://schemas.openxmlformats.org/drawingml/2006/main">
            <a:off x="6000750" y="2247900"/>
            <a:ext cx="19050" cy="0"/>
          </a:xfrm>
          <a:prstGeom xmlns:a="http://schemas.openxmlformats.org/drawingml/2006/main" prst="rect">
            <a:avLst/>
          </a:prstGeom>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25E9E6E-1544-48F4-B38F-0BD9711C3E28}"/>
              </a:ext>
            </a:extLst>
          </p:cNvPr>
          <p:cNvSpPr>
            <a:spLocks xmlns:a="http://schemas.openxmlformats.org/drawingml/2006/main" noGrp="1"/>
          </p:cNvSpPr>
          <p:nvPr/>
        </p:nvSpPr>
        <p:spPr>
          <a:xfrm xmlns:a="http://schemas.openxmlformats.org/drawingml/2006/main">
            <a:off x="6610350" y="2266950"/>
            <a:ext cx="20955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0" b="1">
                <a:solidFill>
                  <a:srgbClr val="C8FF4A"/>
                </a:solidFill>
              </a:defRPr>
            </a:pPr>
            <a:r>
              <a:rPr sz="6750" b="1">
                <a:solidFill>
                  <a:srgbClr val="C8FF4A"/>
                </a:solidFill>
              </a:rPr>
              <a:t>YES</a:t>
            </a:r>
          </a:p>
        </p:txBody>
      </p:sp>
      <p:sp>
        <p:nvSpPr>
          <p:cNvPr id="9" name="">
            <a:extLst xmlns:a="http://schemas.openxmlformats.org/drawingml/2006/main">
              <a:ext uri="{FF2B5EF4-FFF2-40B4-BE49-F238E27FC236}">
                <a16:creationId xmlns:a16="http://schemas.microsoft.com/office/drawing/2014/main" id="{BB241702-3312-4E94-B9F4-096CD0F1276B}"/>
              </a:ext>
            </a:extLst>
          </p:cNvPr>
          <p:cNvSpPr>
            <a:spLocks xmlns:a="http://schemas.openxmlformats.org/drawingml/2006/main" noGrp="1"/>
          </p:cNvSpPr>
          <p:nvPr/>
        </p:nvSpPr>
        <p:spPr>
          <a:xfrm xmlns:a="http://schemas.openxmlformats.org/drawingml/2006/main">
            <a:off x="8572500" y="226695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325" b="1">
                <a:solidFill>
                  <a:srgbClr val="F0EEE8"/>
                </a:solidFill>
              </a:defRPr>
            </a:pPr>
            <a:r>
              <a:rPr sz="2325" b="1">
                <a:solidFill>
                  <a:srgbClr val="F0EEE8"/>
                </a:solidFill>
              </a:rPr>
              <a:t>human approval</a:t>
            </a:r>
          </a:p>
          <a:p xmlns:a="http://schemas.openxmlformats.org/drawingml/2006/main">
            <a:pPr algn="l">
              <a:defRPr sz="2325" b="1">
                <a:solidFill>
                  <a:srgbClr val="F0EEE8"/>
                </a:solidFill>
              </a:defRPr>
            </a:pPr>
            <a:r>
              <a:rPr sz="2325" b="1">
                <a:solidFill>
                  <a:srgbClr val="F0EEE8"/>
                </a:solidFill>
              </a:rPr>
              <a:t>keyboard access</a:t>
            </a:r>
          </a:p>
          <a:p xmlns:a="http://schemas.openxmlformats.org/drawingml/2006/main">
            <a:pPr algn="l">
              <a:defRPr sz="2325" b="1">
                <a:solidFill>
                  <a:srgbClr val="F0EEE8"/>
                </a:solidFill>
              </a:defRPr>
            </a:pPr>
            <a:r>
              <a:rPr sz="2325" b="1">
                <a:solidFill>
                  <a:srgbClr val="F0EEE8"/>
                </a:solidFill>
              </a:rPr>
              <a:t>instant deletion</a:t>
            </a:r>
          </a:p>
        </p:txBody>
      </p:sp>
      <p:sp>
        <p:nvSpPr>
          <p:cNvPr id="10" name="">
            <a:extLst xmlns:a="http://schemas.openxmlformats.org/drawingml/2006/main">
              <a:ext uri="{FF2B5EF4-FFF2-40B4-BE49-F238E27FC236}">
                <a16:creationId xmlns:a16="http://schemas.microsoft.com/office/drawing/2014/main" id="{A20E2170-6C2C-4A7F-B3F7-B352B7886321}"/>
              </a:ext>
            </a:extLst>
          </p:cNvPr>
          <p:cNvSpPr>
            <a:spLocks xmlns:a="http://schemas.openxmlformats.org/drawingml/2006/main" noGrp="1"/>
          </p:cNvSpPr>
          <p:nvPr/>
        </p:nvSpPr>
        <p:spPr>
          <a:xfrm xmlns:a="http://schemas.openxmlformats.org/drawingml/2006/main">
            <a:off x="685800" y="5810250"/>
            <a:ext cx="10820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1">
                <a:solidFill>
                  <a:srgbClr val="AAA9A3"/>
                </a:solidFill>
              </a:defRPr>
            </a:pPr>
            <a:r>
              <a:rPr sz="975" b="1">
                <a:solidFill>
                  <a:srgbClr val="AAA9A3"/>
                </a:solidFill>
              </a:rPr>
              <a:t>NO GPS · NO IDENTITY · NO SOCIAL GRAPH · RAW AUDIO NEVER LEAVES THE PHONE</a:t>
            </a:r>
          </a:p>
        </p:txBody>
      </p:sp>
    </p:spTree>
    <p:extLst>
      <p:ext uri="{BB962C8B-B14F-4D97-AF65-F5344CB8AC3E}">
        <p14:creationId xmlns:p14="http://schemas.microsoft.com/office/powerpoint/2010/main" val="1484292655"/>
      </p:ext>
    </p:extLst>
  </p:cSld>
</p:sld>
</file>

<file path=ppt/slides/slide9.xml><?xml version="1.0" encoding="utf-8"?>
<p:sld xmlns:p="http://schemas.openxmlformats.org/presentationml/2006/main">
  <p:cSld>
    <p:bg>
      <p:bgPr>
        <a:solidFill xmlns:a="http://schemas.openxmlformats.org/drawingml/2006/main">
          <a:srgbClr val="07070B"/>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F3AEC34-0BA9-44BF-B030-91D4D057C8C3}"/>
              </a:ext>
            </a:extLst>
          </p:cNvPr>
          <p:cNvSpPr>
            <a:spLocks xmlns:a="http://schemas.openxmlformats.org/drawingml/2006/main" noGrp="1"/>
          </p:cNvSpPr>
          <p:nvPr/>
        </p:nvSpPr>
        <p:spPr>
          <a:xfrm xmlns:a="http://schemas.openxmlformats.org/drawingml/2006/main">
            <a:off x="685800" y="4572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5E45"/>
                </a:solidFill>
              </a:defRPr>
            </a:pPr>
            <a:r>
              <a:rPr sz="975" b="1">
                <a:solidFill>
                  <a:srgbClr val="FF5E45"/>
                </a:solidFill>
              </a:rPr>
              <a:t>09 / 10</a:t>
            </a:r>
          </a:p>
        </p:txBody>
      </p:sp>
      <p:sp>
        <p:nvSpPr>
          <p:cNvPr id="2" name="">
            <a:extLst xmlns:a="http://schemas.openxmlformats.org/drawingml/2006/main">
              <a:ext uri="{FF2B5EF4-FFF2-40B4-BE49-F238E27FC236}">
                <a16:creationId xmlns:a16="http://schemas.microsoft.com/office/drawing/2014/main" id="{D5B9FEFD-F7AE-4B51-B2DE-7C32F0C0C2AF}"/>
              </a:ext>
            </a:extLst>
          </p:cNvPr>
          <p:cNvSpPr>
            <a:spLocks xmlns:a="http://schemas.openxmlformats.org/drawingml/2006/main" noGrp="1"/>
          </p:cNvSpPr>
          <p:nvPr/>
        </p:nvSpPr>
        <p:spPr>
          <a:xfrm xmlns:a="http://schemas.openxmlformats.org/drawingml/2006/main">
            <a:off x="20193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AAA9A3"/>
                </a:solidFill>
              </a:defRPr>
            </a:pPr>
            <a:r>
              <a:rPr sz="975" b="1">
                <a:solidFill>
                  <a:srgbClr val="AAA9A3"/>
                </a:solidFill>
              </a:rPr>
              <a:t>WHY THIS CAN WIN</a:t>
            </a:r>
          </a:p>
        </p:txBody>
      </p:sp>
      <p:sp>
        <p:nvSpPr>
          <p:cNvPr id="3" name="">
            <a:extLst xmlns:a="http://schemas.openxmlformats.org/drawingml/2006/main">
              <a:ext uri="{FF2B5EF4-FFF2-40B4-BE49-F238E27FC236}">
                <a16:creationId xmlns:a16="http://schemas.microsoft.com/office/drawing/2014/main" id="{3E8268D6-370B-4D43-BB77-5C42FB85BDE1}"/>
              </a:ext>
            </a:extLst>
          </p:cNvPr>
          <p:cNvSpPr>
            <a:spLocks xmlns:a="http://schemas.openxmlformats.org/drawingml/2006/main" noGrp="1"/>
          </p:cNvSpPr>
          <p:nvPr/>
        </p:nvSpPr>
        <p:spPr>
          <a:xfrm xmlns:a="http://schemas.openxmlformats.org/drawingml/2006/main">
            <a:off x="685800" y="781050"/>
            <a:ext cx="10820400" cy="952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2883F8B-FC02-4FB1-9D9D-409739C95735}"/>
              </a:ext>
            </a:extLst>
          </p:cNvPr>
          <p:cNvSpPr>
            <a:spLocks xmlns:a="http://schemas.openxmlformats.org/drawingml/2006/main" noGrp="1"/>
          </p:cNvSpPr>
          <p:nvPr/>
        </p:nvSpPr>
        <p:spPr>
          <a:xfrm xmlns:a="http://schemas.openxmlformats.org/drawingml/2006/main">
            <a:off x="685800" y="1028700"/>
            <a:ext cx="1028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a:solidFill>
                  <a:srgbClr val="F0EEE8"/>
                </a:solidFill>
              </a:defRPr>
            </a:pPr>
            <a:r>
              <a:rPr sz="3750" b="1">
                <a:solidFill>
                  <a:srgbClr val="F0EEE8"/>
                </a:solidFill>
              </a:rPr>
              <a:t>A judge can understand it in three seconds—and feel it in eight.</a:t>
            </a:r>
          </a:p>
        </p:txBody>
      </p:sp>
      <p:sp>
        <p:nvSpPr>
          <p:cNvPr id="5" name="">
            <a:extLst xmlns:a="http://schemas.openxmlformats.org/drawingml/2006/main">
              <a:ext uri="{FF2B5EF4-FFF2-40B4-BE49-F238E27FC236}">
                <a16:creationId xmlns:a16="http://schemas.microsoft.com/office/drawing/2014/main" id="{8932C30C-68BE-42B7-9644-CD0BFD87BC1F}"/>
              </a:ext>
            </a:extLst>
          </p:cNvPr>
          <p:cNvSpPr>
            <a:spLocks xmlns:a="http://schemas.openxmlformats.org/drawingml/2006/main" noGrp="1"/>
          </p:cNvSpPr>
          <p:nvPr/>
        </p:nvSpPr>
        <p:spPr>
          <a:xfrm xmlns:a="http://schemas.openxmlformats.org/drawingml/2006/main">
            <a:off x="685800" y="226695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800" b="1">
                <a:solidFill>
                  <a:srgbClr val="F0EEE8"/>
                </a:solidFill>
              </a:defRPr>
            </a:pPr>
            <a:r>
              <a:rPr sz="7800" b="1">
                <a:solidFill>
                  <a:srgbClr val="F0EEE8"/>
                </a:solidFill>
              </a:rPr>
              <a:t>3</a:t>
            </a:r>
          </a:p>
        </p:txBody>
      </p:sp>
      <p:sp>
        <p:nvSpPr>
          <p:cNvPr id="6" name="">
            <a:extLst xmlns:a="http://schemas.openxmlformats.org/drawingml/2006/main">
              <a:ext uri="{FF2B5EF4-FFF2-40B4-BE49-F238E27FC236}">
                <a16:creationId xmlns:a16="http://schemas.microsoft.com/office/drawing/2014/main" id="{944AE22A-5CC1-4197-AA30-B667DC894856}"/>
              </a:ext>
            </a:extLst>
          </p:cNvPr>
          <p:cNvSpPr>
            <a:spLocks xmlns:a="http://schemas.openxmlformats.org/drawingml/2006/main" noGrp="1"/>
          </p:cNvSpPr>
          <p:nvPr/>
        </p:nvSpPr>
        <p:spPr>
          <a:xfrm xmlns:a="http://schemas.openxmlformats.org/drawingml/2006/main">
            <a:off x="2686050" y="2819400"/>
            <a:ext cx="9048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C8FF4A"/>
                </a:solidFill>
              </a:defRPr>
            </a:pPr>
            <a:r>
              <a:rPr sz="1275" b="1">
                <a:solidFill>
                  <a:srgbClr val="C8FF4A"/>
                </a:solidFill>
              </a:rPr>
              <a:t>SEC</a:t>
            </a:r>
          </a:p>
        </p:txBody>
      </p:sp>
      <p:sp>
        <p:nvSpPr>
          <p:cNvPr id="7" name="">
            <a:extLst xmlns:a="http://schemas.openxmlformats.org/drawingml/2006/main">
              <a:ext uri="{FF2B5EF4-FFF2-40B4-BE49-F238E27FC236}">
                <a16:creationId xmlns:a16="http://schemas.microsoft.com/office/drawing/2014/main" id="{83617039-1AFC-4007-9626-ACDB9C5F3A03}"/>
              </a:ext>
            </a:extLst>
          </p:cNvPr>
          <p:cNvSpPr>
            <a:spLocks xmlns:a="http://schemas.openxmlformats.org/drawingml/2006/main" noGrp="1"/>
          </p:cNvSpPr>
          <p:nvPr/>
        </p:nvSpPr>
        <p:spPr>
          <a:xfrm xmlns:a="http://schemas.openxmlformats.org/drawingml/2006/main">
            <a:off x="685800" y="3667125"/>
            <a:ext cx="2857500" cy="2857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EEBA431-CD59-48DF-9107-AFDD9991BCFA}"/>
              </a:ext>
            </a:extLst>
          </p:cNvPr>
          <p:cNvSpPr>
            <a:spLocks xmlns:a="http://schemas.openxmlformats.org/drawingml/2006/main" noGrp="1"/>
          </p:cNvSpPr>
          <p:nvPr/>
        </p:nvSpPr>
        <p:spPr>
          <a:xfrm xmlns:a="http://schemas.openxmlformats.org/drawingml/2006/main">
            <a:off x="685800" y="4048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F0EEE8"/>
                </a:solidFill>
              </a:defRPr>
            </a:pPr>
            <a:r>
              <a:rPr sz="1425" b="1">
                <a:solidFill>
                  <a:srgbClr val="F0EEE8"/>
                </a:solidFill>
              </a:rPr>
              <a:t>Understand the tension</a:t>
            </a:r>
          </a:p>
        </p:txBody>
      </p:sp>
      <p:sp>
        <p:nvSpPr>
          <p:cNvPr id="9" name="">
            <a:extLst xmlns:a="http://schemas.openxmlformats.org/drawingml/2006/main">
              <a:ext uri="{FF2B5EF4-FFF2-40B4-BE49-F238E27FC236}">
                <a16:creationId xmlns:a16="http://schemas.microsoft.com/office/drawing/2014/main" id="{4FAC8033-A263-43BB-8420-F4B17BC12DA0}"/>
              </a:ext>
            </a:extLst>
          </p:cNvPr>
          <p:cNvSpPr>
            <a:spLocks xmlns:a="http://schemas.openxmlformats.org/drawingml/2006/main" noGrp="1"/>
          </p:cNvSpPr>
          <p:nvPr/>
        </p:nvSpPr>
        <p:spPr>
          <a:xfrm xmlns:a="http://schemas.openxmlformats.org/drawingml/2006/main">
            <a:off x="4305300" y="226695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800" b="1">
                <a:solidFill>
                  <a:srgbClr val="FF5E45"/>
                </a:solidFill>
              </a:defRPr>
            </a:pPr>
            <a:r>
              <a:rPr sz="7800" b="1">
                <a:solidFill>
                  <a:srgbClr val="FF5E45"/>
                </a:solidFill>
              </a:rPr>
              <a:t>30</a:t>
            </a:r>
          </a:p>
        </p:txBody>
      </p:sp>
      <p:sp>
        <p:nvSpPr>
          <p:cNvPr id="10" name="">
            <a:extLst xmlns:a="http://schemas.openxmlformats.org/drawingml/2006/main">
              <a:ext uri="{FF2B5EF4-FFF2-40B4-BE49-F238E27FC236}">
                <a16:creationId xmlns:a16="http://schemas.microsoft.com/office/drawing/2014/main" id="{9FE893CD-B80F-42B1-95BB-6556DF92948D}"/>
              </a:ext>
            </a:extLst>
          </p:cNvPr>
          <p:cNvSpPr>
            <a:spLocks xmlns:a="http://schemas.openxmlformats.org/drawingml/2006/main" noGrp="1"/>
          </p:cNvSpPr>
          <p:nvPr/>
        </p:nvSpPr>
        <p:spPr>
          <a:xfrm xmlns:a="http://schemas.openxmlformats.org/drawingml/2006/main">
            <a:off x="6305550" y="2819400"/>
            <a:ext cx="9048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C8FF4A"/>
                </a:solidFill>
              </a:defRPr>
            </a:pPr>
            <a:r>
              <a:rPr sz="1275" b="1">
                <a:solidFill>
                  <a:srgbClr val="C8FF4A"/>
                </a:solidFill>
              </a:rPr>
              <a:t>SEC</a:t>
            </a:r>
          </a:p>
        </p:txBody>
      </p:sp>
      <p:sp>
        <p:nvSpPr>
          <p:cNvPr id="11" name="">
            <a:extLst xmlns:a="http://schemas.openxmlformats.org/drawingml/2006/main">
              <a:ext uri="{FF2B5EF4-FFF2-40B4-BE49-F238E27FC236}">
                <a16:creationId xmlns:a16="http://schemas.microsoft.com/office/drawing/2014/main" id="{77354072-2B1C-49B5-A4EC-44829C848D68}"/>
              </a:ext>
            </a:extLst>
          </p:cNvPr>
          <p:cNvSpPr>
            <a:spLocks xmlns:a="http://schemas.openxmlformats.org/drawingml/2006/main" noGrp="1"/>
          </p:cNvSpPr>
          <p:nvPr/>
        </p:nvSpPr>
        <p:spPr>
          <a:xfrm xmlns:a="http://schemas.openxmlformats.org/drawingml/2006/main">
            <a:off x="4305300" y="3667125"/>
            <a:ext cx="2857500" cy="28575"/>
          </a:xfrm>
          <a:prstGeom xmlns:a="http://schemas.openxmlformats.org/drawingml/2006/main" prst="rect">
            <a:avLst/>
          </a:prstGeom>
          <a:solidFill xmlns:a="http://schemas.openxmlformats.org/drawingml/2006/main">
            <a:srgbClr val="FF5E4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9198240-3212-484C-9AAB-95490A153D8C}"/>
              </a:ext>
            </a:extLst>
          </p:cNvPr>
          <p:cNvSpPr>
            <a:spLocks xmlns:a="http://schemas.openxmlformats.org/drawingml/2006/main" noGrp="1"/>
          </p:cNvSpPr>
          <p:nvPr/>
        </p:nvSpPr>
        <p:spPr>
          <a:xfrm xmlns:a="http://schemas.openxmlformats.org/drawingml/2006/main">
            <a:off x="4305300" y="4048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F0EEE8"/>
                </a:solidFill>
              </a:defRPr>
            </a:pPr>
            <a:r>
              <a:rPr sz="1425" b="1">
                <a:solidFill>
                  <a:srgbClr val="F0EEE8"/>
                </a:solidFill>
              </a:rPr>
              <a:t>Complete the ritual</a:t>
            </a:r>
          </a:p>
        </p:txBody>
      </p:sp>
      <p:sp>
        <p:nvSpPr>
          <p:cNvPr id="13" name="">
            <a:extLst xmlns:a="http://schemas.openxmlformats.org/drawingml/2006/main">
              <a:ext uri="{FF2B5EF4-FFF2-40B4-BE49-F238E27FC236}">
                <a16:creationId xmlns:a16="http://schemas.microsoft.com/office/drawing/2014/main" id="{37D0E2A4-5CDE-401D-B0C2-826CF47DE24B}"/>
              </a:ext>
            </a:extLst>
          </p:cNvPr>
          <p:cNvSpPr>
            <a:spLocks xmlns:a="http://schemas.openxmlformats.org/drawingml/2006/main" noGrp="1"/>
          </p:cNvSpPr>
          <p:nvPr/>
        </p:nvSpPr>
        <p:spPr>
          <a:xfrm xmlns:a="http://schemas.openxmlformats.org/drawingml/2006/main">
            <a:off x="7924800" y="226695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800" b="1">
                <a:solidFill>
                  <a:srgbClr val="F0EEE8"/>
                </a:solidFill>
              </a:defRPr>
            </a:pPr>
            <a:r>
              <a:rPr sz="7800" b="1">
                <a:solidFill>
                  <a:srgbClr val="F0EEE8"/>
                </a:solidFill>
              </a:rPr>
              <a:t>8</a:t>
            </a:r>
          </a:p>
        </p:txBody>
      </p:sp>
      <p:sp>
        <p:nvSpPr>
          <p:cNvPr id="14" name="">
            <a:extLst xmlns:a="http://schemas.openxmlformats.org/drawingml/2006/main">
              <a:ext uri="{FF2B5EF4-FFF2-40B4-BE49-F238E27FC236}">
                <a16:creationId xmlns:a16="http://schemas.microsoft.com/office/drawing/2014/main" id="{2337A2F1-6684-4281-A492-5349ED4AC1E6}"/>
              </a:ext>
            </a:extLst>
          </p:cNvPr>
          <p:cNvSpPr>
            <a:spLocks xmlns:a="http://schemas.openxmlformats.org/drawingml/2006/main" noGrp="1"/>
          </p:cNvSpPr>
          <p:nvPr/>
        </p:nvSpPr>
        <p:spPr>
          <a:xfrm xmlns:a="http://schemas.openxmlformats.org/drawingml/2006/main">
            <a:off x="9925050" y="2819400"/>
            <a:ext cx="9048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C8FF4A"/>
                </a:solidFill>
              </a:defRPr>
            </a:pPr>
            <a:r>
              <a:rPr sz="1275" b="1">
                <a:solidFill>
                  <a:srgbClr val="C8FF4A"/>
                </a:solidFill>
              </a:rPr>
              <a:t>SEC</a:t>
            </a:r>
          </a:p>
        </p:txBody>
      </p:sp>
      <p:sp>
        <p:nvSpPr>
          <p:cNvPr id="15" name="">
            <a:extLst xmlns:a="http://schemas.openxmlformats.org/drawingml/2006/main">
              <a:ext uri="{FF2B5EF4-FFF2-40B4-BE49-F238E27FC236}">
                <a16:creationId xmlns:a16="http://schemas.microsoft.com/office/drawing/2014/main" id="{C754C4C3-DBF8-48D2-829A-21E0CCAB7F27}"/>
              </a:ext>
            </a:extLst>
          </p:cNvPr>
          <p:cNvSpPr>
            <a:spLocks xmlns:a="http://schemas.openxmlformats.org/drawingml/2006/main" noGrp="1"/>
          </p:cNvSpPr>
          <p:nvPr/>
        </p:nvSpPr>
        <p:spPr>
          <a:xfrm xmlns:a="http://schemas.openxmlformats.org/drawingml/2006/main">
            <a:off x="7924800" y="3667125"/>
            <a:ext cx="2857500" cy="28575"/>
          </a:xfrm>
          <a:prstGeom xmlns:a="http://schemas.openxmlformats.org/drawingml/2006/main" prst="rect">
            <a:avLst/>
          </a:prstGeom>
          <a:solidFill xmlns:a="http://schemas.openxmlformats.org/drawingml/2006/main">
            <a:srgbClr val="35353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86471F0-C0A1-4981-9580-D891A23D58A7}"/>
              </a:ext>
            </a:extLst>
          </p:cNvPr>
          <p:cNvSpPr>
            <a:spLocks xmlns:a="http://schemas.openxmlformats.org/drawingml/2006/main" noGrp="1"/>
          </p:cNvSpPr>
          <p:nvPr/>
        </p:nvSpPr>
        <p:spPr>
          <a:xfrm xmlns:a="http://schemas.openxmlformats.org/drawingml/2006/main">
            <a:off x="7924800" y="4048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F0EEE8"/>
                </a:solidFill>
              </a:defRPr>
            </a:pPr>
            <a:r>
              <a:rPr sz="1425" b="1">
                <a:solidFill>
                  <a:srgbClr val="F0EEE8"/>
                </a:solidFill>
              </a:rPr>
              <a:t>Let the room go quiet</a:t>
            </a:r>
          </a:p>
        </p:txBody>
      </p:sp>
      <p:sp>
        <p:nvSpPr>
          <p:cNvPr id="17" name="">
            <a:extLst xmlns:a="http://schemas.openxmlformats.org/drawingml/2006/main">
              <a:ext uri="{FF2B5EF4-FFF2-40B4-BE49-F238E27FC236}">
                <a16:creationId xmlns:a16="http://schemas.microsoft.com/office/drawing/2014/main" id="{60D2351D-4EBB-44E7-9132-085C373799EC}"/>
              </a:ext>
            </a:extLst>
          </p:cNvPr>
          <p:cNvSpPr>
            <a:spLocks xmlns:a="http://schemas.openxmlformats.org/drawingml/2006/main" noGrp="1"/>
          </p:cNvSpPr>
          <p:nvPr/>
        </p:nvSpPr>
        <p:spPr>
          <a:xfrm xmlns:a="http://schemas.openxmlformats.org/drawingml/2006/main">
            <a:off x="685800" y="5695950"/>
            <a:ext cx="10820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AAA9A3"/>
                </a:solidFill>
              </a:defRPr>
            </a:pPr>
            <a:r>
              <a:rPr sz="1425" b="1">
                <a:solidFill>
                  <a:srgbClr val="AAA9A3"/>
                </a:solidFill>
              </a:rPr>
              <a:t>NOT A FEED. NOT A PLANNER. NOT A CHATBOT. A NEW FESTIVAL RITUAL.</a:t>
            </a:r>
          </a:p>
        </p:txBody>
      </p:sp>
    </p:spTree>
    <p:extLst>
      <p:ext uri="{BB962C8B-B14F-4D97-AF65-F5344CB8AC3E}">
        <p14:creationId xmlns:p14="http://schemas.microsoft.com/office/powerpoint/2010/main" val="33477677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eb41abefa5fa41b1"/>
          <a:srcRect xmlns:a="http://schemas.openxmlformats.org/drawingml/2006/main" l="0" t="5034" r="0" b="5034"/>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7AB086A-4045-48F1-B423-36A3329EA6B6}"/>
              </a:ext>
            </a:extLst>
          </p:cNvPr>
          <p:cNvSpPr>
            <a:spLocks xmlns:a="http://schemas.openxmlformats.org/drawingml/2006/main" noGrp="1"/>
          </p:cNvSpPr>
          <p:nvPr/>
        </p:nvSpPr>
        <p:spPr>
          <a:xfrm xmlns:a="http://schemas.openxmlformats.org/drawingml/2006/main">
            <a:off x="0" y="0"/>
            <a:ext cx="76200" cy="6858000"/>
          </a:xfrm>
          <a:prstGeom xmlns:a="http://schemas.openxmlformats.org/drawingml/2006/main" prst="rect">
            <a:avLst/>
          </a:prstGeom>
          <a:solidFill xmlns:a="http://schemas.openxmlformats.org/drawingml/2006/main">
            <a:srgbClr val="C8FF4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8055C80-078D-4CC2-B1AF-4D9D4233F18D}"/>
              </a:ext>
            </a:extLst>
          </p:cNvPr>
          <p:cNvSpPr>
            <a:spLocks xmlns:a="http://schemas.openxmlformats.org/drawingml/2006/main" noGrp="1"/>
          </p:cNvSpPr>
          <p:nvPr/>
        </p:nvSpPr>
        <p:spPr>
          <a:xfrm xmlns:a="http://schemas.openxmlformats.org/drawingml/2006/main">
            <a:off x="685800" y="704850"/>
            <a:ext cx="7620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5025" b="1">
                <a:solidFill>
                  <a:srgbClr val="F0EEE8"/>
                </a:solidFill>
              </a:defRPr>
            </a:pPr>
            <a:r>
              <a:rPr sz="5025" b="1">
                <a:solidFill>
                  <a:srgbClr val="F0EEE8"/>
                </a:solidFill>
              </a:rPr>
              <a:t>HOLD THE PULSE.</a:t>
            </a:r>
          </a:p>
        </p:txBody>
      </p:sp>
      <p:sp>
        <p:nvSpPr>
          <p:cNvPr id="4" name="">
            <a:extLst xmlns:a="http://schemas.openxmlformats.org/drawingml/2006/main">
              <a:ext uri="{FF2B5EF4-FFF2-40B4-BE49-F238E27FC236}">
                <a16:creationId xmlns:a16="http://schemas.microsoft.com/office/drawing/2014/main" id="{5FAD3193-0DB6-4CBA-A875-1578FDB9F100}"/>
              </a:ext>
            </a:extLst>
          </p:cNvPr>
          <p:cNvSpPr>
            <a:spLocks xmlns:a="http://schemas.openxmlformats.org/drawingml/2006/main" noGrp="1"/>
          </p:cNvSpPr>
          <p:nvPr/>
        </p:nvSpPr>
        <p:spPr>
          <a:xfrm xmlns:a="http://schemas.openxmlformats.org/drawingml/2006/main">
            <a:off x="723900" y="1600200"/>
            <a:ext cx="609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FF5E45"/>
                </a:solidFill>
              </a:defRPr>
            </a:pPr>
            <a:r>
              <a:rPr sz="1875" b="1">
                <a:solidFill>
                  <a:srgbClr val="FF5E45"/>
                </a:solidFill>
              </a:rPr>
              <a:t>Then stop speaking and let the room feel it.</a:t>
            </a:r>
          </a:p>
        </p:txBody>
      </p:sp>
      <p:sp>
        <p:nvSpPr>
          <p:cNvPr id="5" name="">
            <a:extLst xmlns:a="http://schemas.openxmlformats.org/drawingml/2006/main">
              <a:ext uri="{FF2B5EF4-FFF2-40B4-BE49-F238E27FC236}">
                <a16:creationId xmlns:a16="http://schemas.microsoft.com/office/drawing/2014/main" id="{279C3893-56A2-4B45-8D54-3363177CA2CB}"/>
              </a:ext>
            </a:extLst>
          </p:cNvPr>
          <p:cNvSpPr>
            <a:spLocks xmlns:a="http://schemas.openxmlformats.org/drawingml/2006/main" noGrp="1"/>
          </p:cNvSpPr>
          <p:nvPr/>
        </p:nvSpPr>
        <p:spPr>
          <a:xfrm xmlns:a="http://schemas.openxmlformats.org/drawingml/2006/main">
            <a:off x="723900" y="4552950"/>
            <a:ext cx="6191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F0EEE8"/>
                </a:solidFill>
              </a:defRPr>
            </a:pPr>
            <a:r>
              <a:rPr sz="1875" b="1">
                <a:solidFill>
                  <a:srgbClr val="F0EEE8"/>
                </a:solidFill>
              </a:rPr>
              <a:t>Outside Lands already brings the show everywhere.</a:t>
            </a:r>
          </a:p>
          <a:p xmlns:a="http://schemas.openxmlformats.org/drawingml/2006/main">
            <a:pPr algn="l">
              <a:defRPr sz="1875" b="1">
                <a:solidFill>
                  <a:srgbClr val="F0EEE8"/>
                </a:solidFill>
              </a:defRPr>
            </a:pPr>
            <a:r>
              <a:rPr sz="1875" b="1">
                <a:solidFill>
                  <a:srgbClr val="F0EEE8"/>
                </a:solidFill>
              </a:rPr>
              <a:t>Same Sky brings one person into the feeling of being there.</a:t>
            </a:r>
          </a:p>
        </p:txBody>
      </p:sp>
      <p:sp>
        <p:nvSpPr>
          <p:cNvPr id="6" name="">
            <a:extLst xmlns:a="http://schemas.openxmlformats.org/drawingml/2006/main">
              <a:ext uri="{FF2B5EF4-FFF2-40B4-BE49-F238E27FC236}">
                <a16:creationId xmlns:a16="http://schemas.microsoft.com/office/drawing/2014/main" id="{7AD139D5-C476-490E-931C-B1D490B13848}"/>
              </a:ext>
            </a:extLst>
          </p:cNvPr>
          <p:cNvSpPr>
            <a:spLocks xmlns:a="http://schemas.openxmlformats.org/drawingml/2006/main" noGrp="1"/>
          </p:cNvSpPr>
          <p:nvPr/>
        </p:nvSpPr>
        <p:spPr>
          <a:xfrm xmlns:a="http://schemas.openxmlformats.org/drawingml/2006/main">
            <a:off x="723900" y="5924550"/>
            <a:ext cx="5048250" cy="457200"/>
          </a:xfrm>
          <a:prstGeom xmlns:a="http://schemas.openxmlformats.org/drawingml/2006/main" prst="rect">
            <a:avLst/>
          </a:prstGeom>
          <a:solidFill xmlns:a="http://schemas.openxmlformats.org/drawingml/2006/main">
            <a:srgbClr val="C8FF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02D6D2E-0E91-4EAF-959B-773CF0400F5B}"/>
              </a:ext>
            </a:extLst>
          </p:cNvPr>
          <p:cNvSpPr>
            <a:spLocks xmlns:a="http://schemas.openxmlformats.org/drawingml/2006/main" noGrp="1"/>
          </p:cNvSpPr>
          <p:nvPr/>
        </p:nvSpPr>
        <p:spPr>
          <a:xfrm xmlns:a="http://schemas.openxmlformats.org/drawingml/2006/main">
            <a:off x="857250" y="6057900"/>
            <a:ext cx="478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7070B"/>
                </a:solidFill>
              </a:defRPr>
            </a:pPr>
            <a:r>
              <a:rPr sz="1125" b="1">
                <a:solidFill>
                  <a:srgbClr val="07070B"/>
                </a:solidFill>
              </a:rPr>
              <a:t>same-sky-live.vnmoorthy.chatgpt.site</a:t>
            </a:r>
          </a:p>
        </p:txBody>
      </p:sp>
    </p:spTree>
    <p:extLst>
      <p:ext uri="{BB962C8B-B14F-4D97-AF65-F5344CB8AC3E}">
        <p14:creationId xmlns:p14="http://schemas.microsoft.com/office/powerpoint/2010/main" val="1730528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2026-08-03T00:45:06.1020000Z</dcterms:created>
  <dcterms:modified xsi:type="dcterms:W3CDTF">2026-08-03T00:45:06.1020000Z</dcterms:modified>
</coreProperties>
</file>