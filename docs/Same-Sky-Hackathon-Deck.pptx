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abeb5e35a74cb2" /><Relationship Type="http://schemas.openxmlformats.org/officeDocument/2006/relationships/extended-properties" Target="/docProps/app.xml" Id="Rc2104c93c7f645bb" /><Relationship Type="http://schemas.openxmlformats.org/officeDocument/2006/relationships/officeDocument" Target="/ppt/presentation.xml" Id="R012d33b300744a27" /></Relationships>
</file>

<file path=ppt/presentation.xml><?xml version="1.0" encoding="utf-8"?>
<p:presentation xmlns:p="http://schemas.openxmlformats.org/presentationml/2006/main">
  <p:sldMasterIdLst>
    <p:sldMasterId xmlns:r="http://schemas.openxmlformats.org/officeDocument/2006/relationships" id="2147483648" r:id="R0029685633fc4483"/>
  </p:sldMasterIdLst>
  <p:notesMasterIdLst>
    <p:notesMasterId xmlns:r="http://schemas.openxmlformats.org/officeDocument/2006/relationships" r:id="Rf9aa222d5a49406e"/>
  </p:notesMasterIdLst>
  <p:sldIdLst>
    <p:sldId xmlns:r="http://schemas.openxmlformats.org/officeDocument/2006/relationships" id="256" r:id="Rf8ffa3bf0f764a68"/>
    <p:sldId xmlns:r="http://schemas.openxmlformats.org/officeDocument/2006/relationships" id="257" r:id="R32e6cd4e10294e52"/>
    <p:sldId xmlns:r="http://schemas.openxmlformats.org/officeDocument/2006/relationships" id="258" r:id="Rc591ba87b470455d"/>
    <p:sldId xmlns:r="http://schemas.openxmlformats.org/officeDocument/2006/relationships" id="259" r:id="R0b262c470fac4d66"/>
    <p:sldId xmlns:r="http://schemas.openxmlformats.org/officeDocument/2006/relationships" id="260" r:id="R1adbf39062944941"/>
    <p:sldId xmlns:r="http://schemas.openxmlformats.org/officeDocument/2006/relationships" id="261" r:id="Rfaeb4af39c334b89"/>
    <p:sldId xmlns:r="http://schemas.openxmlformats.org/officeDocument/2006/relationships" id="262" r:id="R7b269d6ad8b7434e"/>
    <p:sldId xmlns:r="http://schemas.openxmlformats.org/officeDocument/2006/relationships" id="263" r:id="Rec55ac328dc94d62"/>
    <p:sldId xmlns:r="http://schemas.openxmlformats.org/officeDocument/2006/relationships" id="264" r:id="R75e9eb4603264a78"/>
    <p:sldId xmlns:r="http://schemas.openxmlformats.org/officeDocument/2006/relationships" id="265" r:id="R711ea7516c834d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00420048994fbe" /><Relationship Type="http://schemas.openxmlformats.org/officeDocument/2006/relationships/slideMaster" Target="/ppt/slideMasters/slideMaster1.xml" Id="R0029685633fc4483" /><Relationship Type="http://schemas.openxmlformats.org/officeDocument/2006/relationships/notesMaster" Target="/ppt/notesMasters/notesMaster1.xml" Id="Rf9aa222d5a49406e" /><Relationship Type="http://schemas.openxmlformats.org/officeDocument/2006/relationships/presProps" Target="/ppt/presProps.xml" Id="R98fdd7e3f9b14a39" /><Relationship Type="http://schemas.openxmlformats.org/officeDocument/2006/relationships/tableStyles" Target="/ppt/tableStyles.xml" Id="R6d246962a42c4ee6" /><Relationship Type="http://schemas.openxmlformats.org/officeDocument/2006/relationships/slide" Target="/ppt/slides/slide1.xml" Id="Rf8ffa3bf0f764a68" /><Relationship Type="http://schemas.openxmlformats.org/officeDocument/2006/relationships/slide" Target="/ppt/slides/slide2.xml" Id="R32e6cd4e10294e52" /><Relationship Type="http://schemas.openxmlformats.org/officeDocument/2006/relationships/slide" Target="/ppt/slides/slide3.xml" Id="Rc591ba87b470455d" /><Relationship Type="http://schemas.openxmlformats.org/officeDocument/2006/relationships/slide" Target="/ppt/slides/slide4.xml" Id="R0b262c470fac4d66" /><Relationship Type="http://schemas.openxmlformats.org/officeDocument/2006/relationships/slide" Target="/ppt/slides/slide5.xml" Id="R1adbf39062944941" /><Relationship Type="http://schemas.openxmlformats.org/officeDocument/2006/relationships/slide" Target="/ppt/slides/slide6.xml" Id="Rfaeb4af39c334b89" /><Relationship Type="http://schemas.openxmlformats.org/officeDocument/2006/relationships/slide" Target="/ppt/slides/slide7.xml" Id="R7b269d6ad8b7434e" /><Relationship Type="http://schemas.openxmlformats.org/officeDocument/2006/relationships/slide" Target="/ppt/slides/slide8.xml" Id="Rec55ac328dc94d62" /><Relationship Type="http://schemas.openxmlformats.org/officeDocument/2006/relationships/slide" Target="/ppt/slides/slide9.xml" Id="R75e9eb4603264a78" /><Relationship Type="http://schemas.openxmlformats.org/officeDocument/2006/relationships/slide" Target="/ppt/slides/slide10.xml" Id="R711ea7516c834d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b0daa664054d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7b44fb27924776" /><Relationship Type="http://schemas.openxmlformats.org/officeDocument/2006/relationships/notesMaster" Target="/ppt/notesMasters/notesMaster1.xml" Id="R09355e09fed741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e84fa15418406f" /><Relationship Type="http://schemas.openxmlformats.org/officeDocument/2006/relationships/notesMaster" Target="/ppt/notesMasters/notesMaster1.xml" Id="Rb37563ba16484f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298387a6f64095" /><Relationship Type="http://schemas.openxmlformats.org/officeDocument/2006/relationships/notesMaster" Target="/ppt/notesMasters/notesMaster1.xml" Id="Rf39bf7d8119b42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3d1f1e45e54c47" /><Relationship Type="http://schemas.openxmlformats.org/officeDocument/2006/relationships/notesMaster" Target="/ppt/notesMasters/notesMaster1.xml" Id="Re63b283ac6a64a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84870249184b29" /><Relationship Type="http://schemas.openxmlformats.org/officeDocument/2006/relationships/notesMaster" Target="/ppt/notesMasters/notesMaster1.xml" Id="R0dcd19c2b3c44f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f6a63e9d214766" /><Relationship Type="http://schemas.openxmlformats.org/officeDocument/2006/relationships/notesMaster" Target="/ppt/notesMasters/notesMaster1.xml" Id="R6a1c548f2b984f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66195723684f99" /><Relationship Type="http://schemas.openxmlformats.org/officeDocument/2006/relationships/notesMaster" Target="/ppt/notesMasters/notesMaster1.xml" Id="R51bdf99c29364b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998c24e4454250" /><Relationship Type="http://schemas.openxmlformats.org/officeDocument/2006/relationships/notesMaster" Target="/ppt/notesMasters/notesMaster1.xml" Id="R396ae4fa8a7d43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0f75e5f7d241ba" /><Relationship Type="http://schemas.openxmlformats.org/officeDocument/2006/relationships/notesMaster" Target="/ppt/notesMasters/notesMaster1.xml" Id="R37126dc5161b4a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f8f74b1e434d52" /><Relationship Type="http://schemas.openxmlformats.org/officeDocument/2006/relationships/notesMaster" Target="/ppt/notesMasters/notesMaster1.xml" Id="R81d9579f94b7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Livestreams transmit video. Same Sky transmits presence. It is a private ritual between one person at Outside Lands and one person watching from anywhere.</a:t>
            </a:r>
          </a:p>
          <a:p xmlns:a="http://schemas.openxmlformats.org/drawingml/2006/main">
            <a:r>
              <a:t/>
            </a:r>
          </a:p>
          <a:p xmlns:a="http://schemas.openxmlformats.org/drawingml/2006/main">
            <a:r>
              <a:t>[Sources]</a:t>
            </a:r>
          </a:p>
          <a:p xmlns:a="http://schemas.openxmlformats.org/drawingml/2006/main">
            <a:r>
              <a:t>https://outsidellms.com/</a:t>
            </a:r>
          </a:p>
          <a:p xmlns:a="http://schemas.openxmlformats.org/drawingml/2006/main">
            <a:r>
              <a:t>https://www.sfoutsidelands.com/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Lands already solves reach through the livestream. The unsolved problem is emotional distance: the viewer can see everything and still feel like nobody at the festival is thinking of them.</a:t>
            </a:r>
          </a:p>
          <a:p xmlns:a="http://schemas.openxmlformats.org/drawingml/2006/main">
            <a:r>
              <a:t/>
            </a:r>
          </a:p>
          <a:p xmlns:a="http://schemas.openxmlformats.org/drawingml/2006/main">
            <a:r>
              <a:t>[Sources]</a:t>
            </a:r>
          </a:p>
          <a:p xmlns:a="http://schemas.openxmlformats.org/drawingml/2006/main">
            <a:r>
              <a:t>https://www.primevideo.com/detail/0FFYUNMY3OBBG8WGDH9O8IY7UO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onsite fan catches a rights-safe moment. OpenAI translates only literal inputs into an accessible postcard. The sender reviews it. The viewer holds once. Both phones become the same light for eight seconds.</a:t>
            </a:r>
          </a:p>
          <a:p xmlns:a="http://schemas.openxmlformats.org/drawingml/2006/main">
            <a:r>
              <a:t/>
            </a:r>
          </a:p>
          <a:p xmlns:a="http://schemas.openxmlformats.org/drawingml/2006/main">
            <a:r>
              <a:t>[Sources]</a:t>
            </a:r>
          </a:p>
          <a:p xmlns:a="http://schemas.openxmlformats.org/drawingml/2006/main">
            <a:r>
              <a:t>- Product implementation: Same Sky repository (original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judge mode, the screen shows two real clients against the real APIs. Ask one judge to hold the remote pulse. Then stop speaking. The eight-second shared light is the emotional proof.</a:t>
            </a:r>
          </a:p>
          <a:p xmlns:a="http://schemas.openxmlformats.org/drawingml/2006/main">
            <a:r>
              <a:t/>
            </a:r>
          </a:p>
          <a:p xmlns:a="http://schemas.openxmlformats.org/drawingml/2006/main">
            <a:r>
              <a:t>[Sources]</a:t>
            </a:r>
          </a:p>
          <a:p xmlns:a="http://schemas.openxmlformats.org/drawingml/2006/main">
            <a:r>
              <a:t>- Product implementation: Same Sky repository (original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is not decoration. It performs a narrow transformation: messy sensory facts into constrained, accessible language. The prompt forbids lyrics, identity inference, invented weather, emotion, and endorsement. Generation never equals delivery.</a:t>
            </a:r>
          </a:p>
          <a:p xmlns:a="http://schemas.openxmlformats.org/drawingml/2006/main">
            <a:r>
              <a:t/>
            </a:r>
          </a:p>
          <a:p xmlns:a="http://schemas.openxmlformats.org/drawingml/2006/main">
            <a:r>
              <a:t>[Sources]</a:t>
            </a:r>
          </a:p>
          <a:p xmlns:a="http://schemas.openxmlformats.org/drawingml/2006/main">
            <a:r>
              <a:t>https://developers.openai.com/api/docs/guides/latest-model</a:t>
            </a:r>
          </a:p>
          <a:p xmlns:a="http://schemas.openxmlformats.org/drawingml/2006/main">
            <a:r>
              <a:t>https://developers.openai.com/api/docs/guides/images-vision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improves the translation. Sites provides durable private state and deployment. JamBase enriches the live set. Codex built and hardened the product. Each integration has an honest fallback, so festival connectivity cannot kill the emotional demo.</a:t>
            </a:r>
          </a:p>
          <a:p xmlns:a="http://schemas.openxmlformats.org/drawingml/2006/main">
            <a:r>
              <a:t/>
            </a:r>
          </a:p>
          <a:p xmlns:a="http://schemas.openxmlformats.org/drawingml/2006/main">
            <a:r>
              <a:t>[Sources]</a:t>
            </a:r>
          </a:p>
          <a:p xmlns:a="http://schemas.openxmlformats.org/drawingml/2006/main">
            <a:r>
              <a:t>https://data.jambase.com/api/docs/getting-started</a:t>
            </a:r>
          </a:p>
          <a:p xmlns:a="http://schemas.openxmlformats.org/drawingml/2006/main">
            <a:r>
              <a:t>https://data.jambase.com/api/docs/attribution</a:t>
            </a:r>
          </a:p>
          <a:p xmlns:a="http://schemas.openxmlformats.org/drawingml/2006/main">
            <a:r>
              <a:t>https://developers.openai.com/api/docs/guides/latest-model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owns a strict one-way state machine. Long random role tokens authorize every private operation. D1 stores expiring session state. R2 serves resized media only to authenticated participants.</a:t>
            </a:r>
          </a:p>
          <a:p xmlns:a="http://schemas.openxmlformats.org/drawingml/2006/main">
            <a:r>
              <a:t/>
            </a:r>
          </a:p>
          <a:p xmlns:a="http://schemas.openxmlformats.org/drawingml/2006/main">
            <a:r>
              <a:t>[Sources]</a:t>
            </a:r>
          </a:p>
          <a:p xmlns:a="http://schemas.openxmlformats.org/drawingml/2006/main">
            <a:r>
              <a:t>- Product implementation: Same Sky repository (original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is not a footnote. We never record the performance. We do not ask for identity, location, contacts, or a social graph. Both people can delete immediately. Every permission can be skipped, and every animation has reduced-motion behavior.</a:t>
            </a:r>
          </a:p>
          <a:p xmlns:a="http://schemas.openxmlformats.org/drawingml/2006/main">
            <a:r>
              <a:t/>
            </a:r>
          </a:p>
          <a:p xmlns:a="http://schemas.openxmlformats.org/drawingml/2006/main">
            <a:r>
              <a:t>[Sources]</a:t>
            </a:r>
          </a:p>
          <a:p xmlns:a="http://schemas.openxmlformats.org/drawingml/2006/main">
            <a:r>
              <a:t>https://www.sfoutsidelands.com/info/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wins because judges do not have to imagine the value. It is distinct from planners, recaps, feeds, matching, and chatbots. It is emotionally legible, technically real, safe under festival conditions, and complete in thirty seconds.</a:t>
            </a:r>
          </a:p>
          <a:p xmlns:a="http://schemas.openxmlformats.org/drawingml/2006/main">
            <a:r>
              <a:t/>
            </a:r>
          </a:p>
          <a:p xmlns:a="http://schemas.openxmlformats.org/drawingml/2006/main">
            <a:r>
              <a:t>[Sources]</a:t>
            </a:r>
          </a:p>
          <a:p xmlns:a="http://schemas.openxmlformats.org/drawingml/2006/main">
            <a:r>
              <a:t>https://outsidellms.com/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Lands already brings the show everywhere. Same Sky brings one person into the feeling of being there. Open the live app, choose the one-screen judge demo, hold the pulse—and stop speaking.</a:t>
            </a:r>
          </a:p>
          <a:p xmlns:a="http://schemas.openxmlformats.org/drawingml/2006/main">
            <a:r>
              <a:t/>
            </a:r>
          </a:p>
          <a:p xmlns:a="http://schemas.openxmlformats.org/drawingml/2006/main">
            <a:r>
              <a:t>[Sources]</a:t>
            </a:r>
          </a:p>
          <a:p xmlns:a="http://schemas.openxmlformats.org/drawingml/2006/main">
            <a:r>
              <a:t>https://outsidellms.com/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2fe1c2abe740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7267b9059e489d" /><Relationship Type="http://schemas.openxmlformats.org/officeDocument/2006/relationships/slideLayout" Target="/ppt/slideLayouts/slideLayout1.xml" Id="R4c3a1d1e9eaa48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3a1d1e9eaa48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8c330b168e4beb" /><Relationship Type="http://schemas.openxmlformats.org/officeDocument/2006/relationships/image" Target="/ppt/media/image.png" Id="Ra8ade043d8a041c0" /><Relationship Type="http://schemas.openxmlformats.org/officeDocument/2006/relationships/notesSlide" Target="/ppt/notesSlides/notesSlide1.xml" Id="R15bb5c7c732d45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bf6137536843e9" /><Relationship Type="http://schemas.openxmlformats.org/officeDocument/2006/relationships/notesSlide" Target="/ppt/notesSlides/notesSlide2.xml" Id="Rab2aeba819db43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7c8d767cc543ff" /><Relationship Type="http://schemas.openxmlformats.org/officeDocument/2006/relationships/notesSlide" Target="/ppt/notesSlides/notesSlide3.xml" Id="R73c3348b9dc245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a1d1fdab684417" /><Relationship Type="http://schemas.openxmlformats.org/officeDocument/2006/relationships/notesSlide" Target="/ppt/notesSlides/notesSlide4.xml" Id="R64ff514297ee4d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c3da52477c4d40" /><Relationship Type="http://schemas.openxmlformats.org/officeDocument/2006/relationships/notesSlide" Target="/ppt/notesSlides/notesSlide5.xml" Id="R2d804bdc978240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6aaff9e87745f2" /><Relationship Type="http://schemas.openxmlformats.org/officeDocument/2006/relationships/notesSlide" Target="/ppt/notesSlides/notesSlide6.xml" Id="Rc15a84e8c01546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8ac3f833e7540a6" /><Relationship Type="http://schemas.openxmlformats.org/officeDocument/2006/relationships/notesSlide" Target="/ppt/notesSlides/notesSlide7.xml" Id="R02fcf40416ed4e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da8ef2d9d4499a" /><Relationship Type="http://schemas.openxmlformats.org/officeDocument/2006/relationships/notesSlide" Target="/ppt/notesSlides/notesSlide8.xml" Id="R369c7992c8ef42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5afde8f7714942" /><Relationship Type="http://schemas.openxmlformats.org/officeDocument/2006/relationships/notesSlide" Target="/ppt/notesSlides/notesSlide9.xml" Id="Rf165b14d3a9441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31a4d003de4edc" /><Relationship Type="http://schemas.openxmlformats.org/officeDocument/2006/relationships/image" Target="/ppt/media/image2.png" Id="Reb41abefa5fa41b1" /><Relationship Type="http://schemas.openxmlformats.org/officeDocument/2006/relationships/notesSlide" Target="/ppt/notesSlides/notesSlide10.xml" Id="R8de145fb97844a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ade043d8a041c0"/>
          <a:srcRect xmlns:a="http://schemas.openxmlformats.org/drawingml/2006/main" l="0" t="5034" r="0" b="503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25DED5-1ED2-4C50-BA07-3509719892E6}"/>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C8FF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33AFB9-C301-45E2-9C50-FB1D367111EF}"/>
              </a:ext>
            </a:extLst>
          </p:cNvPr>
          <p:cNvSpPr>
            <a:spLocks xmlns:a="http://schemas.openxmlformats.org/drawingml/2006/main" noGrp="1"/>
          </p:cNvSpPr>
          <p:nvPr/>
        </p:nvSpPr>
        <p:spPr>
          <a:xfrm xmlns:a="http://schemas.openxmlformats.org/drawingml/2006/main">
            <a:off x="685800" y="4953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8FF4A"/>
                </a:solidFill>
              </a:defRPr>
            </a:pPr>
            <a:r>
              <a:rPr sz="975" b="1">
                <a:solidFill>
                  <a:srgbClr val="C8FF4A"/>
                </a:solidFill>
              </a:rPr>
              <a:t>OUTSIDELLMS III · MAKE THE FESTIVAL BETTER</a:t>
            </a:r>
          </a:p>
        </p:txBody>
      </p:sp>
      <p:sp>
        <p:nvSpPr>
          <p:cNvPr id="4" name="">
            <a:extLst xmlns:a="http://schemas.openxmlformats.org/drawingml/2006/main">
              <a:ext uri="{FF2B5EF4-FFF2-40B4-BE49-F238E27FC236}">
                <a16:creationId xmlns:a16="http://schemas.microsoft.com/office/drawing/2014/main" id="{3A5FD3B5-3468-46CD-8085-8D5F353ABEE1}"/>
              </a:ext>
            </a:extLst>
          </p:cNvPr>
          <p:cNvSpPr>
            <a:spLocks xmlns:a="http://schemas.openxmlformats.org/drawingml/2006/main" noGrp="1"/>
          </p:cNvSpPr>
          <p:nvPr/>
        </p:nvSpPr>
        <p:spPr>
          <a:xfrm xmlns:a="http://schemas.openxmlformats.org/drawingml/2006/main">
            <a:off x="685800" y="1476375"/>
            <a:ext cx="6191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850" b="1">
                <a:solidFill>
                  <a:srgbClr val="F0EEE8"/>
                </a:solidFill>
              </a:defRPr>
            </a:pPr>
            <a:r>
              <a:rPr sz="8850" b="1">
                <a:solidFill>
                  <a:srgbClr val="F0EEE8"/>
                </a:solidFill>
              </a:rPr>
              <a:t>SAME</a:t>
            </a:r>
          </a:p>
          <a:p xmlns:a="http://schemas.openxmlformats.org/drawingml/2006/main">
            <a:pPr algn="l">
              <a:defRPr sz="8850" b="1">
                <a:solidFill>
                  <a:srgbClr val="F0EEE8"/>
                </a:solidFill>
              </a:defRPr>
            </a:pPr>
            <a:r>
              <a:rPr sz="8850" b="1">
                <a:solidFill>
                  <a:srgbClr val="F0EEE8"/>
                </a:solidFill>
              </a:rPr>
              <a:t>SKY</a:t>
            </a:r>
          </a:p>
        </p:txBody>
      </p:sp>
      <p:sp>
        <p:nvSpPr>
          <p:cNvPr id="5" name="">
            <a:extLst xmlns:a="http://schemas.openxmlformats.org/drawingml/2006/main">
              <a:ext uri="{FF2B5EF4-FFF2-40B4-BE49-F238E27FC236}">
                <a16:creationId xmlns:a16="http://schemas.microsoft.com/office/drawing/2014/main" id="{0AEA83CA-CC7C-4A21-B4D3-0B776629BF5B}"/>
              </a:ext>
            </a:extLst>
          </p:cNvPr>
          <p:cNvSpPr>
            <a:spLocks xmlns:a="http://schemas.openxmlformats.org/drawingml/2006/main" noGrp="1"/>
          </p:cNvSpPr>
          <p:nvPr/>
        </p:nvSpPr>
        <p:spPr>
          <a:xfrm xmlns:a="http://schemas.openxmlformats.org/drawingml/2006/main">
            <a:off x="723900" y="441007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5E45"/>
                </a:solidFill>
              </a:defRPr>
            </a:pPr>
            <a:r>
              <a:rPr sz="2250" b="1">
                <a:solidFill>
                  <a:srgbClr val="FF5E45"/>
                </a:solidFill>
              </a:rPr>
              <a:t>One set. Two skies.</a:t>
            </a:r>
          </a:p>
        </p:txBody>
      </p:sp>
      <p:sp>
        <p:nvSpPr>
          <p:cNvPr id="6" name="">
            <a:extLst xmlns:a="http://schemas.openxmlformats.org/drawingml/2006/main">
              <a:ext uri="{FF2B5EF4-FFF2-40B4-BE49-F238E27FC236}">
                <a16:creationId xmlns:a16="http://schemas.microsoft.com/office/drawing/2014/main" id="{9298EBC1-8D1C-4D83-A1A8-E0244E42A701}"/>
              </a:ext>
            </a:extLst>
          </p:cNvPr>
          <p:cNvSpPr>
            <a:spLocks xmlns:a="http://schemas.openxmlformats.org/drawingml/2006/main" noGrp="1"/>
          </p:cNvSpPr>
          <p:nvPr/>
        </p:nvSpPr>
        <p:spPr>
          <a:xfrm xmlns:a="http://schemas.openxmlformats.org/drawingml/2006/main">
            <a:off x="723900" y="5105400"/>
            <a:ext cx="1428750" cy="28575"/>
          </a:xfrm>
          <a:prstGeom xmlns:a="http://schemas.openxmlformats.org/drawingml/2006/main" prst="rect">
            <a:avLst/>
          </a:prstGeom>
          <a:solidFill xmlns:a="http://schemas.openxmlformats.org/drawingml/2006/main">
            <a:srgbClr val="C8FF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7C2A50-F12C-4B6F-885D-4D769DFACCBE}"/>
              </a:ext>
            </a:extLst>
          </p:cNvPr>
          <p:cNvSpPr>
            <a:spLocks xmlns:a="http://schemas.openxmlformats.org/drawingml/2006/main" noGrp="1"/>
          </p:cNvSpPr>
          <p:nvPr/>
        </p:nvSpPr>
        <p:spPr>
          <a:xfrm xmlns:a="http://schemas.openxmlformats.org/drawingml/2006/main">
            <a:off x="723900" y="5381625"/>
            <a:ext cx="504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0EEE8"/>
                </a:solidFill>
              </a:defRPr>
            </a:pPr>
            <a:r>
              <a:rPr sz="1500" b="0">
                <a:solidFill>
                  <a:srgbClr val="F0EEE8"/>
                </a:solidFill>
              </a:rPr>
              <a:t>Livestreams transmit video. Same Sky transmits presence—one private ritual between someone at the festival and someone anywhere.</a:t>
            </a:r>
          </a:p>
        </p:txBody>
      </p:sp>
      <p:sp>
        <p:nvSpPr>
          <p:cNvPr id="8" name="">
            <a:extLst xmlns:a="http://schemas.openxmlformats.org/drawingml/2006/main">
              <a:ext uri="{FF2B5EF4-FFF2-40B4-BE49-F238E27FC236}">
                <a16:creationId xmlns:a16="http://schemas.microsoft.com/office/drawing/2014/main" id="{16490E11-F2CD-42FD-BD2E-D8722E064FDF}"/>
              </a:ext>
            </a:extLst>
          </p:cNvPr>
          <p:cNvSpPr>
            <a:spLocks xmlns:a="http://schemas.openxmlformats.org/drawingml/2006/main" noGrp="1"/>
          </p:cNvSpPr>
          <p:nvPr/>
        </p:nvSpPr>
        <p:spPr>
          <a:xfrm xmlns:a="http://schemas.openxmlformats.org/drawingml/2006/main">
            <a:off x="7239000" y="63436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F0EEE8"/>
                </a:solidFill>
              </a:defRPr>
            </a:pPr>
            <a:r>
              <a:rPr sz="825" b="1">
                <a:solidFill>
                  <a:srgbClr val="F0EEE8"/>
                </a:solidFill>
              </a:rPr>
              <a:t>LIVE BUILD  /  same-sky-live.vnmoorthy.chatgpt.site</a:t>
            </a:r>
          </a:p>
        </p:txBody>
      </p:sp>
    </p:spTree>
    <p:extLst>
      <p:ext uri="{BB962C8B-B14F-4D97-AF65-F5344CB8AC3E}">
        <p14:creationId xmlns:p14="http://schemas.microsoft.com/office/powerpoint/2010/main" val="1749835678"/>
      </p:ext>
    </p:extLst>
  </p:cSld>
</p:sld>
</file>

<file path=ppt/slides/slide2.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933339-26A0-4409-A776-E80D7A84453A}"/>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02 / 10</a:t>
            </a:r>
          </a:p>
        </p:txBody>
      </p:sp>
      <p:sp>
        <p:nvSpPr>
          <p:cNvPr id="2" name="">
            <a:extLst xmlns:a="http://schemas.openxmlformats.org/drawingml/2006/main">
              <a:ext uri="{FF2B5EF4-FFF2-40B4-BE49-F238E27FC236}">
                <a16:creationId xmlns:a16="http://schemas.microsoft.com/office/drawing/2014/main" id="{8C880C19-5934-482C-AA43-3BC6063D861B}"/>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THE HUMAN GAP</a:t>
            </a:r>
          </a:p>
        </p:txBody>
      </p:sp>
      <p:sp>
        <p:nvSpPr>
          <p:cNvPr id="3" name="">
            <a:extLst xmlns:a="http://schemas.openxmlformats.org/drawingml/2006/main">
              <a:ext uri="{FF2B5EF4-FFF2-40B4-BE49-F238E27FC236}">
                <a16:creationId xmlns:a16="http://schemas.microsoft.com/office/drawing/2014/main" id="{BC226FDC-4492-45CD-8B37-E3BABC20C463}"/>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049827-BF05-4392-9264-401DCA88B909}"/>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The stream carries every pixel. It still leaves someone out.</a:t>
            </a:r>
          </a:p>
        </p:txBody>
      </p:sp>
      <p:sp>
        <p:nvSpPr>
          <p:cNvPr id="5" name="">
            <a:extLst xmlns:a="http://schemas.openxmlformats.org/drawingml/2006/main">
              <a:ext uri="{FF2B5EF4-FFF2-40B4-BE49-F238E27FC236}">
                <a16:creationId xmlns:a16="http://schemas.microsoft.com/office/drawing/2014/main" id="{C8D0CAFF-3D44-4AA5-B597-597BB67992C9}"/>
              </a:ext>
            </a:extLst>
          </p:cNvPr>
          <p:cNvSpPr>
            <a:spLocks xmlns:a="http://schemas.openxmlformats.org/drawingml/2006/main" noGrp="1"/>
          </p:cNvSpPr>
          <p:nvPr/>
        </p:nvSpPr>
        <p:spPr>
          <a:xfrm xmlns:a="http://schemas.openxmlformats.org/drawingml/2006/main">
            <a:off x="685800" y="241935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700" b="1">
                <a:solidFill>
                  <a:srgbClr val="F0EEE8"/>
                </a:solidFill>
              </a:defRPr>
            </a:pPr>
            <a:r>
              <a:rPr sz="5700" b="1">
                <a:solidFill>
                  <a:srgbClr val="F0EEE8"/>
                </a:solidFill>
              </a:rPr>
              <a:t>VIDEO</a:t>
            </a:r>
          </a:p>
        </p:txBody>
      </p:sp>
      <p:sp>
        <p:nvSpPr>
          <p:cNvPr id="6" name="">
            <a:extLst xmlns:a="http://schemas.openxmlformats.org/drawingml/2006/main">
              <a:ext uri="{FF2B5EF4-FFF2-40B4-BE49-F238E27FC236}">
                <a16:creationId xmlns:a16="http://schemas.microsoft.com/office/drawing/2014/main" id="{03AED438-C284-457A-BE04-A5B107319DC0}"/>
              </a:ext>
            </a:extLst>
          </p:cNvPr>
          <p:cNvSpPr>
            <a:spLocks xmlns:a="http://schemas.openxmlformats.org/drawingml/2006/main" noGrp="1"/>
          </p:cNvSpPr>
          <p:nvPr/>
        </p:nvSpPr>
        <p:spPr>
          <a:xfrm xmlns:a="http://schemas.openxmlformats.org/drawingml/2006/main">
            <a:off x="4905375" y="2419350"/>
            <a:ext cx="857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5700" b="1">
                <a:solidFill>
                  <a:srgbClr val="FF5E45"/>
                </a:solidFill>
              </a:defRPr>
            </a:pPr>
            <a:r>
              <a:rPr sz="5700" b="1">
                <a:solidFill>
                  <a:srgbClr val="FF5E45"/>
                </a:solidFill>
              </a:rPr>
              <a:t>≠</a:t>
            </a:r>
          </a:p>
        </p:txBody>
      </p:sp>
      <p:sp>
        <p:nvSpPr>
          <p:cNvPr id="7" name="">
            <a:extLst xmlns:a="http://schemas.openxmlformats.org/drawingml/2006/main">
              <a:ext uri="{FF2B5EF4-FFF2-40B4-BE49-F238E27FC236}">
                <a16:creationId xmlns:a16="http://schemas.microsoft.com/office/drawing/2014/main" id="{DD6EB321-6039-4811-811E-C1CBE09F35A1}"/>
              </a:ext>
            </a:extLst>
          </p:cNvPr>
          <p:cNvSpPr>
            <a:spLocks xmlns:a="http://schemas.openxmlformats.org/drawingml/2006/main" noGrp="1"/>
          </p:cNvSpPr>
          <p:nvPr/>
        </p:nvSpPr>
        <p:spPr>
          <a:xfrm xmlns:a="http://schemas.openxmlformats.org/drawingml/2006/main">
            <a:off x="5953125" y="2419350"/>
            <a:ext cx="55530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5700" b="1">
                <a:solidFill>
                  <a:srgbClr val="F0EEE8"/>
                </a:solidFill>
              </a:defRPr>
            </a:pPr>
            <a:r>
              <a:rPr sz="5700" b="1">
                <a:solidFill>
                  <a:srgbClr val="F0EEE8"/>
                </a:solidFill>
              </a:rPr>
              <a:t>PRESENCE</a:t>
            </a:r>
          </a:p>
        </p:txBody>
      </p:sp>
      <p:sp>
        <p:nvSpPr>
          <p:cNvPr id="8" name="">
            <a:extLst xmlns:a="http://schemas.openxmlformats.org/drawingml/2006/main">
              <a:ext uri="{FF2B5EF4-FFF2-40B4-BE49-F238E27FC236}">
                <a16:creationId xmlns:a16="http://schemas.microsoft.com/office/drawing/2014/main" id="{0D0B0F1C-B2A5-41A0-A1D8-8184334B8EF1}"/>
              </a:ext>
            </a:extLst>
          </p:cNvPr>
          <p:cNvSpPr>
            <a:spLocks xmlns:a="http://schemas.openxmlformats.org/drawingml/2006/main" noGrp="1"/>
          </p:cNvSpPr>
          <p:nvPr/>
        </p:nvSpPr>
        <p:spPr>
          <a:xfrm xmlns:a="http://schemas.openxmlformats.org/drawingml/2006/main">
            <a:off x="685800" y="36004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3AEA6E-F179-4F7B-87E1-8297449F1FF4}"/>
              </a:ext>
            </a:extLst>
          </p:cNvPr>
          <p:cNvSpPr>
            <a:spLocks xmlns:a="http://schemas.openxmlformats.org/drawingml/2006/main" noGrp="1"/>
          </p:cNvSpPr>
          <p:nvPr/>
        </p:nvSpPr>
        <p:spPr>
          <a:xfrm xmlns:a="http://schemas.openxmlformats.org/drawingml/2006/main">
            <a:off x="685800" y="398145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0">
                <a:solidFill>
                  <a:srgbClr val="AAA9A3"/>
                </a:solidFill>
              </a:defRPr>
            </a:pPr>
            <a:r>
              <a:rPr sz="2025" b="0">
                <a:solidFill>
                  <a:srgbClr val="AAA9A3"/>
                </a:solidFill>
              </a:rPr>
              <a:t>The remote fan sees every pixel.</a:t>
            </a:r>
          </a:p>
        </p:txBody>
      </p:sp>
      <p:sp>
        <p:nvSpPr>
          <p:cNvPr id="10" name="">
            <a:extLst xmlns:a="http://schemas.openxmlformats.org/drawingml/2006/main">
              <a:ext uri="{FF2B5EF4-FFF2-40B4-BE49-F238E27FC236}">
                <a16:creationId xmlns:a16="http://schemas.microsoft.com/office/drawing/2014/main" id="{DC7670D8-435A-4CB7-B149-FC89786D1BFE}"/>
              </a:ext>
            </a:extLst>
          </p:cNvPr>
          <p:cNvSpPr>
            <a:spLocks xmlns:a="http://schemas.openxmlformats.org/drawingml/2006/main" noGrp="1"/>
          </p:cNvSpPr>
          <p:nvPr/>
        </p:nvSpPr>
        <p:spPr>
          <a:xfrm xmlns:a="http://schemas.openxmlformats.org/drawingml/2006/main">
            <a:off x="6191250" y="3981450"/>
            <a:ext cx="531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025" b="1">
                <a:solidFill>
                  <a:srgbClr val="C8FF4A"/>
                </a:solidFill>
              </a:defRPr>
            </a:pPr>
            <a:r>
              <a:rPr sz="2025" b="1">
                <a:solidFill>
                  <a:srgbClr val="C8FF4A"/>
                </a:solidFill>
              </a:rPr>
              <a:t>They still cannot feel chosen.</a:t>
            </a:r>
          </a:p>
        </p:txBody>
      </p:sp>
      <p:sp>
        <p:nvSpPr>
          <p:cNvPr id="11" name="">
            <a:extLst xmlns:a="http://schemas.openxmlformats.org/drawingml/2006/main">
              <a:ext uri="{FF2B5EF4-FFF2-40B4-BE49-F238E27FC236}">
                <a16:creationId xmlns:a16="http://schemas.microsoft.com/office/drawing/2014/main" id="{0266DD59-847C-40FA-A899-6EF58F3520C3}"/>
              </a:ext>
            </a:extLst>
          </p:cNvPr>
          <p:cNvSpPr>
            <a:spLocks xmlns:a="http://schemas.openxmlformats.org/drawingml/2006/main" noGrp="1"/>
          </p:cNvSpPr>
          <p:nvPr/>
        </p:nvSpPr>
        <p:spPr>
          <a:xfrm xmlns:a="http://schemas.openxmlformats.org/drawingml/2006/main">
            <a:off x="2171700" y="5095875"/>
            <a:ext cx="7848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F0EEE8"/>
                </a:solidFill>
              </a:defRPr>
            </a:pPr>
            <a:r>
              <a:rPr sz="2025" b="1">
                <a:solidFill>
                  <a:srgbClr val="F0EEE8"/>
                </a:solidFill>
              </a:rPr>
              <a:t>Same Sky changes the unit of connection from an audience of millions to one specific human being.</a:t>
            </a:r>
          </a:p>
        </p:txBody>
      </p:sp>
    </p:spTree>
    <p:extLst>
      <p:ext uri="{BB962C8B-B14F-4D97-AF65-F5344CB8AC3E}">
        <p14:creationId xmlns:p14="http://schemas.microsoft.com/office/powerpoint/2010/main" val="886250597"/>
      </p:ext>
    </p:extLst>
  </p:cSld>
</p:sld>
</file>

<file path=ppt/slides/slide3.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C1745C7-B95D-40DA-9566-C3FCF7B8E8DA}"/>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03 / 10</a:t>
            </a:r>
          </a:p>
        </p:txBody>
      </p:sp>
      <p:sp>
        <p:nvSpPr>
          <p:cNvPr id="2" name="">
            <a:extLst xmlns:a="http://schemas.openxmlformats.org/drawingml/2006/main">
              <a:ext uri="{FF2B5EF4-FFF2-40B4-BE49-F238E27FC236}">
                <a16:creationId xmlns:a16="http://schemas.microsoft.com/office/drawing/2014/main" id="{D4C7E42F-18B5-4200-8A89-33D7DD337841}"/>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THE RITUAL</a:t>
            </a:r>
          </a:p>
        </p:txBody>
      </p:sp>
      <p:sp>
        <p:nvSpPr>
          <p:cNvPr id="3" name="">
            <a:extLst xmlns:a="http://schemas.openxmlformats.org/drawingml/2006/main">
              <a:ext uri="{FF2B5EF4-FFF2-40B4-BE49-F238E27FC236}">
                <a16:creationId xmlns:a16="http://schemas.microsoft.com/office/drawing/2014/main" id="{3620A459-2448-4079-A291-D3D86E3002D4}"/>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583A42-22AD-4AD4-A9DB-2A2AC9CCB7E9}"/>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Thirty seconds. One person. One pulse.</a:t>
            </a:r>
          </a:p>
        </p:txBody>
      </p:sp>
      <p:sp>
        <p:nvSpPr>
          <p:cNvPr id="5" name="">
            <a:extLst xmlns:a="http://schemas.openxmlformats.org/drawingml/2006/main">
              <a:ext uri="{FF2B5EF4-FFF2-40B4-BE49-F238E27FC236}">
                <a16:creationId xmlns:a16="http://schemas.microsoft.com/office/drawing/2014/main" id="{F4419336-EB7F-477A-98AC-5CE2584FD8E7}"/>
              </a:ext>
            </a:extLst>
          </p:cNvPr>
          <p:cNvSpPr>
            <a:spLocks xmlns:a="http://schemas.openxmlformats.org/drawingml/2006/main" noGrp="1"/>
          </p:cNvSpPr>
          <p:nvPr/>
        </p:nvSpPr>
        <p:spPr>
          <a:xfrm xmlns:a="http://schemas.openxmlformats.org/drawingml/2006/main">
            <a:off x="1409700" y="3486150"/>
            <a:ext cx="9372600" cy="19050"/>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F53080-FC0A-496C-A35B-58316623A963}"/>
              </a:ext>
            </a:extLst>
          </p:cNvPr>
          <p:cNvSpPr>
            <a:spLocks xmlns:a="http://schemas.openxmlformats.org/drawingml/2006/main" noGrp="1"/>
          </p:cNvSpPr>
          <p:nvPr/>
        </p:nvSpPr>
        <p:spPr>
          <a:xfrm xmlns:a="http://schemas.openxmlformats.org/drawingml/2006/main">
            <a:off x="1771650" y="3095625"/>
            <a:ext cx="762000" cy="762000"/>
          </a:xfrm>
          <a:prstGeom xmlns:a="http://schemas.openxmlformats.org/drawingml/2006/main" prst="ellipse">
            <a:avLst/>
          </a:prstGeom>
          <a:solidFill xmlns:a="http://schemas.openxmlformats.org/drawingml/2006/main">
            <a:srgbClr val="07070B"/>
          </a:solidFill>
          <a:ln xmlns:a="http://schemas.openxmlformats.org/drawingml/2006/main" w="28575">
            <a:solidFill>
              <a:srgbClr val="FF5E45"/>
            </a:solidFill>
            <a:prstDash val="solid"/>
          </a:ln>
        </p:spPr>
      </p:sp>
      <p:sp>
        <p:nvSpPr>
          <p:cNvPr id="7" name="">
            <a:extLst xmlns:a="http://schemas.openxmlformats.org/drawingml/2006/main">
              <a:ext uri="{FF2B5EF4-FFF2-40B4-BE49-F238E27FC236}">
                <a16:creationId xmlns:a16="http://schemas.microsoft.com/office/drawing/2014/main" id="{51EE02EE-D50A-4370-BA7D-A77106B995B4}"/>
              </a:ext>
            </a:extLst>
          </p:cNvPr>
          <p:cNvSpPr>
            <a:spLocks xmlns:a="http://schemas.openxmlformats.org/drawingml/2006/main" noGrp="1"/>
          </p:cNvSpPr>
          <p:nvPr/>
        </p:nvSpPr>
        <p:spPr>
          <a:xfrm xmlns:a="http://schemas.openxmlformats.org/drawingml/2006/main">
            <a:off x="1771650" y="327660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5E45"/>
                </a:solidFill>
              </a:defRPr>
            </a:pPr>
            <a:r>
              <a:rPr sz="1575" b="1">
                <a:solidFill>
                  <a:srgbClr val="FF5E45"/>
                </a:solidFill>
              </a:rPr>
              <a:t>01</a:t>
            </a:r>
          </a:p>
        </p:txBody>
      </p:sp>
      <p:sp>
        <p:nvSpPr>
          <p:cNvPr id="8" name="">
            <a:extLst xmlns:a="http://schemas.openxmlformats.org/drawingml/2006/main">
              <a:ext uri="{FF2B5EF4-FFF2-40B4-BE49-F238E27FC236}">
                <a16:creationId xmlns:a16="http://schemas.microsoft.com/office/drawing/2014/main" id="{A4C49A16-ECE1-4B38-B8E6-A9CC3F7B15D5}"/>
              </a:ext>
            </a:extLst>
          </p:cNvPr>
          <p:cNvSpPr>
            <a:spLocks xmlns:a="http://schemas.openxmlformats.org/drawingml/2006/main" noGrp="1"/>
          </p:cNvSpPr>
          <p:nvPr/>
        </p:nvSpPr>
        <p:spPr>
          <a:xfrm xmlns:a="http://schemas.openxmlformats.org/drawingml/2006/main">
            <a:off x="762000" y="41719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5E45"/>
                </a:solidFill>
              </a:defRPr>
            </a:pPr>
            <a:r>
              <a:rPr sz="1350" b="1">
                <a:solidFill>
                  <a:srgbClr val="FF5E45"/>
                </a:solidFill>
              </a:rPr>
              <a:t>CATCH</a:t>
            </a:r>
          </a:p>
        </p:txBody>
      </p:sp>
      <p:sp>
        <p:nvSpPr>
          <p:cNvPr id="9" name="">
            <a:extLst xmlns:a="http://schemas.openxmlformats.org/drawingml/2006/main">
              <a:ext uri="{FF2B5EF4-FFF2-40B4-BE49-F238E27FC236}">
                <a16:creationId xmlns:a16="http://schemas.microsoft.com/office/drawing/2014/main" id="{BC27F5D3-4C4B-4DBA-B3E7-A4C23CFE033A}"/>
              </a:ext>
            </a:extLst>
          </p:cNvPr>
          <p:cNvSpPr>
            <a:spLocks xmlns:a="http://schemas.openxmlformats.org/drawingml/2006/main" noGrp="1"/>
          </p:cNvSpPr>
          <p:nvPr/>
        </p:nvSpPr>
        <p:spPr>
          <a:xfrm xmlns:a="http://schemas.openxmlformats.org/drawingml/2006/main">
            <a:off x="828675" y="4667250"/>
            <a:ext cx="264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F0EEE8"/>
                </a:solidFill>
              </a:defRPr>
            </a:pPr>
            <a:r>
              <a:rPr sz="1500" b="0">
                <a:solidFill>
                  <a:srgbClr val="F0EEE8"/>
                </a:solidFill>
              </a:rPr>
              <a:t>One image + literal sensations</a:t>
            </a:r>
          </a:p>
        </p:txBody>
      </p:sp>
      <p:sp>
        <p:nvSpPr>
          <p:cNvPr id="10" name="">
            <a:extLst xmlns:a="http://schemas.openxmlformats.org/drawingml/2006/main">
              <a:ext uri="{FF2B5EF4-FFF2-40B4-BE49-F238E27FC236}">
                <a16:creationId xmlns:a16="http://schemas.microsoft.com/office/drawing/2014/main" id="{76ED9760-C8E3-417B-8150-988500C69D23}"/>
              </a:ext>
            </a:extLst>
          </p:cNvPr>
          <p:cNvSpPr>
            <a:spLocks xmlns:a="http://schemas.openxmlformats.org/drawingml/2006/main" noGrp="1"/>
          </p:cNvSpPr>
          <p:nvPr/>
        </p:nvSpPr>
        <p:spPr>
          <a:xfrm xmlns:a="http://schemas.openxmlformats.org/drawingml/2006/main">
            <a:off x="5581650" y="3095625"/>
            <a:ext cx="762000" cy="762000"/>
          </a:xfrm>
          <a:prstGeom xmlns:a="http://schemas.openxmlformats.org/drawingml/2006/main" prst="ellipse">
            <a:avLst/>
          </a:prstGeom>
          <a:solidFill xmlns:a="http://schemas.openxmlformats.org/drawingml/2006/main">
            <a:srgbClr val="07070B"/>
          </a:solidFill>
          <a:ln xmlns:a="http://schemas.openxmlformats.org/drawingml/2006/main" w="28575">
            <a:solidFill>
              <a:srgbClr val="C8FF4A"/>
            </a:solidFill>
            <a:prstDash val="solid"/>
          </a:ln>
        </p:spPr>
      </p:sp>
      <p:sp>
        <p:nvSpPr>
          <p:cNvPr id="11" name="">
            <a:extLst xmlns:a="http://schemas.openxmlformats.org/drawingml/2006/main">
              <a:ext uri="{FF2B5EF4-FFF2-40B4-BE49-F238E27FC236}">
                <a16:creationId xmlns:a16="http://schemas.microsoft.com/office/drawing/2014/main" id="{6575989F-D028-449D-9246-C1C8DAA1A015}"/>
              </a:ext>
            </a:extLst>
          </p:cNvPr>
          <p:cNvSpPr>
            <a:spLocks xmlns:a="http://schemas.openxmlformats.org/drawingml/2006/main" noGrp="1"/>
          </p:cNvSpPr>
          <p:nvPr/>
        </p:nvSpPr>
        <p:spPr>
          <a:xfrm xmlns:a="http://schemas.openxmlformats.org/drawingml/2006/main">
            <a:off x="5581650" y="327660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C8FF4A"/>
                </a:solidFill>
              </a:defRPr>
            </a:pPr>
            <a:r>
              <a:rPr sz="1575" b="1">
                <a:solidFill>
                  <a:srgbClr val="C8FF4A"/>
                </a:solidFill>
              </a:rPr>
              <a:t>02</a:t>
            </a:r>
          </a:p>
        </p:txBody>
      </p:sp>
      <p:sp>
        <p:nvSpPr>
          <p:cNvPr id="12" name="">
            <a:extLst xmlns:a="http://schemas.openxmlformats.org/drawingml/2006/main">
              <a:ext uri="{FF2B5EF4-FFF2-40B4-BE49-F238E27FC236}">
                <a16:creationId xmlns:a16="http://schemas.microsoft.com/office/drawing/2014/main" id="{CB17F85E-53FA-437F-B7E9-E51AD51BA7D7}"/>
              </a:ext>
            </a:extLst>
          </p:cNvPr>
          <p:cNvSpPr>
            <a:spLocks xmlns:a="http://schemas.openxmlformats.org/drawingml/2006/main" noGrp="1"/>
          </p:cNvSpPr>
          <p:nvPr/>
        </p:nvSpPr>
        <p:spPr>
          <a:xfrm xmlns:a="http://schemas.openxmlformats.org/drawingml/2006/main">
            <a:off x="4572000" y="41719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C8FF4A"/>
                </a:solidFill>
              </a:defRPr>
            </a:pPr>
            <a:r>
              <a:rPr sz="1350" b="1">
                <a:solidFill>
                  <a:srgbClr val="C8FF4A"/>
                </a:solidFill>
              </a:rPr>
              <a:t>SEND</a:t>
            </a:r>
          </a:p>
        </p:txBody>
      </p:sp>
      <p:sp>
        <p:nvSpPr>
          <p:cNvPr id="13" name="">
            <a:extLst xmlns:a="http://schemas.openxmlformats.org/drawingml/2006/main">
              <a:ext uri="{FF2B5EF4-FFF2-40B4-BE49-F238E27FC236}">
                <a16:creationId xmlns:a16="http://schemas.microsoft.com/office/drawing/2014/main" id="{D3CD6C03-6037-45A3-A0CA-FBE19CACFD88}"/>
              </a:ext>
            </a:extLst>
          </p:cNvPr>
          <p:cNvSpPr>
            <a:spLocks xmlns:a="http://schemas.openxmlformats.org/drawingml/2006/main" noGrp="1"/>
          </p:cNvSpPr>
          <p:nvPr/>
        </p:nvSpPr>
        <p:spPr>
          <a:xfrm xmlns:a="http://schemas.openxmlformats.org/drawingml/2006/main">
            <a:off x="4638675" y="4667250"/>
            <a:ext cx="264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F0EEE8"/>
                </a:solidFill>
              </a:defRPr>
            </a:pPr>
            <a:r>
              <a:rPr sz="1500" b="0">
                <a:solidFill>
                  <a:srgbClr val="F0EEE8"/>
                </a:solidFill>
              </a:rPr>
              <a:t>Human-approved sensory postcard</a:t>
            </a:r>
          </a:p>
        </p:txBody>
      </p:sp>
      <p:sp>
        <p:nvSpPr>
          <p:cNvPr id="14" name="">
            <a:extLst xmlns:a="http://schemas.openxmlformats.org/drawingml/2006/main">
              <a:ext uri="{FF2B5EF4-FFF2-40B4-BE49-F238E27FC236}">
                <a16:creationId xmlns:a16="http://schemas.microsoft.com/office/drawing/2014/main" id="{AF297C3B-AF19-4A6E-B085-B6017DAC6E3C}"/>
              </a:ext>
            </a:extLst>
          </p:cNvPr>
          <p:cNvSpPr>
            <a:spLocks xmlns:a="http://schemas.openxmlformats.org/drawingml/2006/main" noGrp="1"/>
          </p:cNvSpPr>
          <p:nvPr/>
        </p:nvSpPr>
        <p:spPr>
          <a:xfrm xmlns:a="http://schemas.openxmlformats.org/drawingml/2006/main">
            <a:off x="9391650" y="3095625"/>
            <a:ext cx="762000" cy="762000"/>
          </a:xfrm>
          <a:prstGeom xmlns:a="http://schemas.openxmlformats.org/drawingml/2006/main" prst="ellipse">
            <a:avLst/>
          </a:prstGeom>
          <a:solidFill xmlns:a="http://schemas.openxmlformats.org/drawingml/2006/main">
            <a:srgbClr val="07070B"/>
          </a:solidFill>
          <a:ln xmlns:a="http://schemas.openxmlformats.org/drawingml/2006/main" w="28575">
            <a:solidFill>
              <a:srgbClr val="F0EEE8"/>
            </a:solidFill>
            <a:prstDash val="solid"/>
          </a:ln>
        </p:spPr>
      </p:sp>
      <p:sp>
        <p:nvSpPr>
          <p:cNvPr id="15" name="">
            <a:extLst xmlns:a="http://schemas.openxmlformats.org/drawingml/2006/main">
              <a:ext uri="{FF2B5EF4-FFF2-40B4-BE49-F238E27FC236}">
                <a16:creationId xmlns:a16="http://schemas.microsoft.com/office/drawing/2014/main" id="{53E1023F-258D-4A94-8DCE-F0CD7F85B21B}"/>
              </a:ext>
            </a:extLst>
          </p:cNvPr>
          <p:cNvSpPr>
            <a:spLocks xmlns:a="http://schemas.openxmlformats.org/drawingml/2006/main" noGrp="1"/>
          </p:cNvSpPr>
          <p:nvPr/>
        </p:nvSpPr>
        <p:spPr>
          <a:xfrm xmlns:a="http://schemas.openxmlformats.org/drawingml/2006/main">
            <a:off x="9391650" y="327660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0EEE8"/>
                </a:solidFill>
              </a:defRPr>
            </a:pPr>
            <a:r>
              <a:rPr sz="1575" b="1">
                <a:solidFill>
                  <a:srgbClr val="F0EEE8"/>
                </a:solidFill>
              </a:rPr>
              <a:t>03</a:t>
            </a:r>
          </a:p>
        </p:txBody>
      </p:sp>
      <p:sp>
        <p:nvSpPr>
          <p:cNvPr id="16" name="">
            <a:extLst xmlns:a="http://schemas.openxmlformats.org/drawingml/2006/main">
              <a:ext uri="{FF2B5EF4-FFF2-40B4-BE49-F238E27FC236}">
                <a16:creationId xmlns:a16="http://schemas.microsoft.com/office/drawing/2014/main" id="{CFA9069F-4BD8-4FFE-9A98-28572761C1D9}"/>
              </a:ext>
            </a:extLst>
          </p:cNvPr>
          <p:cNvSpPr>
            <a:spLocks xmlns:a="http://schemas.openxmlformats.org/drawingml/2006/main" noGrp="1"/>
          </p:cNvSpPr>
          <p:nvPr/>
        </p:nvSpPr>
        <p:spPr>
          <a:xfrm xmlns:a="http://schemas.openxmlformats.org/drawingml/2006/main">
            <a:off x="8382000" y="41719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0EEE8"/>
                </a:solidFill>
              </a:defRPr>
            </a:pPr>
            <a:r>
              <a:rPr sz="1350" b="1">
                <a:solidFill>
                  <a:srgbClr val="F0EEE8"/>
                </a:solidFill>
              </a:rPr>
              <a:t>RETURN</a:t>
            </a:r>
          </a:p>
        </p:txBody>
      </p:sp>
      <p:sp>
        <p:nvSpPr>
          <p:cNvPr id="17" name="">
            <a:extLst xmlns:a="http://schemas.openxmlformats.org/drawingml/2006/main">
              <a:ext uri="{FF2B5EF4-FFF2-40B4-BE49-F238E27FC236}">
                <a16:creationId xmlns:a16="http://schemas.microsoft.com/office/drawing/2014/main" id="{8426FA69-2F01-463E-B3F7-99691EE08474}"/>
              </a:ext>
            </a:extLst>
          </p:cNvPr>
          <p:cNvSpPr>
            <a:spLocks xmlns:a="http://schemas.openxmlformats.org/drawingml/2006/main" noGrp="1"/>
          </p:cNvSpPr>
          <p:nvPr/>
        </p:nvSpPr>
        <p:spPr>
          <a:xfrm xmlns:a="http://schemas.openxmlformats.org/drawingml/2006/main">
            <a:off x="8448675" y="4667250"/>
            <a:ext cx="264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F0EEE8"/>
                </a:solidFill>
              </a:defRPr>
            </a:pPr>
            <a:r>
              <a:rPr sz="1500" b="0">
                <a:solidFill>
                  <a:srgbClr val="F0EEE8"/>
                </a:solidFill>
              </a:rPr>
              <a:t>One pulse, synchronized on both phones</a:t>
            </a:r>
          </a:p>
        </p:txBody>
      </p:sp>
      <p:sp>
        <p:nvSpPr>
          <p:cNvPr id="18" name="">
            <a:extLst xmlns:a="http://schemas.openxmlformats.org/drawingml/2006/main">
              <a:ext uri="{FF2B5EF4-FFF2-40B4-BE49-F238E27FC236}">
                <a16:creationId xmlns:a16="http://schemas.microsoft.com/office/drawing/2014/main" id="{7D290BE4-E1F2-452D-84DF-1C6734770ECD}"/>
              </a:ext>
            </a:extLst>
          </p:cNvPr>
          <p:cNvSpPr>
            <a:spLocks xmlns:a="http://schemas.openxmlformats.org/drawingml/2006/main" noGrp="1"/>
          </p:cNvSpPr>
          <p:nvPr/>
        </p:nvSpPr>
        <p:spPr>
          <a:xfrm xmlns:a="http://schemas.openxmlformats.org/drawingml/2006/main">
            <a:off x="685800" y="607695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AAA9A3"/>
                </a:solidFill>
              </a:defRPr>
            </a:pPr>
            <a:r>
              <a:rPr sz="1275" b="1">
                <a:solidFill>
                  <a:srgbClr val="AAA9A3"/>
                </a:solidFill>
              </a:rPr>
              <a:t>Nothing becomes a post. Nothing asks for a follow.</a:t>
            </a:r>
          </a:p>
        </p:txBody>
      </p:sp>
    </p:spTree>
    <p:extLst>
      <p:ext uri="{BB962C8B-B14F-4D97-AF65-F5344CB8AC3E}">
        <p14:creationId xmlns:p14="http://schemas.microsoft.com/office/powerpoint/2010/main" val="1916684892"/>
      </p:ext>
    </p:extLst>
  </p:cSld>
</p:sld>
</file>

<file path=ppt/slides/slide4.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E770BC-7578-495F-A404-D52D2867166A}"/>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04 / 10</a:t>
            </a:r>
          </a:p>
        </p:txBody>
      </p:sp>
      <p:sp>
        <p:nvSpPr>
          <p:cNvPr id="2" name="">
            <a:extLst xmlns:a="http://schemas.openxmlformats.org/drawingml/2006/main">
              <a:ext uri="{FF2B5EF4-FFF2-40B4-BE49-F238E27FC236}">
                <a16:creationId xmlns:a16="http://schemas.microsoft.com/office/drawing/2014/main" id="{F5BFBFDA-5A3A-4BE7-93D5-37EA63F4E6E7}"/>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THE JUDGE MOMENT</a:t>
            </a:r>
          </a:p>
        </p:txBody>
      </p:sp>
      <p:sp>
        <p:nvSpPr>
          <p:cNvPr id="3" name="">
            <a:extLst xmlns:a="http://schemas.openxmlformats.org/drawingml/2006/main">
              <a:ext uri="{FF2B5EF4-FFF2-40B4-BE49-F238E27FC236}">
                <a16:creationId xmlns:a16="http://schemas.microsoft.com/office/drawing/2014/main" id="{FC5A6DA7-F3DF-4964-9B5A-838C859CAFEE}"/>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E57DDC-0EBD-4451-BCDC-4D75FF65C2DD}"/>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The room does not watch the demo. The room feels it.</a:t>
            </a:r>
          </a:p>
        </p:txBody>
      </p:sp>
      <p:sp>
        <p:nvSpPr>
          <p:cNvPr id="5" name="">
            <a:extLst xmlns:a="http://schemas.openxmlformats.org/drawingml/2006/main">
              <a:ext uri="{FF2B5EF4-FFF2-40B4-BE49-F238E27FC236}">
                <a16:creationId xmlns:a16="http://schemas.microsoft.com/office/drawing/2014/main" id="{2FFD4048-DA83-4F63-94F1-79B896AAF4F5}"/>
              </a:ext>
            </a:extLst>
          </p:cNvPr>
          <p:cNvSpPr>
            <a:spLocks xmlns:a="http://schemas.openxmlformats.org/drawingml/2006/main" noGrp="1"/>
          </p:cNvSpPr>
          <p:nvPr/>
        </p:nvSpPr>
        <p:spPr>
          <a:xfrm xmlns:a="http://schemas.openxmlformats.org/drawingml/2006/main">
            <a:off x="1085850" y="2286000"/>
            <a:ext cx="2667000" cy="3429000"/>
          </a:xfrm>
          <a:prstGeom xmlns:a="http://schemas.openxmlformats.org/drawingml/2006/main" prst="roundRect">
            <a:avLst>
              <a:gd name="adj" fmla="val 2857"/>
            </a:avLst>
          </a:prstGeom>
          <a:solidFill xmlns:a="http://schemas.openxmlformats.org/drawingml/2006/main">
            <a:srgbClr val="101116"/>
          </a:solidFill>
          <a:ln xmlns:a="http://schemas.openxmlformats.org/drawingml/2006/main" w="19050">
            <a:solidFill>
              <a:srgbClr val="353539"/>
            </a:solidFill>
            <a:prstDash val="solid"/>
          </a:ln>
        </p:spPr>
      </p:sp>
      <p:sp>
        <p:nvSpPr>
          <p:cNvPr id="6" name="">
            <a:extLst xmlns:a="http://schemas.openxmlformats.org/drawingml/2006/main">
              <a:ext uri="{FF2B5EF4-FFF2-40B4-BE49-F238E27FC236}">
                <a16:creationId xmlns:a16="http://schemas.microsoft.com/office/drawing/2014/main" id="{10374077-5B3F-4AEF-8F51-ED9920F3FFE8}"/>
              </a:ext>
            </a:extLst>
          </p:cNvPr>
          <p:cNvSpPr>
            <a:spLocks xmlns:a="http://schemas.openxmlformats.org/drawingml/2006/main" noGrp="1"/>
          </p:cNvSpPr>
          <p:nvPr/>
        </p:nvSpPr>
        <p:spPr>
          <a:xfrm xmlns:a="http://schemas.openxmlformats.org/drawingml/2006/main">
            <a:off x="8439150" y="2286000"/>
            <a:ext cx="2667000" cy="3429000"/>
          </a:xfrm>
          <a:prstGeom xmlns:a="http://schemas.openxmlformats.org/drawingml/2006/main" prst="roundRect">
            <a:avLst>
              <a:gd name="adj" fmla="val 2857"/>
            </a:avLst>
          </a:prstGeom>
          <a:solidFill xmlns:a="http://schemas.openxmlformats.org/drawingml/2006/main">
            <a:srgbClr val="101116"/>
          </a:solidFill>
          <a:ln xmlns:a="http://schemas.openxmlformats.org/drawingml/2006/main" w="19050">
            <a:solidFill>
              <a:srgbClr val="353539"/>
            </a:solidFill>
            <a:prstDash val="solid"/>
          </a:ln>
        </p:spPr>
      </p:sp>
      <p:sp>
        <p:nvSpPr>
          <p:cNvPr id="7" name="">
            <a:extLst xmlns:a="http://schemas.openxmlformats.org/drawingml/2006/main">
              <a:ext uri="{FF2B5EF4-FFF2-40B4-BE49-F238E27FC236}">
                <a16:creationId xmlns:a16="http://schemas.microsoft.com/office/drawing/2014/main" id="{1E2B6695-E5BC-43C4-A4BD-187129D86FB3}"/>
              </a:ext>
            </a:extLst>
          </p:cNvPr>
          <p:cNvSpPr>
            <a:spLocks xmlns:a="http://schemas.openxmlformats.org/drawingml/2006/main" noGrp="1"/>
          </p:cNvSpPr>
          <p:nvPr/>
        </p:nvSpPr>
        <p:spPr>
          <a:xfrm xmlns:a="http://schemas.openxmlformats.org/drawingml/2006/main">
            <a:off x="1390650" y="25527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5E45"/>
                </a:solidFill>
              </a:defRPr>
            </a:pPr>
            <a:r>
              <a:rPr sz="1050" b="1">
                <a:solidFill>
                  <a:srgbClr val="FF5E45"/>
                </a:solidFill>
              </a:rPr>
              <a:t>HERE</a:t>
            </a:r>
          </a:p>
        </p:txBody>
      </p:sp>
      <p:sp>
        <p:nvSpPr>
          <p:cNvPr id="8" name="">
            <a:extLst xmlns:a="http://schemas.openxmlformats.org/drawingml/2006/main">
              <a:ext uri="{FF2B5EF4-FFF2-40B4-BE49-F238E27FC236}">
                <a16:creationId xmlns:a16="http://schemas.microsoft.com/office/drawing/2014/main" id="{A1DA2D75-4161-4BDE-AAC2-7C3AF6F4294E}"/>
              </a:ext>
            </a:extLst>
          </p:cNvPr>
          <p:cNvSpPr>
            <a:spLocks xmlns:a="http://schemas.openxmlformats.org/drawingml/2006/main" noGrp="1"/>
          </p:cNvSpPr>
          <p:nvPr/>
        </p:nvSpPr>
        <p:spPr>
          <a:xfrm xmlns:a="http://schemas.openxmlformats.org/drawingml/2006/main">
            <a:off x="8743950" y="25527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C8FF4A"/>
                </a:solidFill>
              </a:defRPr>
            </a:pPr>
            <a:r>
              <a:rPr sz="1050" b="1">
                <a:solidFill>
                  <a:srgbClr val="C8FF4A"/>
                </a:solidFill>
              </a:rPr>
              <a:t>FAR AWAY</a:t>
            </a:r>
          </a:p>
        </p:txBody>
      </p:sp>
      <p:sp>
        <p:nvSpPr>
          <p:cNvPr id="9" name="">
            <a:extLst xmlns:a="http://schemas.openxmlformats.org/drawingml/2006/main">
              <a:ext uri="{FF2B5EF4-FFF2-40B4-BE49-F238E27FC236}">
                <a16:creationId xmlns:a16="http://schemas.microsoft.com/office/drawing/2014/main" id="{B95CED7C-7177-4791-87E0-EAC455E3B641}"/>
              </a:ext>
            </a:extLst>
          </p:cNvPr>
          <p:cNvSpPr>
            <a:spLocks xmlns:a="http://schemas.openxmlformats.org/drawingml/2006/main" noGrp="1"/>
          </p:cNvSpPr>
          <p:nvPr/>
        </p:nvSpPr>
        <p:spPr>
          <a:xfrm xmlns:a="http://schemas.openxmlformats.org/drawingml/2006/main">
            <a:off x="1905000" y="3276600"/>
            <a:ext cx="1028700" cy="1028700"/>
          </a:xfrm>
          <a:prstGeom xmlns:a="http://schemas.openxmlformats.org/drawingml/2006/main" prst="ellipse">
            <a:avLst/>
          </a:prstGeom>
          <a:solidFill xmlns:a="http://schemas.openxmlformats.org/drawingml/2006/main">
            <a:srgbClr val="FF5E4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D27E12-1950-4742-9975-6F001004CCF3}"/>
              </a:ext>
            </a:extLst>
          </p:cNvPr>
          <p:cNvSpPr>
            <a:spLocks xmlns:a="http://schemas.openxmlformats.org/drawingml/2006/main" noGrp="1"/>
          </p:cNvSpPr>
          <p:nvPr/>
        </p:nvSpPr>
        <p:spPr>
          <a:xfrm xmlns:a="http://schemas.openxmlformats.org/drawingml/2006/main">
            <a:off x="9258300" y="3276600"/>
            <a:ext cx="1028700" cy="1028700"/>
          </a:xfrm>
          <a:prstGeom xmlns:a="http://schemas.openxmlformats.org/drawingml/2006/main" prst="ellipse">
            <a:avLst/>
          </a:prstGeom>
          <a:solidFill xmlns:a="http://schemas.openxmlformats.org/drawingml/2006/main">
            <a:srgbClr val="C8FF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83B9272-FE94-41C3-9917-32E37DC9BC77}"/>
              </a:ext>
            </a:extLst>
          </p:cNvPr>
          <p:cNvSpPr>
            <a:spLocks xmlns:a="http://schemas.openxmlformats.org/drawingml/2006/main" noGrp="1"/>
          </p:cNvSpPr>
          <p:nvPr/>
        </p:nvSpPr>
        <p:spPr>
          <a:xfrm xmlns:a="http://schemas.openxmlformats.org/drawingml/2006/main">
            <a:off x="1485900" y="47815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0EEE8"/>
                </a:solidFill>
              </a:defRPr>
            </a:pPr>
            <a:r>
              <a:rPr sz="1725" b="1">
                <a:solidFill>
                  <a:srgbClr val="F0EEE8"/>
                </a:solidFill>
              </a:rPr>
              <a:t>FEEL</a:t>
            </a:r>
          </a:p>
        </p:txBody>
      </p:sp>
      <p:sp>
        <p:nvSpPr>
          <p:cNvPr id="12" name="">
            <a:extLst xmlns:a="http://schemas.openxmlformats.org/drawingml/2006/main">
              <a:ext uri="{FF2B5EF4-FFF2-40B4-BE49-F238E27FC236}">
                <a16:creationId xmlns:a16="http://schemas.microsoft.com/office/drawing/2014/main" id="{6509BF01-D80C-4F96-9C21-0ED8A728A194}"/>
              </a:ext>
            </a:extLst>
          </p:cNvPr>
          <p:cNvSpPr>
            <a:spLocks xmlns:a="http://schemas.openxmlformats.org/drawingml/2006/main" noGrp="1"/>
          </p:cNvSpPr>
          <p:nvPr/>
        </p:nvSpPr>
        <p:spPr>
          <a:xfrm xmlns:a="http://schemas.openxmlformats.org/drawingml/2006/main">
            <a:off x="8839200" y="4781550"/>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0EEE8"/>
                </a:solidFill>
              </a:defRPr>
            </a:pPr>
            <a:r>
              <a:rPr sz="1725" b="1">
                <a:solidFill>
                  <a:srgbClr val="F0EEE8"/>
                </a:solidFill>
              </a:rPr>
              <a:t>HOLD</a:t>
            </a:r>
          </a:p>
        </p:txBody>
      </p:sp>
      <p:sp>
        <p:nvSpPr>
          <p:cNvPr id="13" name="">
            <a:extLst xmlns:a="http://schemas.openxmlformats.org/drawingml/2006/main">
              <a:ext uri="{FF2B5EF4-FFF2-40B4-BE49-F238E27FC236}">
                <a16:creationId xmlns:a16="http://schemas.microsoft.com/office/drawing/2014/main" id="{267BE837-5E90-4BF6-BB10-880C24B309E9}"/>
              </a:ext>
            </a:extLst>
          </p:cNvPr>
          <p:cNvSpPr>
            <a:spLocks xmlns:a="http://schemas.openxmlformats.org/drawingml/2006/main" noGrp="1"/>
          </p:cNvSpPr>
          <p:nvPr/>
        </p:nvSpPr>
        <p:spPr>
          <a:xfrm xmlns:a="http://schemas.openxmlformats.org/drawingml/2006/main">
            <a:off x="3752850" y="3990975"/>
            <a:ext cx="4686300" cy="19050"/>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347298-ACF1-4046-879E-6282B641E89C}"/>
              </a:ext>
            </a:extLst>
          </p:cNvPr>
          <p:cNvSpPr>
            <a:spLocks xmlns:a="http://schemas.openxmlformats.org/drawingml/2006/main" noGrp="1"/>
          </p:cNvSpPr>
          <p:nvPr/>
        </p:nvSpPr>
        <p:spPr>
          <a:xfrm xmlns:a="http://schemas.openxmlformats.org/drawingml/2006/main">
            <a:off x="5334000" y="3124200"/>
            <a:ext cx="1524000" cy="1524000"/>
          </a:xfrm>
          <a:prstGeom xmlns:a="http://schemas.openxmlformats.org/drawingml/2006/main" prst="ellipse">
            <a:avLst/>
          </a:prstGeom>
          <a:solidFill xmlns:a="http://schemas.openxmlformats.org/drawingml/2006/main">
            <a:srgbClr val="07070B"/>
          </a:solidFill>
          <a:ln xmlns:a="http://schemas.openxmlformats.org/drawingml/2006/main" w="19050">
            <a:solidFill>
              <a:srgbClr val="F0EEE8"/>
            </a:solidFill>
            <a:prstDash val="solid"/>
          </a:ln>
        </p:spPr>
      </p:sp>
      <p:sp>
        <p:nvSpPr>
          <p:cNvPr id="15" name="">
            <a:extLst xmlns:a="http://schemas.openxmlformats.org/drawingml/2006/main">
              <a:ext uri="{FF2B5EF4-FFF2-40B4-BE49-F238E27FC236}">
                <a16:creationId xmlns:a16="http://schemas.microsoft.com/office/drawing/2014/main" id="{180E349B-2CAD-47F2-B31A-DF16FA0D6CEB}"/>
              </a:ext>
            </a:extLst>
          </p:cNvPr>
          <p:cNvSpPr>
            <a:spLocks xmlns:a="http://schemas.openxmlformats.org/drawingml/2006/main" noGrp="1"/>
          </p:cNvSpPr>
          <p:nvPr/>
        </p:nvSpPr>
        <p:spPr>
          <a:xfrm xmlns:a="http://schemas.openxmlformats.org/drawingml/2006/main">
            <a:off x="5334000" y="3209925"/>
            <a:ext cx="152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5400" b="1">
                <a:solidFill>
                  <a:srgbClr val="F0EEE8"/>
                </a:solidFill>
              </a:defRPr>
            </a:pPr>
            <a:r>
              <a:rPr sz="5400" b="1">
                <a:solidFill>
                  <a:srgbClr val="F0EEE8"/>
                </a:solidFill>
              </a:rPr>
              <a:t>8</a:t>
            </a:r>
          </a:p>
        </p:txBody>
      </p:sp>
      <p:sp>
        <p:nvSpPr>
          <p:cNvPr id="16" name="">
            <a:extLst xmlns:a="http://schemas.openxmlformats.org/drawingml/2006/main">
              <a:ext uri="{FF2B5EF4-FFF2-40B4-BE49-F238E27FC236}">
                <a16:creationId xmlns:a16="http://schemas.microsoft.com/office/drawing/2014/main" id="{0588739A-C624-4F48-869D-CB4690F74B25}"/>
              </a:ext>
            </a:extLst>
          </p:cNvPr>
          <p:cNvSpPr>
            <a:spLocks xmlns:a="http://schemas.openxmlformats.org/drawingml/2006/main" noGrp="1"/>
          </p:cNvSpPr>
          <p:nvPr/>
        </p:nvSpPr>
        <p:spPr>
          <a:xfrm xmlns:a="http://schemas.openxmlformats.org/drawingml/2006/main">
            <a:off x="5429250" y="40481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AAA9A3"/>
                </a:solidFill>
              </a:defRPr>
            </a:pPr>
            <a:r>
              <a:rPr sz="900" b="1">
                <a:solidFill>
                  <a:srgbClr val="AAA9A3"/>
                </a:solidFill>
              </a:rPr>
              <a:t>SECONDS</a:t>
            </a:r>
          </a:p>
          <a:p xmlns:a="http://schemas.openxmlformats.org/drawingml/2006/main">
            <a:pPr algn="ctr">
              <a:defRPr sz="900" b="1">
                <a:solidFill>
                  <a:srgbClr val="AAA9A3"/>
                </a:solidFill>
              </a:defRPr>
            </a:pPr>
            <a:r>
              <a:rPr sz="900" b="1">
                <a:solidFill>
                  <a:srgbClr val="AAA9A3"/>
                </a:solidFill>
              </a:rPr>
              <a:t>OF SHARED LIGHT</a:t>
            </a:r>
          </a:p>
        </p:txBody>
      </p:sp>
    </p:spTree>
    <p:extLst>
      <p:ext uri="{BB962C8B-B14F-4D97-AF65-F5344CB8AC3E}">
        <p14:creationId xmlns:p14="http://schemas.microsoft.com/office/powerpoint/2010/main" val="1554983219"/>
      </p:ext>
    </p:extLst>
  </p:cSld>
</p:sld>
</file>

<file path=ppt/slides/slide5.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2E89DE8-CD78-4DA5-B11A-20E1D0801884}"/>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05 / 10</a:t>
            </a:r>
          </a:p>
        </p:txBody>
      </p:sp>
      <p:sp>
        <p:nvSpPr>
          <p:cNvPr id="2" name="">
            <a:extLst xmlns:a="http://schemas.openxmlformats.org/drawingml/2006/main">
              <a:ext uri="{FF2B5EF4-FFF2-40B4-BE49-F238E27FC236}">
                <a16:creationId xmlns:a16="http://schemas.microsoft.com/office/drawing/2014/main" id="{020FE630-3677-45FF-B819-EF180C29C836}"/>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OPENAI WITH A JOB</a:t>
            </a:r>
          </a:p>
        </p:txBody>
      </p:sp>
      <p:sp>
        <p:nvSpPr>
          <p:cNvPr id="3" name="">
            <a:extLst xmlns:a="http://schemas.openxmlformats.org/drawingml/2006/main">
              <a:ext uri="{FF2B5EF4-FFF2-40B4-BE49-F238E27FC236}">
                <a16:creationId xmlns:a16="http://schemas.microsoft.com/office/drawing/2014/main" id="{E5217989-6EA1-4D49-8F3C-2F5EBB1E264B}"/>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CBD920-30F2-4D19-8137-D6D52DC5B085}"/>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Facts in. Feeling out. A human always decides.</a:t>
            </a:r>
          </a:p>
        </p:txBody>
      </p:sp>
      <p:sp>
        <p:nvSpPr>
          <p:cNvPr id="5" name="">
            <a:extLst xmlns:a="http://schemas.openxmlformats.org/drawingml/2006/main">
              <a:ext uri="{FF2B5EF4-FFF2-40B4-BE49-F238E27FC236}">
                <a16:creationId xmlns:a16="http://schemas.microsoft.com/office/drawing/2014/main" id="{DDEFA896-5A94-4270-A79E-5A83A144BA9C}"/>
              </a:ext>
            </a:extLst>
          </p:cNvPr>
          <p:cNvSpPr>
            <a:spLocks xmlns:a="http://schemas.openxmlformats.org/drawingml/2006/main" noGrp="1"/>
          </p:cNvSpPr>
          <p:nvPr/>
        </p:nvSpPr>
        <p:spPr>
          <a:xfrm xmlns:a="http://schemas.openxmlformats.org/drawingml/2006/main">
            <a:off x="1809750" y="3571875"/>
            <a:ext cx="8572500" cy="19050"/>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6D4E961-1E93-4587-B838-0EEDD3503878}"/>
              </a:ext>
            </a:extLst>
          </p:cNvPr>
          <p:cNvSpPr>
            <a:spLocks xmlns:a="http://schemas.openxmlformats.org/drawingml/2006/main" noGrp="1"/>
          </p:cNvSpPr>
          <p:nvPr/>
        </p:nvSpPr>
        <p:spPr>
          <a:xfrm xmlns:a="http://schemas.openxmlformats.org/drawingml/2006/main">
            <a:off x="685800" y="24003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5E45"/>
                </a:solidFill>
              </a:defRPr>
            </a:pPr>
            <a:r>
              <a:rPr sz="1125" b="1">
                <a:solidFill>
                  <a:srgbClr val="FF5E45"/>
                </a:solidFill>
              </a:rPr>
              <a:t>FIELD FACTS</a:t>
            </a:r>
          </a:p>
        </p:txBody>
      </p:sp>
      <p:sp>
        <p:nvSpPr>
          <p:cNvPr id="7" name="">
            <a:extLst xmlns:a="http://schemas.openxmlformats.org/drawingml/2006/main">
              <a:ext uri="{FF2B5EF4-FFF2-40B4-BE49-F238E27FC236}">
                <a16:creationId xmlns:a16="http://schemas.microsoft.com/office/drawing/2014/main" id="{BEC49935-C3D8-44FC-9489-54CA0248188C}"/>
              </a:ext>
            </a:extLst>
          </p:cNvPr>
          <p:cNvSpPr>
            <a:spLocks xmlns:a="http://schemas.openxmlformats.org/drawingml/2006/main" noGrp="1"/>
          </p:cNvSpPr>
          <p:nvPr/>
        </p:nvSpPr>
        <p:spPr>
          <a:xfrm xmlns:a="http://schemas.openxmlformats.org/drawingml/2006/main">
            <a:off x="685800" y="2952750"/>
            <a:ext cx="304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0EEE8"/>
                </a:solidFill>
              </a:defRPr>
            </a:pPr>
            <a:r>
              <a:rPr sz="1875" b="1">
                <a:solidFill>
                  <a:srgbClr val="F0EEE8"/>
                </a:solidFill>
              </a:rPr>
              <a:t>cool air</a:t>
            </a:r>
          </a:p>
          <a:p xmlns:a="http://schemas.openxmlformats.org/drawingml/2006/main">
            <a:pPr algn="l">
              <a:defRPr sz="1875" b="1">
                <a:solidFill>
                  <a:srgbClr val="F0EEE8"/>
                </a:solidFill>
              </a:defRPr>
            </a:pPr>
            <a:r>
              <a:rPr sz="1875" b="1">
                <a:solidFill>
                  <a:srgbClr val="F0EEE8"/>
                </a:solidFill>
              </a:rPr>
              <a:t>amber beam</a:t>
            </a:r>
          </a:p>
          <a:p xmlns:a="http://schemas.openxmlformats.org/drawingml/2006/main">
            <a:pPr algn="l">
              <a:defRPr sz="1875" b="1">
                <a:solidFill>
                  <a:srgbClr val="F0EEE8"/>
                </a:solidFill>
              </a:defRPr>
            </a:pPr>
            <a:r>
              <a:rPr sz="1875" b="1">
                <a:solidFill>
                  <a:srgbClr val="F0EEE8"/>
                </a:solidFill>
              </a:rPr>
              <a:t>82 / 100 energy</a:t>
            </a:r>
          </a:p>
        </p:txBody>
      </p:sp>
      <p:sp>
        <p:nvSpPr>
          <p:cNvPr id="8" name="">
            <a:extLst xmlns:a="http://schemas.openxmlformats.org/drawingml/2006/main">
              <a:ext uri="{FF2B5EF4-FFF2-40B4-BE49-F238E27FC236}">
                <a16:creationId xmlns:a16="http://schemas.microsoft.com/office/drawing/2014/main" id="{DD27434A-22BC-4E96-90B1-24401E6B2737}"/>
              </a:ext>
            </a:extLst>
          </p:cNvPr>
          <p:cNvSpPr>
            <a:spLocks xmlns:a="http://schemas.openxmlformats.org/drawingml/2006/main" noGrp="1"/>
          </p:cNvSpPr>
          <p:nvPr/>
        </p:nvSpPr>
        <p:spPr>
          <a:xfrm xmlns:a="http://schemas.openxmlformats.org/drawingml/2006/main">
            <a:off x="3800475" y="3362325"/>
            <a:ext cx="428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FF5E45"/>
                </a:solidFill>
              </a:defRPr>
            </a:pPr>
            <a:r>
              <a:rPr sz="2250" b="1">
                <a:solidFill>
                  <a:srgbClr val="FF5E45"/>
                </a:solidFill>
              </a:rPr>
              <a:t>→</a:t>
            </a:r>
          </a:p>
        </p:txBody>
      </p:sp>
      <p:sp>
        <p:nvSpPr>
          <p:cNvPr id="9" name="">
            <a:extLst xmlns:a="http://schemas.openxmlformats.org/drawingml/2006/main">
              <a:ext uri="{FF2B5EF4-FFF2-40B4-BE49-F238E27FC236}">
                <a16:creationId xmlns:a16="http://schemas.microsoft.com/office/drawing/2014/main" id="{AD6A9A70-5B40-4AF6-A4B8-32B7909C6984}"/>
              </a:ext>
            </a:extLst>
          </p:cNvPr>
          <p:cNvSpPr>
            <a:spLocks xmlns:a="http://schemas.openxmlformats.org/drawingml/2006/main" noGrp="1"/>
          </p:cNvSpPr>
          <p:nvPr/>
        </p:nvSpPr>
        <p:spPr>
          <a:xfrm xmlns:a="http://schemas.openxmlformats.org/drawingml/2006/main">
            <a:off x="4457700" y="24003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8FF4A"/>
                </a:solidFill>
              </a:defRPr>
            </a:pPr>
            <a:r>
              <a:rPr sz="1125" b="1">
                <a:solidFill>
                  <a:srgbClr val="C8FF4A"/>
                </a:solidFill>
              </a:rPr>
              <a:t>OPENAI</a:t>
            </a:r>
          </a:p>
        </p:txBody>
      </p:sp>
      <p:sp>
        <p:nvSpPr>
          <p:cNvPr id="10" name="">
            <a:extLst xmlns:a="http://schemas.openxmlformats.org/drawingml/2006/main">
              <a:ext uri="{FF2B5EF4-FFF2-40B4-BE49-F238E27FC236}">
                <a16:creationId xmlns:a16="http://schemas.microsoft.com/office/drawing/2014/main" id="{78E4DF9B-72C5-4EF2-88A5-8701F5CA9511}"/>
              </a:ext>
            </a:extLst>
          </p:cNvPr>
          <p:cNvSpPr>
            <a:spLocks xmlns:a="http://schemas.openxmlformats.org/drawingml/2006/main" noGrp="1"/>
          </p:cNvSpPr>
          <p:nvPr/>
        </p:nvSpPr>
        <p:spPr>
          <a:xfrm xmlns:a="http://schemas.openxmlformats.org/drawingml/2006/main">
            <a:off x="4457700" y="2952750"/>
            <a:ext cx="304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0EEE8"/>
                </a:solidFill>
              </a:defRPr>
            </a:pPr>
            <a:r>
              <a:rPr sz="1875" b="1">
                <a:solidFill>
                  <a:srgbClr val="F0EEE8"/>
                </a:solidFill>
              </a:rPr>
              <a:t>constrained translation</a:t>
            </a:r>
          </a:p>
          <a:p xmlns:a="http://schemas.openxmlformats.org/drawingml/2006/main">
            <a:pPr algn="l">
              <a:defRPr sz="1875" b="1">
                <a:solidFill>
                  <a:srgbClr val="F0EEE8"/>
                </a:solidFill>
              </a:defRPr>
            </a:pPr>
            <a:r>
              <a:rPr sz="1875" b="1">
                <a:solidFill>
                  <a:srgbClr val="F0EEE8"/>
                </a:solidFill>
              </a:rPr>
              <a:t>accessible alt text</a:t>
            </a:r>
          </a:p>
          <a:p xmlns:a="http://schemas.openxmlformats.org/drawingml/2006/main">
            <a:pPr algn="l">
              <a:defRPr sz="1875" b="1">
                <a:solidFill>
                  <a:srgbClr val="F0EEE8"/>
                </a:solidFill>
              </a:defRPr>
            </a:pPr>
            <a:r>
              <a:rPr sz="1875" b="1">
                <a:solidFill>
                  <a:srgbClr val="F0EEE8"/>
                </a:solidFill>
              </a:rPr>
              <a:t>strict structured output</a:t>
            </a:r>
          </a:p>
        </p:txBody>
      </p:sp>
      <p:sp>
        <p:nvSpPr>
          <p:cNvPr id="11" name="">
            <a:extLst xmlns:a="http://schemas.openxmlformats.org/drawingml/2006/main">
              <a:ext uri="{FF2B5EF4-FFF2-40B4-BE49-F238E27FC236}">
                <a16:creationId xmlns:a16="http://schemas.microsoft.com/office/drawing/2014/main" id="{280FAB4A-D601-445B-80E0-34FF660686A0}"/>
              </a:ext>
            </a:extLst>
          </p:cNvPr>
          <p:cNvSpPr>
            <a:spLocks xmlns:a="http://schemas.openxmlformats.org/drawingml/2006/main" noGrp="1"/>
          </p:cNvSpPr>
          <p:nvPr/>
        </p:nvSpPr>
        <p:spPr>
          <a:xfrm xmlns:a="http://schemas.openxmlformats.org/drawingml/2006/main">
            <a:off x="7572375" y="3362325"/>
            <a:ext cx="428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FF5E45"/>
                </a:solidFill>
              </a:defRPr>
            </a:pPr>
            <a:r>
              <a:rPr sz="2250" b="1">
                <a:solidFill>
                  <a:srgbClr val="FF5E45"/>
                </a:solidFill>
              </a:rPr>
              <a:t>→</a:t>
            </a:r>
          </a:p>
        </p:txBody>
      </p:sp>
      <p:sp>
        <p:nvSpPr>
          <p:cNvPr id="12" name="">
            <a:extLst xmlns:a="http://schemas.openxmlformats.org/drawingml/2006/main">
              <a:ext uri="{FF2B5EF4-FFF2-40B4-BE49-F238E27FC236}">
                <a16:creationId xmlns:a16="http://schemas.microsoft.com/office/drawing/2014/main" id="{4F3958AD-FFC4-4C71-94A9-52AAE21E0985}"/>
              </a:ext>
            </a:extLst>
          </p:cNvPr>
          <p:cNvSpPr>
            <a:spLocks xmlns:a="http://schemas.openxmlformats.org/drawingml/2006/main" noGrp="1"/>
          </p:cNvSpPr>
          <p:nvPr/>
        </p:nvSpPr>
        <p:spPr>
          <a:xfrm xmlns:a="http://schemas.openxmlformats.org/drawingml/2006/main">
            <a:off x="8229600" y="24003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0EEE8"/>
                </a:solidFill>
              </a:defRPr>
            </a:pPr>
            <a:r>
              <a:rPr sz="1125" b="1">
                <a:solidFill>
                  <a:srgbClr val="F0EEE8"/>
                </a:solidFill>
              </a:rPr>
              <a:t>HUMAN REVIEW</a:t>
            </a:r>
          </a:p>
        </p:txBody>
      </p:sp>
      <p:sp>
        <p:nvSpPr>
          <p:cNvPr id="13" name="">
            <a:extLst xmlns:a="http://schemas.openxmlformats.org/drawingml/2006/main">
              <a:ext uri="{FF2B5EF4-FFF2-40B4-BE49-F238E27FC236}">
                <a16:creationId xmlns:a16="http://schemas.microsoft.com/office/drawing/2014/main" id="{D2928BCC-E079-4E0F-AD34-589F99311C4D}"/>
              </a:ext>
            </a:extLst>
          </p:cNvPr>
          <p:cNvSpPr>
            <a:spLocks xmlns:a="http://schemas.openxmlformats.org/drawingml/2006/main" noGrp="1"/>
          </p:cNvSpPr>
          <p:nvPr/>
        </p:nvSpPr>
        <p:spPr>
          <a:xfrm xmlns:a="http://schemas.openxmlformats.org/drawingml/2006/main">
            <a:off x="8229600" y="2952750"/>
            <a:ext cx="304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0EEE8"/>
                </a:solidFill>
              </a:defRPr>
            </a:pPr>
            <a:r>
              <a:rPr sz="1875" b="1">
                <a:solidFill>
                  <a:srgbClr val="F0EEE8"/>
                </a:solidFill>
              </a:rPr>
              <a:t>edit nothing</a:t>
            </a:r>
          </a:p>
          <a:p xmlns:a="http://schemas.openxmlformats.org/drawingml/2006/main">
            <a:pPr algn="l">
              <a:defRPr sz="1875" b="1">
                <a:solidFill>
                  <a:srgbClr val="F0EEE8"/>
                </a:solidFill>
              </a:defRPr>
            </a:pPr>
            <a:r>
              <a:rPr sz="1875" b="1">
                <a:solidFill>
                  <a:srgbClr val="F0EEE8"/>
                </a:solidFill>
              </a:rPr>
              <a:t>approve everything</a:t>
            </a:r>
          </a:p>
          <a:p xmlns:a="http://schemas.openxmlformats.org/drawingml/2006/main">
            <a:pPr algn="l">
              <a:defRPr sz="1875" b="1">
                <a:solidFill>
                  <a:srgbClr val="F0EEE8"/>
                </a:solidFill>
              </a:defRPr>
            </a:pPr>
            <a:r>
              <a:rPr sz="1875" b="1">
                <a:solidFill>
                  <a:srgbClr val="F0EEE8"/>
                </a:solidFill>
              </a:rPr>
              <a:t>then publish once</a:t>
            </a:r>
          </a:p>
        </p:txBody>
      </p:sp>
      <p:sp>
        <p:nvSpPr>
          <p:cNvPr id="14" name="">
            <a:extLst xmlns:a="http://schemas.openxmlformats.org/drawingml/2006/main">
              <a:ext uri="{FF2B5EF4-FFF2-40B4-BE49-F238E27FC236}">
                <a16:creationId xmlns:a16="http://schemas.microsoft.com/office/drawing/2014/main" id="{F06CF87E-1198-4936-AE6B-610F2B5506D2}"/>
              </a:ext>
            </a:extLst>
          </p:cNvPr>
          <p:cNvSpPr>
            <a:spLocks xmlns:a="http://schemas.openxmlformats.org/drawingml/2006/main" noGrp="1"/>
          </p:cNvSpPr>
          <p:nvPr/>
        </p:nvSpPr>
        <p:spPr>
          <a:xfrm xmlns:a="http://schemas.openxmlformats.org/drawingml/2006/main">
            <a:off x="685800" y="58293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AAA9A3"/>
                </a:solidFill>
              </a:defRPr>
            </a:pPr>
            <a:r>
              <a:rPr sz="975" b="1">
                <a:solidFill>
                  <a:srgbClr val="AAA9A3"/>
                </a:solidFill>
              </a:rPr>
              <a:t>NO LYRICS · NO FACE IDENTIFICATION · NO INFERRED EMOTION · NO INVENTED WEATHER</a:t>
            </a:r>
          </a:p>
        </p:txBody>
      </p:sp>
    </p:spTree>
    <p:extLst>
      <p:ext uri="{BB962C8B-B14F-4D97-AF65-F5344CB8AC3E}">
        <p14:creationId xmlns:p14="http://schemas.microsoft.com/office/powerpoint/2010/main" val="764790533"/>
      </p:ext>
    </p:extLst>
  </p:cSld>
</p:sld>
</file>

<file path=ppt/slides/slide6.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B0B3691-CC79-43DE-9DB7-222D933EAFD1}"/>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06 / 10</a:t>
            </a:r>
          </a:p>
        </p:txBody>
      </p:sp>
      <p:sp>
        <p:nvSpPr>
          <p:cNvPr id="2" name="">
            <a:extLst xmlns:a="http://schemas.openxmlformats.org/drawingml/2006/main">
              <a:ext uri="{FF2B5EF4-FFF2-40B4-BE49-F238E27FC236}">
                <a16:creationId xmlns:a16="http://schemas.microsoft.com/office/drawing/2014/main" id="{3EFB811D-07D6-455F-88E8-5B8B40932357}"/>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SPONSOR STACK</a:t>
            </a:r>
          </a:p>
        </p:txBody>
      </p:sp>
      <p:sp>
        <p:nvSpPr>
          <p:cNvPr id="3" name="">
            <a:extLst xmlns:a="http://schemas.openxmlformats.org/drawingml/2006/main">
              <a:ext uri="{FF2B5EF4-FFF2-40B4-BE49-F238E27FC236}">
                <a16:creationId xmlns:a16="http://schemas.microsoft.com/office/drawing/2014/main" id="{CDD5C512-7404-4ABA-BA65-7025531C4484}"/>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989E88-234F-41FF-A585-8264848F597C}"/>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Every dependency strengthens the ritual. None can break it.</a:t>
            </a:r>
          </a:p>
        </p:txBody>
      </p:sp>
      <p:sp>
        <p:nvSpPr>
          <p:cNvPr id="5" name="">
            <a:extLst xmlns:a="http://schemas.openxmlformats.org/drawingml/2006/main">
              <a:ext uri="{FF2B5EF4-FFF2-40B4-BE49-F238E27FC236}">
                <a16:creationId xmlns:a16="http://schemas.microsoft.com/office/drawing/2014/main" id="{62CEA18A-11B7-4A3F-BC4A-6839344A6275}"/>
              </a:ext>
            </a:extLst>
          </p:cNvPr>
          <p:cNvSpPr>
            <a:spLocks xmlns:a="http://schemas.openxmlformats.org/drawingml/2006/main" noGrp="1"/>
          </p:cNvSpPr>
          <p:nvPr/>
        </p:nvSpPr>
        <p:spPr>
          <a:xfrm xmlns:a="http://schemas.openxmlformats.org/drawingml/2006/main">
            <a:off x="685800" y="2466975"/>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4A0763-5796-4C41-84F4-4B07DA60102D}"/>
              </a:ext>
            </a:extLst>
          </p:cNvPr>
          <p:cNvSpPr>
            <a:spLocks xmlns:a="http://schemas.openxmlformats.org/drawingml/2006/main" noGrp="1"/>
          </p:cNvSpPr>
          <p:nvPr/>
        </p:nvSpPr>
        <p:spPr>
          <a:xfrm xmlns:a="http://schemas.openxmlformats.org/drawingml/2006/main">
            <a:off x="685800" y="26193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0EEE8"/>
                </a:solidFill>
              </a:defRPr>
            </a:pPr>
            <a:r>
              <a:rPr sz="1575" b="1">
                <a:solidFill>
                  <a:srgbClr val="F0EEE8"/>
                </a:solidFill>
              </a:rPr>
              <a:t>OPENAI</a:t>
            </a:r>
          </a:p>
        </p:txBody>
      </p:sp>
      <p:sp>
        <p:nvSpPr>
          <p:cNvPr id="7" name="">
            <a:extLst xmlns:a="http://schemas.openxmlformats.org/drawingml/2006/main">
              <a:ext uri="{FF2B5EF4-FFF2-40B4-BE49-F238E27FC236}">
                <a16:creationId xmlns:a16="http://schemas.microsoft.com/office/drawing/2014/main" id="{2ABED83C-043A-4A4E-A462-DA1ED9867306}"/>
              </a:ext>
            </a:extLst>
          </p:cNvPr>
          <p:cNvSpPr>
            <a:spLocks xmlns:a="http://schemas.openxmlformats.org/drawingml/2006/main" noGrp="1"/>
          </p:cNvSpPr>
          <p:nvPr/>
        </p:nvSpPr>
        <p:spPr>
          <a:xfrm xmlns:a="http://schemas.openxmlformats.org/drawingml/2006/main">
            <a:off x="3238500" y="26193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AAA9A3"/>
                </a:solidFill>
              </a:defRPr>
            </a:pPr>
            <a:r>
              <a:rPr sz="1725" b="0">
                <a:solidFill>
                  <a:srgbClr val="AAA9A3"/>
                </a:solidFill>
              </a:rPr>
              <a:t>multimodal → constrained sensory language</a:t>
            </a:r>
          </a:p>
        </p:txBody>
      </p:sp>
      <p:sp>
        <p:nvSpPr>
          <p:cNvPr id="8" name="">
            <a:extLst xmlns:a="http://schemas.openxmlformats.org/drawingml/2006/main">
              <a:ext uri="{FF2B5EF4-FFF2-40B4-BE49-F238E27FC236}">
                <a16:creationId xmlns:a16="http://schemas.microsoft.com/office/drawing/2014/main" id="{C43EDDA8-C8F9-4C0D-9C96-A6169A39BA53}"/>
              </a:ext>
            </a:extLst>
          </p:cNvPr>
          <p:cNvSpPr>
            <a:spLocks xmlns:a="http://schemas.openxmlformats.org/drawingml/2006/main" noGrp="1"/>
          </p:cNvSpPr>
          <p:nvPr/>
        </p:nvSpPr>
        <p:spPr>
          <a:xfrm xmlns:a="http://schemas.openxmlformats.org/drawingml/2006/main">
            <a:off x="9067800" y="2657475"/>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5E45"/>
                </a:solidFill>
              </a:defRPr>
            </a:pPr>
            <a:r>
              <a:rPr sz="900" b="1">
                <a:solidFill>
                  <a:srgbClr val="FF5E45"/>
                </a:solidFill>
              </a:rPr>
              <a:t>LIVE / SAFE FALLBACK</a:t>
            </a:r>
          </a:p>
        </p:txBody>
      </p:sp>
      <p:sp>
        <p:nvSpPr>
          <p:cNvPr id="9" name="">
            <a:extLst xmlns:a="http://schemas.openxmlformats.org/drawingml/2006/main">
              <a:ext uri="{FF2B5EF4-FFF2-40B4-BE49-F238E27FC236}">
                <a16:creationId xmlns:a16="http://schemas.microsoft.com/office/drawing/2014/main" id="{104943EA-E25D-493A-AF85-CDD868E41B9E}"/>
              </a:ext>
            </a:extLst>
          </p:cNvPr>
          <p:cNvSpPr>
            <a:spLocks xmlns:a="http://schemas.openxmlformats.org/drawingml/2006/main" noGrp="1"/>
          </p:cNvSpPr>
          <p:nvPr/>
        </p:nvSpPr>
        <p:spPr>
          <a:xfrm xmlns:a="http://schemas.openxmlformats.org/drawingml/2006/main">
            <a:off x="685800" y="3209925"/>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3BAC70-7BA0-443B-8244-7F5933945B03}"/>
              </a:ext>
            </a:extLst>
          </p:cNvPr>
          <p:cNvSpPr>
            <a:spLocks xmlns:a="http://schemas.openxmlformats.org/drawingml/2006/main" noGrp="1"/>
          </p:cNvSpPr>
          <p:nvPr/>
        </p:nvSpPr>
        <p:spPr>
          <a:xfrm xmlns:a="http://schemas.openxmlformats.org/drawingml/2006/main">
            <a:off x="685800" y="33623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C8FF4A"/>
                </a:solidFill>
              </a:defRPr>
            </a:pPr>
            <a:r>
              <a:rPr sz="1575" b="1">
                <a:solidFill>
                  <a:srgbClr val="C8FF4A"/>
                </a:solidFill>
              </a:rPr>
              <a:t>CHATGPT SITES</a:t>
            </a:r>
          </a:p>
        </p:txBody>
      </p:sp>
      <p:sp>
        <p:nvSpPr>
          <p:cNvPr id="11" name="">
            <a:extLst xmlns:a="http://schemas.openxmlformats.org/drawingml/2006/main">
              <a:ext uri="{FF2B5EF4-FFF2-40B4-BE49-F238E27FC236}">
                <a16:creationId xmlns:a16="http://schemas.microsoft.com/office/drawing/2014/main" id="{E02604B9-5164-47B8-96B6-40D204AB371C}"/>
              </a:ext>
            </a:extLst>
          </p:cNvPr>
          <p:cNvSpPr>
            <a:spLocks xmlns:a="http://schemas.openxmlformats.org/drawingml/2006/main" noGrp="1"/>
          </p:cNvSpPr>
          <p:nvPr/>
        </p:nvSpPr>
        <p:spPr>
          <a:xfrm xmlns:a="http://schemas.openxmlformats.org/drawingml/2006/main">
            <a:off x="3238500" y="33623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AAA9A3"/>
                </a:solidFill>
              </a:defRPr>
            </a:pPr>
            <a:r>
              <a:rPr sz="1725" b="0">
                <a:solidFill>
                  <a:srgbClr val="AAA9A3"/>
                </a:solidFill>
              </a:rPr>
              <a:t>edge app → D1 state → R2 private media</a:t>
            </a:r>
          </a:p>
        </p:txBody>
      </p:sp>
      <p:sp>
        <p:nvSpPr>
          <p:cNvPr id="12" name="">
            <a:extLst xmlns:a="http://schemas.openxmlformats.org/drawingml/2006/main">
              <a:ext uri="{FF2B5EF4-FFF2-40B4-BE49-F238E27FC236}">
                <a16:creationId xmlns:a16="http://schemas.microsoft.com/office/drawing/2014/main" id="{8C569B66-DFC2-41E6-908C-DAE6B9A1871D}"/>
              </a:ext>
            </a:extLst>
          </p:cNvPr>
          <p:cNvSpPr>
            <a:spLocks xmlns:a="http://schemas.openxmlformats.org/drawingml/2006/main" noGrp="1"/>
          </p:cNvSpPr>
          <p:nvPr/>
        </p:nvSpPr>
        <p:spPr>
          <a:xfrm xmlns:a="http://schemas.openxmlformats.org/drawingml/2006/main">
            <a:off x="9067800" y="3400425"/>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C8FF4A"/>
                </a:solidFill>
              </a:defRPr>
            </a:pPr>
            <a:r>
              <a:rPr sz="900" b="1">
                <a:solidFill>
                  <a:srgbClr val="C8FF4A"/>
                </a:solidFill>
              </a:rPr>
              <a:t>DEPLOYED</a:t>
            </a:r>
          </a:p>
        </p:txBody>
      </p:sp>
      <p:sp>
        <p:nvSpPr>
          <p:cNvPr id="13" name="">
            <a:extLst xmlns:a="http://schemas.openxmlformats.org/drawingml/2006/main">
              <a:ext uri="{FF2B5EF4-FFF2-40B4-BE49-F238E27FC236}">
                <a16:creationId xmlns:a16="http://schemas.microsoft.com/office/drawing/2014/main" id="{B61D1965-71CD-4415-A585-871D20920086}"/>
              </a:ext>
            </a:extLst>
          </p:cNvPr>
          <p:cNvSpPr>
            <a:spLocks xmlns:a="http://schemas.openxmlformats.org/drawingml/2006/main" noGrp="1"/>
          </p:cNvSpPr>
          <p:nvPr/>
        </p:nvSpPr>
        <p:spPr>
          <a:xfrm xmlns:a="http://schemas.openxmlformats.org/drawingml/2006/main">
            <a:off x="685800" y="3952875"/>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E24D70-A15A-4BDC-BA07-BB5366AD8CE4}"/>
              </a:ext>
            </a:extLst>
          </p:cNvPr>
          <p:cNvSpPr>
            <a:spLocks xmlns:a="http://schemas.openxmlformats.org/drawingml/2006/main" noGrp="1"/>
          </p:cNvSpPr>
          <p:nvPr/>
        </p:nvSpPr>
        <p:spPr>
          <a:xfrm xmlns:a="http://schemas.openxmlformats.org/drawingml/2006/main">
            <a:off x="685800" y="41052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0EEE8"/>
                </a:solidFill>
              </a:defRPr>
            </a:pPr>
            <a:r>
              <a:rPr sz="1575" b="1">
                <a:solidFill>
                  <a:srgbClr val="F0EEE8"/>
                </a:solidFill>
              </a:rPr>
              <a:t>JAMBASE</a:t>
            </a:r>
          </a:p>
        </p:txBody>
      </p:sp>
      <p:sp>
        <p:nvSpPr>
          <p:cNvPr id="15" name="">
            <a:extLst xmlns:a="http://schemas.openxmlformats.org/drawingml/2006/main">
              <a:ext uri="{FF2B5EF4-FFF2-40B4-BE49-F238E27FC236}">
                <a16:creationId xmlns:a16="http://schemas.microsoft.com/office/drawing/2014/main" id="{0612D95E-49DE-4C7A-982A-75632E0C04F8}"/>
              </a:ext>
            </a:extLst>
          </p:cNvPr>
          <p:cNvSpPr>
            <a:spLocks xmlns:a="http://schemas.openxmlformats.org/drawingml/2006/main" noGrp="1"/>
          </p:cNvSpPr>
          <p:nvPr/>
        </p:nvSpPr>
        <p:spPr>
          <a:xfrm xmlns:a="http://schemas.openxmlformats.org/drawingml/2006/main">
            <a:off x="3238500" y="41052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AAA9A3"/>
                </a:solidFill>
              </a:defRPr>
            </a:pPr>
            <a:r>
              <a:rPr sz="1725" b="0">
                <a:solidFill>
                  <a:srgbClr val="AAA9A3"/>
                </a:solidFill>
              </a:rPr>
              <a:t>artist and set enrichment</a:t>
            </a:r>
          </a:p>
        </p:txBody>
      </p:sp>
      <p:sp>
        <p:nvSpPr>
          <p:cNvPr id="16" name="">
            <a:extLst xmlns:a="http://schemas.openxmlformats.org/drawingml/2006/main">
              <a:ext uri="{FF2B5EF4-FFF2-40B4-BE49-F238E27FC236}">
                <a16:creationId xmlns:a16="http://schemas.microsoft.com/office/drawing/2014/main" id="{369565A8-F80D-4B07-9A70-262405648347}"/>
              </a:ext>
            </a:extLst>
          </p:cNvPr>
          <p:cNvSpPr>
            <a:spLocks xmlns:a="http://schemas.openxmlformats.org/drawingml/2006/main" noGrp="1"/>
          </p:cNvSpPr>
          <p:nvPr/>
        </p:nvSpPr>
        <p:spPr>
          <a:xfrm xmlns:a="http://schemas.openxmlformats.org/drawingml/2006/main">
            <a:off x="9067800" y="4143375"/>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5E45"/>
                </a:solidFill>
              </a:defRPr>
            </a:pPr>
            <a:r>
              <a:rPr sz="900" b="1">
                <a:solidFill>
                  <a:srgbClr val="FF5E45"/>
                </a:solidFill>
              </a:rPr>
              <a:t>OPTIONAL / ATTRIBUTED</a:t>
            </a:r>
          </a:p>
        </p:txBody>
      </p:sp>
      <p:sp>
        <p:nvSpPr>
          <p:cNvPr id="17" name="">
            <a:extLst xmlns:a="http://schemas.openxmlformats.org/drawingml/2006/main">
              <a:ext uri="{FF2B5EF4-FFF2-40B4-BE49-F238E27FC236}">
                <a16:creationId xmlns:a16="http://schemas.microsoft.com/office/drawing/2014/main" id="{5901BD2E-073D-483A-8102-4B009B2C888A}"/>
              </a:ext>
            </a:extLst>
          </p:cNvPr>
          <p:cNvSpPr>
            <a:spLocks xmlns:a="http://schemas.openxmlformats.org/drawingml/2006/main" noGrp="1"/>
          </p:cNvSpPr>
          <p:nvPr/>
        </p:nvSpPr>
        <p:spPr>
          <a:xfrm xmlns:a="http://schemas.openxmlformats.org/drawingml/2006/main">
            <a:off x="685800" y="4695825"/>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F1FE0F3-055D-46A1-ADFC-5ADB83958652}"/>
              </a:ext>
            </a:extLst>
          </p:cNvPr>
          <p:cNvSpPr>
            <a:spLocks xmlns:a="http://schemas.openxmlformats.org/drawingml/2006/main" noGrp="1"/>
          </p:cNvSpPr>
          <p:nvPr/>
        </p:nvSpPr>
        <p:spPr>
          <a:xfrm xmlns:a="http://schemas.openxmlformats.org/drawingml/2006/main">
            <a:off x="685800" y="48482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0EEE8"/>
                </a:solidFill>
              </a:defRPr>
            </a:pPr>
            <a:r>
              <a:rPr sz="1575" b="1">
                <a:solidFill>
                  <a:srgbClr val="F0EEE8"/>
                </a:solidFill>
              </a:rPr>
              <a:t>CODEX</a:t>
            </a:r>
          </a:p>
        </p:txBody>
      </p:sp>
      <p:sp>
        <p:nvSpPr>
          <p:cNvPr id="19" name="">
            <a:extLst xmlns:a="http://schemas.openxmlformats.org/drawingml/2006/main">
              <a:ext uri="{FF2B5EF4-FFF2-40B4-BE49-F238E27FC236}">
                <a16:creationId xmlns:a16="http://schemas.microsoft.com/office/drawing/2014/main" id="{D285C9A6-7716-4BA6-AF6B-758EA04D21B8}"/>
              </a:ext>
            </a:extLst>
          </p:cNvPr>
          <p:cNvSpPr>
            <a:spLocks xmlns:a="http://schemas.openxmlformats.org/drawingml/2006/main" noGrp="1"/>
          </p:cNvSpPr>
          <p:nvPr/>
        </p:nvSpPr>
        <p:spPr>
          <a:xfrm xmlns:a="http://schemas.openxmlformats.org/drawingml/2006/main">
            <a:off x="3238500" y="48482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AAA9A3"/>
                </a:solidFill>
              </a:defRPr>
            </a:pPr>
            <a:r>
              <a:rPr sz="1725" b="0">
                <a:solidFill>
                  <a:srgbClr val="AAA9A3"/>
                </a:solidFill>
              </a:rPr>
              <a:t>research → build → red-team → ship</a:t>
            </a:r>
          </a:p>
        </p:txBody>
      </p:sp>
      <p:sp>
        <p:nvSpPr>
          <p:cNvPr id="20" name="">
            <a:extLst xmlns:a="http://schemas.openxmlformats.org/drawingml/2006/main">
              <a:ext uri="{FF2B5EF4-FFF2-40B4-BE49-F238E27FC236}">
                <a16:creationId xmlns:a16="http://schemas.microsoft.com/office/drawing/2014/main" id="{2D6B92BC-893F-4BEC-B3FD-09B94DE1E12F}"/>
              </a:ext>
            </a:extLst>
          </p:cNvPr>
          <p:cNvSpPr>
            <a:spLocks xmlns:a="http://schemas.openxmlformats.org/drawingml/2006/main" noGrp="1"/>
          </p:cNvSpPr>
          <p:nvPr/>
        </p:nvSpPr>
        <p:spPr>
          <a:xfrm xmlns:a="http://schemas.openxmlformats.org/drawingml/2006/main">
            <a:off x="9067800" y="4886325"/>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5E45"/>
                </a:solidFill>
              </a:defRPr>
            </a:pPr>
            <a:r>
              <a:rPr sz="900" b="1">
                <a:solidFill>
                  <a:srgbClr val="FF5E45"/>
                </a:solidFill>
              </a:rPr>
              <a:t>VERIFIED</a:t>
            </a:r>
          </a:p>
        </p:txBody>
      </p:sp>
      <p:sp>
        <p:nvSpPr>
          <p:cNvPr id="21" name="">
            <a:extLst xmlns:a="http://schemas.openxmlformats.org/drawingml/2006/main">
              <a:ext uri="{FF2B5EF4-FFF2-40B4-BE49-F238E27FC236}">
                <a16:creationId xmlns:a16="http://schemas.microsoft.com/office/drawing/2014/main" id="{36090AC4-BFA7-4C65-9C6E-F20AB9656E08}"/>
              </a:ext>
            </a:extLst>
          </p:cNvPr>
          <p:cNvSpPr>
            <a:spLocks xmlns:a="http://schemas.openxmlformats.org/drawingml/2006/main" noGrp="1"/>
          </p:cNvSpPr>
          <p:nvPr/>
        </p:nvSpPr>
        <p:spPr>
          <a:xfrm xmlns:a="http://schemas.openxmlformats.org/drawingml/2006/main">
            <a:off x="685800" y="5438775"/>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Tree>
    <p:extLst>
      <p:ext uri="{BB962C8B-B14F-4D97-AF65-F5344CB8AC3E}">
        <p14:creationId xmlns:p14="http://schemas.microsoft.com/office/powerpoint/2010/main" val="1771382832"/>
      </p:ext>
    </p:extLst>
  </p:cSld>
</p:sld>
</file>

<file path=ppt/slides/slide7.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A51F08A-18B4-4AD9-885B-60CD1D92A4B3}"/>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07 / 10</a:t>
            </a:r>
          </a:p>
        </p:txBody>
      </p:sp>
      <p:sp>
        <p:nvSpPr>
          <p:cNvPr id="2" name="">
            <a:extLst xmlns:a="http://schemas.openxmlformats.org/drawingml/2006/main">
              <a:ext uri="{FF2B5EF4-FFF2-40B4-BE49-F238E27FC236}">
                <a16:creationId xmlns:a16="http://schemas.microsoft.com/office/drawing/2014/main" id="{46685A48-85E6-44B4-B766-0910579DEA64}"/>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ARCHITECTURE</a:t>
            </a:r>
          </a:p>
        </p:txBody>
      </p:sp>
      <p:sp>
        <p:nvSpPr>
          <p:cNvPr id="3" name="">
            <a:extLst xmlns:a="http://schemas.openxmlformats.org/drawingml/2006/main">
              <a:ext uri="{FF2B5EF4-FFF2-40B4-BE49-F238E27FC236}">
                <a16:creationId xmlns:a16="http://schemas.microsoft.com/office/drawing/2014/main" id="{E40B97DA-20CD-4349-8BA8-2920342298EE}"/>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185B71-64DF-4F94-A7A6-ECE4E2E684D1}"/>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A strict state machine keeps two private clients in one moment.</a:t>
            </a:r>
          </a:p>
        </p:txBody>
      </p:sp>
      <p:sp>
        <p:nvSpPr>
          <p:cNvPr id="5" name="">
            <a:extLst xmlns:a="http://schemas.openxmlformats.org/drawingml/2006/main">
              <a:ext uri="{FF2B5EF4-FFF2-40B4-BE49-F238E27FC236}">
                <a16:creationId xmlns:a16="http://schemas.microsoft.com/office/drawing/2014/main" id="{4A5FCAD1-648D-4812-BF55-E437B3EE2CA3}"/>
              </a:ext>
            </a:extLst>
          </p:cNvPr>
          <p:cNvSpPr>
            <a:spLocks xmlns:a="http://schemas.openxmlformats.org/drawingml/2006/main" noGrp="1"/>
          </p:cNvSpPr>
          <p:nvPr/>
        </p:nvSpPr>
        <p:spPr>
          <a:xfrm xmlns:a="http://schemas.openxmlformats.org/drawingml/2006/main">
            <a:off x="1619250" y="3438525"/>
            <a:ext cx="8953500" cy="19050"/>
          </a:xfrm>
          <a:prstGeom xmlns:a="http://schemas.openxmlformats.org/drawingml/2006/main" prst="rect">
            <a:avLst/>
          </a:prstGeom>
          <a:solidFill xmlns:a="http://schemas.openxmlformats.org/drawingml/2006/main">
            <a:srgbClr val="FF5E4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731ABF-FDA2-4487-9946-CA0EFC0D14FB}"/>
              </a:ext>
            </a:extLst>
          </p:cNvPr>
          <p:cNvSpPr>
            <a:spLocks xmlns:a="http://schemas.openxmlformats.org/drawingml/2006/main" noGrp="1"/>
          </p:cNvSpPr>
          <p:nvPr/>
        </p:nvSpPr>
        <p:spPr>
          <a:xfrm xmlns:a="http://schemas.openxmlformats.org/drawingml/2006/main">
            <a:off x="704850" y="2762250"/>
            <a:ext cx="2190750" cy="1352550"/>
          </a:xfrm>
          <a:prstGeom xmlns:a="http://schemas.openxmlformats.org/drawingml/2006/main" prst="rect">
            <a:avLst/>
          </a:prstGeom>
          <a:solidFill xmlns:a="http://schemas.openxmlformats.org/drawingml/2006/main">
            <a:srgbClr val="101116"/>
          </a:solidFill>
          <a:ln xmlns:a="http://schemas.openxmlformats.org/drawingml/2006/main" w="9525">
            <a:solidFill>
              <a:srgbClr val="353539"/>
            </a:solidFill>
            <a:prstDash val="solid"/>
          </a:ln>
        </p:spPr>
      </p:sp>
      <p:sp>
        <p:nvSpPr>
          <p:cNvPr id="7" name="">
            <a:extLst xmlns:a="http://schemas.openxmlformats.org/drawingml/2006/main">
              <a:ext uri="{FF2B5EF4-FFF2-40B4-BE49-F238E27FC236}">
                <a16:creationId xmlns:a16="http://schemas.microsoft.com/office/drawing/2014/main" id="{81F7729A-8B8B-4EC5-8447-795D1C2934D9}"/>
              </a:ext>
            </a:extLst>
          </p:cNvPr>
          <p:cNvSpPr>
            <a:spLocks xmlns:a="http://schemas.openxmlformats.org/drawingml/2006/main" noGrp="1"/>
          </p:cNvSpPr>
          <p:nvPr/>
        </p:nvSpPr>
        <p:spPr>
          <a:xfrm xmlns:a="http://schemas.openxmlformats.org/drawingml/2006/main">
            <a:off x="876300" y="30099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0EEE8"/>
                </a:solidFill>
              </a:defRPr>
            </a:pPr>
            <a:r>
              <a:rPr sz="1200" b="1">
                <a:solidFill>
                  <a:srgbClr val="F0EEE8"/>
                </a:solidFill>
              </a:rPr>
              <a:t>HERE CLIENT</a:t>
            </a:r>
          </a:p>
        </p:txBody>
      </p:sp>
      <p:sp>
        <p:nvSpPr>
          <p:cNvPr id="8" name="">
            <a:extLst xmlns:a="http://schemas.openxmlformats.org/drawingml/2006/main">
              <a:ext uri="{FF2B5EF4-FFF2-40B4-BE49-F238E27FC236}">
                <a16:creationId xmlns:a16="http://schemas.microsoft.com/office/drawing/2014/main" id="{21BAA3B2-CCF5-4D78-97C8-154345EE81C4}"/>
              </a:ext>
            </a:extLst>
          </p:cNvPr>
          <p:cNvSpPr>
            <a:spLocks xmlns:a="http://schemas.openxmlformats.org/drawingml/2006/main" noGrp="1"/>
          </p:cNvSpPr>
          <p:nvPr/>
        </p:nvSpPr>
        <p:spPr>
          <a:xfrm xmlns:a="http://schemas.openxmlformats.org/drawingml/2006/main">
            <a:off x="876300" y="35242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AA9A3"/>
                </a:solidFill>
              </a:defRPr>
            </a:pPr>
            <a:r>
              <a:rPr sz="1350" b="0">
                <a:solidFill>
                  <a:srgbClr val="AAA9A3"/>
                </a:solidFill>
              </a:rPr>
              <a:t>capture + consent</a:t>
            </a:r>
          </a:p>
        </p:txBody>
      </p:sp>
      <p:sp>
        <p:nvSpPr>
          <p:cNvPr id="9" name="">
            <a:extLst xmlns:a="http://schemas.openxmlformats.org/drawingml/2006/main">
              <a:ext uri="{FF2B5EF4-FFF2-40B4-BE49-F238E27FC236}">
                <a16:creationId xmlns:a16="http://schemas.microsoft.com/office/drawing/2014/main" id="{E45B10FB-3D2F-4975-A9F1-BD25D02AC442}"/>
              </a:ext>
            </a:extLst>
          </p:cNvPr>
          <p:cNvSpPr>
            <a:spLocks xmlns:a="http://schemas.openxmlformats.org/drawingml/2006/main" noGrp="1"/>
          </p:cNvSpPr>
          <p:nvPr/>
        </p:nvSpPr>
        <p:spPr>
          <a:xfrm xmlns:a="http://schemas.openxmlformats.org/drawingml/2006/main">
            <a:off x="3467100" y="2762250"/>
            <a:ext cx="2190750" cy="1352550"/>
          </a:xfrm>
          <a:prstGeom xmlns:a="http://schemas.openxmlformats.org/drawingml/2006/main" prst="rect">
            <a:avLst/>
          </a:prstGeom>
          <a:solidFill xmlns:a="http://schemas.openxmlformats.org/drawingml/2006/main">
            <a:srgbClr val="101116"/>
          </a:solidFill>
          <a:ln xmlns:a="http://schemas.openxmlformats.org/drawingml/2006/main" w="28575">
            <a:solidFill>
              <a:srgbClr val="C8FF4A"/>
            </a:solidFill>
            <a:prstDash val="solid"/>
          </a:ln>
        </p:spPr>
      </p:sp>
      <p:sp>
        <p:nvSpPr>
          <p:cNvPr id="10" name="">
            <a:extLst xmlns:a="http://schemas.openxmlformats.org/drawingml/2006/main">
              <a:ext uri="{FF2B5EF4-FFF2-40B4-BE49-F238E27FC236}">
                <a16:creationId xmlns:a16="http://schemas.microsoft.com/office/drawing/2014/main" id="{5F4848A7-DDD2-41F9-813A-6E6AFC5AA5CD}"/>
              </a:ext>
            </a:extLst>
          </p:cNvPr>
          <p:cNvSpPr>
            <a:spLocks xmlns:a="http://schemas.openxmlformats.org/drawingml/2006/main" noGrp="1"/>
          </p:cNvSpPr>
          <p:nvPr/>
        </p:nvSpPr>
        <p:spPr>
          <a:xfrm xmlns:a="http://schemas.openxmlformats.org/drawingml/2006/main">
            <a:off x="3638550" y="30099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8FF4A"/>
                </a:solidFill>
              </a:defRPr>
            </a:pPr>
            <a:r>
              <a:rPr sz="1200" b="1">
                <a:solidFill>
                  <a:srgbClr val="C8FF4A"/>
                </a:solidFill>
              </a:rPr>
              <a:t>SITES API</a:t>
            </a:r>
          </a:p>
        </p:txBody>
      </p:sp>
      <p:sp>
        <p:nvSpPr>
          <p:cNvPr id="11" name="">
            <a:extLst xmlns:a="http://schemas.openxmlformats.org/drawingml/2006/main">
              <a:ext uri="{FF2B5EF4-FFF2-40B4-BE49-F238E27FC236}">
                <a16:creationId xmlns:a16="http://schemas.microsoft.com/office/drawing/2014/main" id="{E406AE72-A1D9-4EAA-BC48-82B090497A4C}"/>
              </a:ext>
            </a:extLst>
          </p:cNvPr>
          <p:cNvSpPr>
            <a:spLocks xmlns:a="http://schemas.openxmlformats.org/drawingml/2006/main" noGrp="1"/>
          </p:cNvSpPr>
          <p:nvPr/>
        </p:nvSpPr>
        <p:spPr>
          <a:xfrm xmlns:a="http://schemas.openxmlformats.org/drawingml/2006/main">
            <a:off x="3638550" y="35242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AA9A3"/>
                </a:solidFill>
              </a:defRPr>
            </a:pPr>
            <a:r>
              <a:rPr sz="1350" b="0">
                <a:solidFill>
                  <a:srgbClr val="AAA9A3"/>
                </a:solidFill>
              </a:rPr>
              <a:t>role tokens</a:t>
            </a:r>
          </a:p>
        </p:txBody>
      </p:sp>
      <p:sp>
        <p:nvSpPr>
          <p:cNvPr id="12" name="">
            <a:extLst xmlns:a="http://schemas.openxmlformats.org/drawingml/2006/main">
              <a:ext uri="{FF2B5EF4-FFF2-40B4-BE49-F238E27FC236}">
                <a16:creationId xmlns:a16="http://schemas.microsoft.com/office/drawing/2014/main" id="{379544C7-A764-4C99-982C-7BB1F811ED5B}"/>
              </a:ext>
            </a:extLst>
          </p:cNvPr>
          <p:cNvSpPr>
            <a:spLocks xmlns:a="http://schemas.openxmlformats.org/drawingml/2006/main" noGrp="1"/>
          </p:cNvSpPr>
          <p:nvPr/>
        </p:nvSpPr>
        <p:spPr>
          <a:xfrm xmlns:a="http://schemas.openxmlformats.org/drawingml/2006/main">
            <a:off x="6229350" y="2762250"/>
            <a:ext cx="2190750" cy="1352550"/>
          </a:xfrm>
          <a:prstGeom xmlns:a="http://schemas.openxmlformats.org/drawingml/2006/main" prst="rect">
            <a:avLst/>
          </a:prstGeom>
          <a:solidFill xmlns:a="http://schemas.openxmlformats.org/drawingml/2006/main">
            <a:srgbClr val="101116"/>
          </a:solidFill>
          <a:ln xmlns:a="http://schemas.openxmlformats.org/drawingml/2006/main" w="9525">
            <a:solidFill>
              <a:srgbClr val="353539"/>
            </a:solidFill>
            <a:prstDash val="solid"/>
          </a:ln>
        </p:spPr>
      </p:sp>
      <p:sp>
        <p:nvSpPr>
          <p:cNvPr id="13" name="">
            <a:extLst xmlns:a="http://schemas.openxmlformats.org/drawingml/2006/main">
              <a:ext uri="{FF2B5EF4-FFF2-40B4-BE49-F238E27FC236}">
                <a16:creationId xmlns:a16="http://schemas.microsoft.com/office/drawing/2014/main" id="{AC194D21-E9C3-4B45-836B-47335682750D}"/>
              </a:ext>
            </a:extLst>
          </p:cNvPr>
          <p:cNvSpPr>
            <a:spLocks xmlns:a="http://schemas.openxmlformats.org/drawingml/2006/main" noGrp="1"/>
          </p:cNvSpPr>
          <p:nvPr/>
        </p:nvSpPr>
        <p:spPr>
          <a:xfrm xmlns:a="http://schemas.openxmlformats.org/drawingml/2006/main">
            <a:off x="6400800" y="30099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0EEE8"/>
                </a:solidFill>
              </a:defRPr>
            </a:pPr>
            <a:r>
              <a:rPr sz="1200" b="1">
                <a:solidFill>
                  <a:srgbClr val="F0EEE8"/>
                </a:solidFill>
              </a:rPr>
              <a:t>D1 + R2</a:t>
            </a:r>
          </a:p>
        </p:txBody>
      </p:sp>
      <p:sp>
        <p:nvSpPr>
          <p:cNvPr id="14" name="">
            <a:extLst xmlns:a="http://schemas.openxmlformats.org/drawingml/2006/main">
              <a:ext uri="{FF2B5EF4-FFF2-40B4-BE49-F238E27FC236}">
                <a16:creationId xmlns:a16="http://schemas.microsoft.com/office/drawing/2014/main" id="{C6AD9633-6646-4AE1-9A61-1AEE363170CB}"/>
              </a:ext>
            </a:extLst>
          </p:cNvPr>
          <p:cNvSpPr>
            <a:spLocks xmlns:a="http://schemas.openxmlformats.org/drawingml/2006/main" noGrp="1"/>
          </p:cNvSpPr>
          <p:nvPr/>
        </p:nvSpPr>
        <p:spPr>
          <a:xfrm xmlns:a="http://schemas.openxmlformats.org/drawingml/2006/main">
            <a:off x="6400800" y="35242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AA9A3"/>
                </a:solidFill>
              </a:defRPr>
            </a:pPr>
            <a:r>
              <a:rPr sz="1350" b="0">
                <a:solidFill>
                  <a:srgbClr val="AAA9A3"/>
                </a:solidFill>
              </a:rPr>
              <a:t>state + private media</a:t>
            </a:r>
          </a:p>
        </p:txBody>
      </p:sp>
      <p:sp>
        <p:nvSpPr>
          <p:cNvPr id="15" name="">
            <a:extLst xmlns:a="http://schemas.openxmlformats.org/drawingml/2006/main">
              <a:ext uri="{FF2B5EF4-FFF2-40B4-BE49-F238E27FC236}">
                <a16:creationId xmlns:a16="http://schemas.microsoft.com/office/drawing/2014/main" id="{1EA5BEA0-85A4-4B31-9B43-52252CBFFAAB}"/>
              </a:ext>
            </a:extLst>
          </p:cNvPr>
          <p:cNvSpPr>
            <a:spLocks xmlns:a="http://schemas.openxmlformats.org/drawingml/2006/main" noGrp="1"/>
          </p:cNvSpPr>
          <p:nvPr/>
        </p:nvSpPr>
        <p:spPr>
          <a:xfrm xmlns:a="http://schemas.openxmlformats.org/drawingml/2006/main">
            <a:off x="8991600" y="2762250"/>
            <a:ext cx="2190750" cy="1352550"/>
          </a:xfrm>
          <a:prstGeom xmlns:a="http://schemas.openxmlformats.org/drawingml/2006/main" prst="rect">
            <a:avLst/>
          </a:prstGeom>
          <a:solidFill xmlns:a="http://schemas.openxmlformats.org/drawingml/2006/main">
            <a:srgbClr val="101116"/>
          </a:solidFill>
          <a:ln xmlns:a="http://schemas.openxmlformats.org/drawingml/2006/main" w="9525">
            <a:solidFill>
              <a:srgbClr val="353539"/>
            </a:solidFill>
            <a:prstDash val="solid"/>
          </a:ln>
        </p:spPr>
      </p:sp>
      <p:sp>
        <p:nvSpPr>
          <p:cNvPr id="16" name="">
            <a:extLst xmlns:a="http://schemas.openxmlformats.org/drawingml/2006/main">
              <a:ext uri="{FF2B5EF4-FFF2-40B4-BE49-F238E27FC236}">
                <a16:creationId xmlns:a16="http://schemas.microsoft.com/office/drawing/2014/main" id="{09A63AB3-6FD5-4629-BBAE-ADC42EF43DF9}"/>
              </a:ext>
            </a:extLst>
          </p:cNvPr>
          <p:cNvSpPr>
            <a:spLocks xmlns:a="http://schemas.openxmlformats.org/drawingml/2006/main" noGrp="1"/>
          </p:cNvSpPr>
          <p:nvPr/>
        </p:nvSpPr>
        <p:spPr>
          <a:xfrm xmlns:a="http://schemas.openxmlformats.org/drawingml/2006/main">
            <a:off x="9163050" y="30099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0EEE8"/>
                </a:solidFill>
              </a:defRPr>
            </a:pPr>
            <a:r>
              <a:rPr sz="1200" b="1">
                <a:solidFill>
                  <a:srgbClr val="F0EEE8"/>
                </a:solidFill>
              </a:rPr>
              <a:t>FAR CLIENT</a:t>
            </a:r>
          </a:p>
        </p:txBody>
      </p:sp>
      <p:sp>
        <p:nvSpPr>
          <p:cNvPr id="17" name="">
            <a:extLst xmlns:a="http://schemas.openxmlformats.org/drawingml/2006/main">
              <a:ext uri="{FF2B5EF4-FFF2-40B4-BE49-F238E27FC236}">
                <a16:creationId xmlns:a16="http://schemas.microsoft.com/office/drawing/2014/main" id="{CBE93BC9-578A-48C0-AF2C-B4E7055E254B}"/>
              </a:ext>
            </a:extLst>
          </p:cNvPr>
          <p:cNvSpPr>
            <a:spLocks xmlns:a="http://schemas.openxmlformats.org/drawingml/2006/main" noGrp="1"/>
          </p:cNvSpPr>
          <p:nvPr/>
        </p:nvSpPr>
        <p:spPr>
          <a:xfrm xmlns:a="http://schemas.openxmlformats.org/drawingml/2006/main">
            <a:off x="9163050" y="35242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AA9A3"/>
                </a:solidFill>
              </a:defRPr>
            </a:pPr>
            <a:r>
              <a:rPr sz="1350" b="0">
                <a:solidFill>
                  <a:srgbClr val="AAA9A3"/>
                </a:solidFill>
              </a:rPr>
              <a:t>poll + hold</a:t>
            </a:r>
          </a:p>
        </p:txBody>
      </p:sp>
      <p:sp>
        <p:nvSpPr>
          <p:cNvPr id="18" name="">
            <a:extLst xmlns:a="http://schemas.openxmlformats.org/drawingml/2006/main">
              <a:ext uri="{FF2B5EF4-FFF2-40B4-BE49-F238E27FC236}">
                <a16:creationId xmlns:a16="http://schemas.microsoft.com/office/drawing/2014/main" id="{FE6D12DE-C195-4AB2-9326-61566890D791}"/>
              </a:ext>
            </a:extLst>
          </p:cNvPr>
          <p:cNvSpPr>
            <a:spLocks xmlns:a="http://schemas.openxmlformats.org/drawingml/2006/main" noGrp="1"/>
          </p:cNvSpPr>
          <p:nvPr/>
        </p:nvSpPr>
        <p:spPr>
          <a:xfrm xmlns:a="http://schemas.openxmlformats.org/drawingml/2006/main">
            <a:off x="685800" y="47625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0EEE8"/>
                </a:solidFill>
              </a:defRPr>
            </a:pPr>
            <a:r>
              <a:rPr sz="1425" b="1">
                <a:solidFill>
                  <a:srgbClr val="F0EEE8"/>
                </a:solidFill>
              </a:rPr>
              <a:t>waiting  →  connected  →  draft_ready  →  postcard_ready  →  pulse_ready  →  completed</a:t>
            </a:r>
          </a:p>
        </p:txBody>
      </p:sp>
      <p:sp>
        <p:nvSpPr>
          <p:cNvPr id="19" name="">
            <a:extLst xmlns:a="http://schemas.openxmlformats.org/drawingml/2006/main">
              <a:ext uri="{FF2B5EF4-FFF2-40B4-BE49-F238E27FC236}">
                <a16:creationId xmlns:a16="http://schemas.microsoft.com/office/drawing/2014/main" id="{2B804C18-5FD7-4802-941C-F8DAFE83625E}"/>
              </a:ext>
            </a:extLst>
          </p:cNvPr>
          <p:cNvSpPr>
            <a:spLocks xmlns:a="http://schemas.openxmlformats.org/drawingml/2006/main" noGrp="1"/>
          </p:cNvSpPr>
          <p:nvPr/>
        </p:nvSpPr>
        <p:spPr>
          <a:xfrm xmlns:a="http://schemas.openxmlformats.org/drawingml/2006/main">
            <a:off x="685800" y="56007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C8FF4A"/>
                </a:solidFill>
              </a:defRPr>
            </a:pPr>
            <a:r>
              <a:rPr sz="975" b="1">
                <a:solidFill>
                  <a:srgbClr val="C8FF4A"/>
                </a:solidFill>
              </a:rPr>
              <a:t>24H TTL  /  CAPABILITY TOKENS  /  AUTHENTICATED MEDIA  /  IDEMPOTENT PULSE</a:t>
            </a:r>
          </a:p>
        </p:txBody>
      </p:sp>
    </p:spTree>
    <p:extLst>
      <p:ext uri="{BB962C8B-B14F-4D97-AF65-F5344CB8AC3E}">
        <p14:creationId xmlns:p14="http://schemas.microsoft.com/office/powerpoint/2010/main" val="701910747"/>
      </p:ext>
    </p:extLst>
  </p:cSld>
</p:sld>
</file>

<file path=ppt/slides/slide8.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EBCE39-2466-4F19-A468-F22D4736F0E5}"/>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08 / 10</a:t>
            </a:r>
          </a:p>
        </p:txBody>
      </p:sp>
      <p:sp>
        <p:nvSpPr>
          <p:cNvPr id="2" name="">
            <a:extLst xmlns:a="http://schemas.openxmlformats.org/drawingml/2006/main">
              <a:ext uri="{FF2B5EF4-FFF2-40B4-BE49-F238E27FC236}">
                <a16:creationId xmlns:a16="http://schemas.microsoft.com/office/drawing/2014/main" id="{96F7747D-9CBE-44C2-BE6B-DBB813C79DA0}"/>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TRUST IS THE PRODUCT</a:t>
            </a:r>
          </a:p>
        </p:txBody>
      </p:sp>
      <p:sp>
        <p:nvSpPr>
          <p:cNvPr id="3" name="">
            <a:extLst xmlns:a="http://schemas.openxmlformats.org/drawingml/2006/main">
              <a:ext uri="{FF2B5EF4-FFF2-40B4-BE49-F238E27FC236}">
                <a16:creationId xmlns:a16="http://schemas.microsoft.com/office/drawing/2014/main" id="{6C35CE03-2696-4817-8591-D03F936E3338}"/>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C911DE-6419-4747-B5A8-8452DF93F699}"/>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Designed for a festival—not merely demonstrated at one.</a:t>
            </a:r>
          </a:p>
        </p:txBody>
      </p:sp>
      <p:sp>
        <p:nvSpPr>
          <p:cNvPr id="5" name="">
            <a:extLst xmlns:a="http://schemas.openxmlformats.org/drawingml/2006/main">
              <a:ext uri="{FF2B5EF4-FFF2-40B4-BE49-F238E27FC236}">
                <a16:creationId xmlns:a16="http://schemas.microsoft.com/office/drawing/2014/main" id="{375CF133-AE64-42E3-802F-4823D673810E}"/>
              </a:ext>
            </a:extLst>
          </p:cNvPr>
          <p:cNvSpPr>
            <a:spLocks xmlns:a="http://schemas.openxmlformats.org/drawingml/2006/main" noGrp="1"/>
          </p:cNvSpPr>
          <p:nvPr/>
        </p:nvSpPr>
        <p:spPr>
          <a:xfrm xmlns:a="http://schemas.openxmlformats.org/drawingml/2006/main">
            <a:off x="685800" y="2266950"/>
            <a:ext cx="1809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0" b="1">
                <a:solidFill>
                  <a:srgbClr val="FF5E45"/>
                </a:solidFill>
              </a:defRPr>
            </a:pPr>
            <a:r>
              <a:rPr sz="6750" b="1">
                <a:solidFill>
                  <a:srgbClr val="FF5E45"/>
                </a:solidFill>
              </a:rPr>
              <a:t>NO</a:t>
            </a:r>
          </a:p>
        </p:txBody>
      </p:sp>
      <p:sp>
        <p:nvSpPr>
          <p:cNvPr id="6" name="">
            <a:extLst xmlns:a="http://schemas.openxmlformats.org/drawingml/2006/main">
              <a:ext uri="{FF2B5EF4-FFF2-40B4-BE49-F238E27FC236}">
                <a16:creationId xmlns:a16="http://schemas.microsoft.com/office/drawing/2014/main" id="{7650AE2A-C320-4FD3-BF38-E22FA2A4E9F4}"/>
              </a:ext>
            </a:extLst>
          </p:cNvPr>
          <p:cNvSpPr>
            <a:spLocks xmlns:a="http://schemas.openxmlformats.org/drawingml/2006/main" noGrp="1"/>
          </p:cNvSpPr>
          <p:nvPr/>
        </p:nvSpPr>
        <p:spPr>
          <a:xfrm xmlns:a="http://schemas.openxmlformats.org/drawingml/2006/main">
            <a:off x="2571750" y="2266950"/>
            <a:ext cx="285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0EEE8"/>
                </a:solidFill>
              </a:defRPr>
            </a:pPr>
            <a:r>
              <a:rPr sz="2325" b="1">
                <a:solidFill>
                  <a:srgbClr val="F0EEE8"/>
                </a:solidFill>
              </a:rPr>
              <a:t>accounts</a:t>
            </a:r>
          </a:p>
          <a:p xmlns:a="http://schemas.openxmlformats.org/drawingml/2006/main">
            <a:pPr algn="l">
              <a:defRPr sz="2325" b="1">
                <a:solidFill>
                  <a:srgbClr val="F0EEE8"/>
                </a:solidFill>
              </a:defRPr>
            </a:pPr>
            <a:r>
              <a:rPr sz="2325" b="1">
                <a:solidFill>
                  <a:srgbClr val="F0EEE8"/>
                </a:solidFill>
              </a:rPr>
              <a:t>raw audio</a:t>
            </a:r>
          </a:p>
          <a:p xmlns:a="http://schemas.openxmlformats.org/drawingml/2006/main">
            <a:pPr algn="l">
              <a:defRPr sz="2325" b="1">
                <a:solidFill>
                  <a:srgbClr val="F0EEE8"/>
                </a:solidFill>
              </a:defRPr>
            </a:pPr>
            <a:r>
              <a:rPr sz="2325" b="1">
                <a:solidFill>
                  <a:srgbClr val="F0EEE8"/>
                </a:solidFill>
              </a:rPr>
              <a:t>public photos</a:t>
            </a:r>
          </a:p>
        </p:txBody>
      </p:sp>
      <p:sp>
        <p:nvSpPr>
          <p:cNvPr id="7" name="">
            <a:extLst xmlns:a="http://schemas.openxmlformats.org/drawingml/2006/main">
              <a:ext uri="{FF2B5EF4-FFF2-40B4-BE49-F238E27FC236}">
                <a16:creationId xmlns:a16="http://schemas.microsoft.com/office/drawing/2014/main" id="{7F8E0CDE-87BA-4B03-BA07-740AFE69F0B1}"/>
              </a:ext>
            </a:extLst>
          </p:cNvPr>
          <p:cNvSpPr>
            <a:spLocks xmlns:a="http://schemas.openxmlformats.org/drawingml/2006/main" noGrp="1"/>
          </p:cNvSpPr>
          <p:nvPr/>
        </p:nvSpPr>
        <p:spPr>
          <a:xfrm xmlns:a="http://schemas.openxmlformats.org/drawingml/2006/main">
            <a:off x="6000750" y="2247900"/>
            <a:ext cx="19050" cy="0"/>
          </a:xfrm>
          <a:prstGeom xmlns:a="http://schemas.openxmlformats.org/drawingml/2006/main" prst="rect">
            <a:avLst/>
          </a:prstGeom>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5E9E6E-1544-48F4-B38F-0BD9711C3E28}"/>
              </a:ext>
            </a:extLst>
          </p:cNvPr>
          <p:cNvSpPr>
            <a:spLocks xmlns:a="http://schemas.openxmlformats.org/drawingml/2006/main" noGrp="1"/>
          </p:cNvSpPr>
          <p:nvPr/>
        </p:nvSpPr>
        <p:spPr>
          <a:xfrm xmlns:a="http://schemas.openxmlformats.org/drawingml/2006/main">
            <a:off x="6610350" y="2266950"/>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0" b="1">
                <a:solidFill>
                  <a:srgbClr val="C8FF4A"/>
                </a:solidFill>
              </a:defRPr>
            </a:pPr>
            <a:r>
              <a:rPr sz="6750" b="1">
                <a:solidFill>
                  <a:srgbClr val="C8FF4A"/>
                </a:solidFill>
              </a:rPr>
              <a:t>YES</a:t>
            </a:r>
          </a:p>
        </p:txBody>
      </p:sp>
      <p:sp>
        <p:nvSpPr>
          <p:cNvPr id="9" name="">
            <a:extLst xmlns:a="http://schemas.openxmlformats.org/drawingml/2006/main">
              <a:ext uri="{FF2B5EF4-FFF2-40B4-BE49-F238E27FC236}">
                <a16:creationId xmlns:a16="http://schemas.microsoft.com/office/drawing/2014/main" id="{BB241702-3312-4E94-B9F4-096CD0F1276B}"/>
              </a:ext>
            </a:extLst>
          </p:cNvPr>
          <p:cNvSpPr>
            <a:spLocks xmlns:a="http://schemas.openxmlformats.org/drawingml/2006/main" noGrp="1"/>
          </p:cNvSpPr>
          <p:nvPr/>
        </p:nvSpPr>
        <p:spPr>
          <a:xfrm xmlns:a="http://schemas.openxmlformats.org/drawingml/2006/main">
            <a:off x="8572500" y="226695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0EEE8"/>
                </a:solidFill>
              </a:defRPr>
            </a:pPr>
            <a:r>
              <a:rPr sz="2325" b="1">
                <a:solidFill>
                  <a:srgbClr val="F0EEE8"/>
                </a:solidFill>
              </a:rPr>
              <a:t>human approval</a:t>
            </a:r>
          </a:p>
          <a:p xmlns:a="http://schemas.openxmlformats.org/drawingml/2006/main">
            <a:pPr algn="l">
              <a:defRPr sz="2325" b="1">
                <a:solidFill>
                  <a:srgbClr val="F0EEE8"/>
                </a:solidFill>
              </a:defRPr>
            </a:pPr>
            <a:r>
              <a:rPr sz="2325" b="1">
                <a:solidFill>
                  <a:srgbClr val="F0EEE8"/>
                </a:solidFill>
              </a:rPr>
              <a:t>keyboard access</a:t>
            </a:r>
          </a:p>
          <a:p xmlns:a="http://schemas.openxmlformats.org/drawingml/2006/main">
            <a:pPr algn="l">
              <a:defRPr sz="2325" b="1">
                <a:solidFill>
                  <a:srgbClr val="F0EEE8"/>
                </a:solidFill>
              </a:defRPr>
            </a:pPr>
            <a:r>
              <a:rPr sz="2325" b="1">
                <a:solidFill>
                  <a:srgbClr val="F0EEE8"/>
                </a:solidFill>
              </a:rPr>
              <a:t>instant deletion</a:t>
            </a:r>
          </a:p>
        </p:txBody>
      </p:sp>
      <p:sp>
        <p:nvSpPr>
          <p:cNvPr id="10" name="">
            <a:extLst xmlns:a="http://schemas.openxmlformats.org/drawingml/2006/main">
              <a:ext uri="{FF2B5EF4-FFF2-40B4-BE49-F238E27FC236}">
                <a16:creationId xmlns:a16="http://schemas.microsoft.com/office/drawing/2014/main" id="{A20E2170-6C2C-4A7F-B3F7-B352B7886321}"/>
              </a:ext>
            </a:extLst>
          </p:cNvPr>
          <p:cNvSpPr>
            <a:spLocks xmlns:a="http://schemas.openxmlformats.org/drawingml/2006/main" noGrp="1"/>
          </p:cNvSpPr>
          <p:nvPr/>
        </p:nvSpPr>
        <p:spPr>
          <a:xfrm xmlns:a="http://schemas.openxmlformats.org/drawingml/2006/main">
            <a:off x="685800" y="581025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AAA9A3"/>
                </a:solidFill>
              </a:defRPr>
            </a:pPr>
            <a:r>
              <a:rPr sz="975" b="1">
                <a:solidFill>
                  <a:srgbClr val="AAA9A3"/>
                </a:solidFill>
              </a:rPr>
              <a:t>NO GPS · NO IDENTITY · NO SOCIAL GRAPH · RAW AUDIO NEVER LEAVES THE PHONE</a:t>
            </a:r>
          </a:p>
        </p:txBody>
      </p:sp>
    </p:spTree>
    <p:extLst>
      <p:ext uri="{BB962C8B-B14F-4D97-AF65-F5344CB8AC3E}">
        <p14:creationId xmlns:p14="http://schemas.microsoft.com/office/powerpoint/2010/main" val="1484292655"/>
      </p:ext>
    </p:extLst>
  </p:cSld>
</p:sld>
</file>

<file path=ppt/slides/slide9.xml><?xml version="1.0" encoding="utf-8"?>
<p:sld xmlns:p="http://schemas.openxmlformats.org/presentationml/2006/main">
  <p:cSld>
    <p:bg>
      <p:bgPr>
        <a:solidFill xmlns:a="http://schemas.openxmlformats.org/drawingml/2006/main">
          <a:srgbClr val="07070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F3AEC34-0BA9-44BF-B030-91D4D057C8C3}"/>
              </a:ext>
            </a:extLst>
          </p:cNvPr>
          <p:cNvSpPr>
            <a:spLocks xmlns:a="http://schemas.openxmlformats.org/drawingml/2006/main" noGrp="1"/>
          </p:cNvSpPr>
          <p:nvPr/>
        </p:nvSpPr>
        <p:spPr>
          <a:xfrm xmlns:a="http://schemas.openxmlformats.org/drawingml/2006/main">
            <a:off x="685800" y="45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E45"/>
                </a:solidFill>
              </a:defRPr>
            </a:pPr>
            <a:r>
              <a:rPr sz="975" b="1">
                <a:solidFill>
                  <a:srgbClr val="FF5E45"/>
                </a:solidFill>
              </a:rPr>
              <a:t>09 / 10</a:t>
            </a:r>
          </a:p>
        </p:txBody>
      </p:sp>
      <p:sp>
        <p:nvSpPr>
          <p:cNvPr id="2" name="">
            <a:extLst xmlns:a="http://schemas.openxmlformats.org/drawingml/2006/main">
              <a:ext uri="{FF2B5EF4-FFF2-40B4-BE49-F238E27FC236}">
                <a16:creationId xmlns:a16="http://schemas.microsoft.com/office/drawing/2014/main" id="{D5B9FEFD-F7AE-4B51-B2DE-7C32F0C0C2AF}"/>
              </a:ext>
            </a:extLst>
          </p:cNvPr>
          <p:cNvSpPr>
            <a:spLocks xmlns:a="http://schemas.openxmlformats.org/drawingml/2006/main" noGrp="1"/>
          </p:cNvSpPr>
          <p:nvPr/>
        </p:nvSpPr>
        <p:spPr>
          <a:xfrm xmlns:a="http://schemas.openxmlformats.org/drawingml/2006/main">
            <a:off x="2019300" y="457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AA9A3"/>
                </a:solidFill>
              </a:defRPr>
            </a:pPr>
            <a:r>
              <a:rPr sz="975" b="1">
                <a:solidFill>
                  <a:srgbClr val="AAA9A3"/>
                </a:solidFill>
              </a:rPr>
              <a:t>WHY THIS CAN WIN</a:t>
            </a:r>
          </a:p>
        </p:txBody>
      </p:sp>
      <p:sp>
        <p:nvSpPr>
          <p:cNvPr id="3" name="">
            <a:extLst xmlns:a="http://schemas.openxmlformats.org/drawingml/2006/main">
              <a:ext uri="{FF2B5EF4-FFF2-40B4-BE49-F238E27FC236}">
                <a16:creationId xmlns:a16="http://schemas.microsoft.com/office/drawing/2014/main" id="{3E8268D6-370B-4D43-BB77-5C42FB85BDE1}"/>
              </a:ext>
            </a:extLst>
          </p:cNvPr>
          <p:cNvSpPr>
            <a:spLocks xmlns:a="http://schemas.openxmlformats.org/drawingml/2006/main" noGrp="1"/>
          </p:cNvSpPr>
          <p:nvPr/>
        </p:nvSpPr>
        <p:spPr>
          <a:xfrm xmlns:a="http://schemas.openxmlformats.org/drawingml/2006/main">
            <a:off x="685800" y="781050"/>
            <a:ext cx="10820400" cy="952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883F8B-FC02-4FB1-9D9D-409739C95735}"/>
              </a:ext>
            </a:extLst>
          </p:cNvPr>
          <p:cNvSpPr>
            <a:spLocks xmlns:a="http://schemas.openxmlformats.org/drawingml/2006/main" noGrp="1"/>
          </p:cNvSpPr>
          <p:nvPr/>
        </p:nvSpPr>
        <p:spPr>
          <a:xfrm xmlns:a="http://schemas.openxmlformats.org/drawingml/2006/main">
            <a:off x="685800" y="10287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0EEE8"/>
                </a:solidFill>
              </a:defRPr>
            </a:pPr>
            <a:r>
              <a:rPr sz="3750" b="1">
                <a:solidFill>
                  <a:srgbClr val="F0EEE8"/>
                </a:solidFill>
              </a:rPr>
              <a:t>A judge can understand it in three seconds—and feel it in eight.</a:t>
            </a:r>
          </a:p>
        </p:txBody>
      </p:sp>
      <p:sp>
        <p:nvSpPr>
          <p:cNvPr id="5" name="">
            <a:extLst xmlns:a="http://schemas.openxmlformats.org/drawingml/2006/main">
              <a:ext uri="{FF2B5EF4-FFF2-40B4-BE49-F238E27FC236}">
                <a16:creationId xmlns:a16="http://schemas.microsoft.com/office/drawing/2014/main" id="{8932C30C-68BE-42B7-9644-CD0BFD87BC1F}"/>
              </a:ext>
            </a:extLst>
          </p:cNvPr>
          <p:cNvSpPr>
            <a:spLocks xmlns:a="http://schemas.openxmlformats.org/drawingml/2006/main" noGrp="1"/>
          </p:cNvSpPr>
          <p:nvPr/>
        </p:nvSpPr>
        <p:spPr>
          <a:xfrm xmlns:a="http://schemas.openxmlformats.org/drawingml/2006/main">
            <a:off x="685800" y="226695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00" b="1">
                <a:solidFill>
                  <a:srgbClr val="F0EEE8"/>
                </a:solidFill>
              </a:defRPr>
            </a:pPr>
            <a:r>
              <a:rPr sz="7800" b="1">
                <a:solidFill>
                  <a:srgbClr val="F0EEE8"/>
                </a:solidFill>
              </a:rPr>
              <a:t>3</a:t>
            </a:r>
          </a:p>
        </p:txBody>
      </p:sp>
      <p:sp>
        <p:nvSpPr>
          <p:cNvPr id="6" name="">
            <a:extLst xmlns:a="http://schemas.openxmlformats.org/drawingml/2006/main">
              <a:ext uri="{FF2B5EF4-FFF2-40B4-BE49-F238E27FC236}">
                <a16:creationId xmlns:a16="http://schemas.microsoft.com/office/drawing/2014/main" id="{944AE22A-5CC1-4197-AA30-B667DC894856}"/>
              </a:ext>
            </a:extLst>
          </p:cNvPr>
          <p:cNvSpPr>
            <a:spLocks xmlns:a="http://schemas.openxmlformats.org/drawingml/2006/main" noGrp="1"/>
          </p:cNvSpPr>
          <p:nvPr/>
        </p:nvSpPr>
        <p:spPr>
          <a:xfrm xmlns:a="http://schemas.openxmlformats.org/drawingml/2006/main">
            <a:off x="2686050" y="2819400"/>
            <a:ext cx="90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C8FF4A"/>
                </a:solidFill>
              </a:defRPr>
            </a:pPr>
            <a:r>
              <a:rPr sz="1275" b="1">
                <a:solidFill>
                  <a:srgbClr val="C8FF4A"/>
                </a:solidFill>
              </a:rPr>
              <a:t>SEC</a:t>
            </a:r>
          </a:p>
        </p:txBody>
      </p:sp>
      <p:sp>
        <p:nvSpPr>
          <p:cNvPr id="7" name="">
            <a:extLst xmlns:a="http://schemas.openxmlformats.org/drawingml/2006/main">
              <a:ext uri="{FF2B5EF4-FFF2-40B4-BE49-F238E27FC236}">
                <a16:creationId xmlns:a16="http://schemas.microsoft.com/office/drawing/2014/main" id="{83617039-1AFC-4007-9626-ACDB9C5F3A03}"/>
              </a:ext>
            </a:extLst>
          </p:cNvPr>
          <p:cNvSpPr>
            <a:spLocks xmlns:a="http://schemas.openxmlformats.org/drawingml/2006/main" noGrp="1"/>
          </p:cNvSpPr>
          <p:nvPr/>
        </p:nvSpPr>
        <p:spPr>
          <a:xfrm xmlns:a="http://schemas.openxmlformats.org/drawingml/2006/main">
            <a:off x="685800" y="3667125"/>
            <a:ext cx="2857500" cy="2857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EBA431-CD59-48DF-9107-AFDD9991BCFA}"/>
              </a:ext>
            </a:extLst>
          </p:cNvPr>
          <p:cNvSpPr>
            <a:spLocks xmlns:a="http://schemas.openxmlformats.org/drawingml/2006/main" noGrp="1"/>
          </p:cNvSpPr>
          <p:nvPr/>
        </p:nvSpPr>
        <p:spPr>
          <a:xfrm xmlns:a="http://schemas.openxmlformats.org/drawingml/2006/main">
            <a:off x="685800" y="40481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0EEE8"/>
                </a:solidFill>
              </a:defRPr>
            </a:pPr>
            <a:r>
              <a:rPr sz="1425" b="1">
                <a:solidFill>
                  <a:srgbClr val="F0EEE8"/>
                </a:solidFill>
              </a:rPr>
              <a:t>Understand the tension</a:t>
            </a:r>
          </a:p>
        </p:txBody>
      </p:sp>
      <p:sp>
        <p:nvSpPr>
          <p:cNvPr id="9" name="">
            <a:extLst xmlns:a="http://schemas.openxmlformats.org/drawingml/2006/main">
              <a:ext uri="{FF2B5EF4-FFF2-40B4-BE49-F238E27FC236}">
                <a16:creationId xmlns:a16="http://schemas.microsoft.com/office/drawing/2014/main" id="{4FAC8033-A263-43BB-8420-F4B17BC12DA0}"/>
              </a:ext>
            </a:extLst>
          </p:cNvPr>
          <p:cNvSpPr>
            <a:spLocks xmlns:a="http://schemas.openxmlformats.org/drawingml/2006/main" noGrp="1"/>
          </p:cNvSpPr>
          <p:nvPr/>
        </p:nvSpPr>
        <p:spPr>
          <a:xfrm xmlns:a="http://schemas.openxmlformats.org/drawingml/2006/main">
            <a:off x="4305300" y="226695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00" b="1">
                <a:solidFill>
                  <a:srgbClr val="FF5E45"/>
                </a:solidFill>
              </a:defRPr>
            </a:pPr>
            <a:r>
              <a:rPr sz="7800" b="1">
                <a:solidFill>
                  <a:srgbClr val="FF5E45"/>
                </a:solidFill>
              </a:rPr>
              <a:t>30</a:t>
            </a:r>
          </a:p>
        </p:txBody>
      </p:sp>
      <p:sp>
        <p:nvSpPr>
          <p:cNvPr id="10" name="">
            <a:extLst xmlns:a="http://schemas.openxmlformats.org/drawingml/2006/main">
              <a:ext uri="{FF2B5EF4-FFF2-40B4-BE49-F238E27FC236}">
                <a16:creationId xmlns:a16="http://schemas.microsoft.com/office/drawing/2014/main" id="{9FE893CD-B80F-42B1-95BB-6556DF92948D}"/>
              </a:ext>
            </a:extLst>
          </p:cNvPr>
          <p:cNvSpPr>
            <a:spLocks xmlns:a="http://schemas.openxmlformats.org/drawingml/2006/main" noGrp="1"/>
          </p:cNvSpPr>
          <p:nvPr/>
        </p:nvSpPr>
        <p:spPr>
          <a:xfrm xmlns:a="http://schemas.openxmlformats.org/drawingml/2006/main">
            <a:off x="6305550" y="2819400"/>
            <a:ext cx="90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C8FF4A"/>
                </a:solidFill>
              </a:defRPr>
            </a:pPr>
            <a:r>
              <a:rPr sz="1275" b="1">
                <a:solidFill>
                  <a:srgbClr val="C8FF4A"/>
                </a:solidFill>
              </a:rPr>
              <a:t>SEC</a:t>
            </a:r>
          </a:p>
        </p:txBody>
      </p:sp>
      <p:sp>
        <p:nvSpPr>
          <p:cNvPr id="11" name="">
            <a:extLst xmlns:a="http://schemas.openxmlformats.org/drawingml/2006/main">
              <a:ext uri="{FF2B5EF4-FFF2-40B4-BE49-F238E27FC236}">
                <a16:creationId xmlns:a16="http://schemas.microsoft.com/office/drawing/2014/main" id="{77354072-2B1C-49B5-A4EC-44829C848D68}"/>
              </a:ext>
            </a:extLst>
          </p:cNvPr>
          <p:cNvSpPr>
            <a:spLocks xmlns:a="http://schemas.openxmlformats.org/drawingml/2006/main" noGrp="1"/>
          </p:cNvSpPr>
          <p:nvPr/>
        </p:nvSpPr>
        <p:spPr>
          <a:xfrm xmlns:a="http://schemas.openxmlformats.org/drawingml/2006/main">
            <a:off x="4305300" y="3667125"/>
            <a:ext cx="2857500" cy="28575"/>
          </a:xfrm>
          <a:prstGeom xmlns:a="http://schemas.openxmlformats.org/drawingml/2006/main" prst="rect">
            <a:avLst/>
          </a:prstGeom>
          <a:solidFill xmlns:a="http://schemas.openxmlformats.org/drawingml/2006/main">
            <a:srgbClr val="FF5E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198240-3212-484C-9AAB-95490A153D8C}"/>
              </a:ext>
            </a:extLst>
          </p:cNvPr>
          <p:cNvSpPr>
            <a:spLocks xmlns:a="http://schemas.openxmlformats.org/drawingml/2006/main" noGrp="1"/>
          </p:cNvSpPr>
          <p:nvPr/>
        </p:nvSpPr>
        <p:spPr>
          <a:xfrm xmlns:a="http://schemas.openxmlformats.org/drawingml/2006/main">
            <a:off x="4305300" y="40481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0EEE8"/>
                </a:solidFill>
              </a:defRPr>
            </a:pPr>
            <a:r>
              <a:rPr sz="1425" b="1">
                <a:solidFill>
                  <a:srgbClr val="F0EEE8"/>
                </a:solidFill>
              </a:rPr>
              <a:t>Complete the ritual</a:t>
            </a:r>
          </a:p>
        </p:txBody>
      </p:sp>
      <p:sp>
        <p:nvSpPr>
          <p:cNvPr id="13" name="">
            <a:extLst xmlns:a="http://schemas.openxmlformats.org/drawingml/2006/main">
              <a:ext uri="{FF2B5EF4-FFF2-40B4-BE49-F238E27FC236}">
                <a16:creationId xmlns:a16="http://schemas.microsoft.com/office/drawing/2014/main" id="{37D0E2A4-5CDE-401D-B0C2-826CF47DE24B}"/>
              </a:ext>
            </a:extLst>
          </p:cNvPr>
          <p:cNvSpPr>
            <a:spLocks xmlns:a="http://schemas.openxmlformats.org/drawingml/2006/main" noGrp="1"/>
          </p:cNvSpPr>
          <p:nvPr/>
        </p:nvSpPr>
        <p:spPr>
          <a:xfrm xmlns:a="http://schemas.openxmlformats.org/drawingml/2006/main">
            <a:off x="7924800" y="226695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00" b="1">
                <a:solidFill>
                  <a:srgbClr val="F0EEE8"/>
                </a:solidFill>
              </a:defRPr>
            </a:pPr>
            <a:r>
              <a:rPr sz="7800" b="1">
                <a:solidFill>
                  <a:srgbClr val="F0EEE8"/>
                </a:solidFill>
              </a:rPr>
              <a:t>8</a:t>
            </a:r>
          </a:p>
        </p:txBody>
      </p:sp>
      <p:sp>
        <p:nvSpPr>
          <p:cNvPr id="14" name="">
            <a:extLst xmlns:a="http://schemas.openxmlformats.org/drawingml/2006/main">
              <a:ext uri="{FF2B5EF4-FFF2-40B4-BE49-F238E27FC236}">
                <a16:creationId xmlns:a16="http://schemas.microsoft.com/office/drawing/2014/main" id="{2337A2F1-6684-4281-A492-5349ED4AC1E6}"/>
              </a:ext>
            </a:extLst>
          </p:cNvPr>
          <p:cNvSpPr>
            <a:spLocks xmlns:a="http://schemas.openxmlformats.org/drawingml/2006/main" noGrp="1"/>
          </p:cNvSpPr>
          <p:nvPr/>
        </p:nvSpPr>
        <p:spPr>
          <a:xfrm xmlns:a="http://schemas.openxmlformats.org/drawingml/2006/main">
            <a:off x="9925050" y="2819400"/>
            <a:ext cx="90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C8FF4A"/>
                </a:solidFill>
              </a:defRPr>
            </a:pPr>
            <a:r>
              <a:rPr sz="1275" b="1">
                <a:solidFill>
                  <a:srgbClr val="C8FF4A"/>
                </a:solidFill>
              </a:rPr>
              <a:t>SEC</a:t>
            </a:r>
          </a:p>
        </p:txBody>
      </p:sp>
      <p:sp>
        <p:nvSpPr>
          <p:cNvPr id="15" name="">
            <a:extLst xmlns:a="http://schemas.openxmlformats.org/drawingml/2006/main">
              <a:ext uri="{FF2B5EF4-FFF2-40B4-BE49-F238E27FC236}">
                <a16:creationId xmlns:a16="http://schemas.microsoft.com/office/drawing/2014/main" id="{C754C4C3-DBF8-48D2-829A-21E0CCAB7F27}"/>
              </a:ext>
            </a:extLst>
          </p:cNvPr>
          <p:cNvSpPr>
            <a:spLocks xmlns:a="http://schemas.openxmlformats.org/drawingml/2006/main" noGrp="1"/>
          </p:cNvSpPr>
          <p:nvPr/>
        </p:nvSpPr>
        <p:spPr>
          <a:xfrm xmlns:a="http://schemas.openxmlformats.org/drawingml/2006/main">
            <a:off x="7924800" y="3667125"/>
            <a:ext cx="2857500" cy="28575"/>
          </a:xfrm>
          <a:prstGeom xmlns:a="http://schemas.openxmlformats.org/drawingml/2006/main" prst="rect">
            <a:avLst/>
          </a:prstGeom>
          <a:solidFill xmlns:a="http://schemas.openxmlformats.org/drawingml/2006/main">
            <a:srgbClr val="35353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6471F0-C0A1-4981-9580-D891A23D58A7}"/>
              </a:ext>
            </a:extLst>
          </p:cNvPr>
          <p:cNvSpPr>
            <a:spLocks xmlns:a="http://schemas.openxmlformats.org/drawingml/2006/main" noGrp="1"/>
          </p:cNvSpPr>
          <p:nvPr/>
        </p:nvSpPr>
        <p:spPr>
          <a:xfrm xmlns:a="http://schemas.openxmlformats.org/drawingml/2006/main">
            <a:off x="7924800" y="40481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0EEE8"/>
                </a:solidFill>
              </a:defRPr>
            </a:pPr>
            <a:r>
              <a:rPr sz="1425" b="1">
                <a:solidFill>
                  <a:srgbClr val="F0EEE8"/>
                </a:solidFill>
              </a:rPr>
              <a:t>Let the room go quiet</a:t>
            </a:r>
          </a:p>
        </p:txBody>
      </p:sp>
      <p:sp>
        <p:nvSpPr>
          <p:cNvPr id="17" name="">
            <a:extLst xmlns:a="http://schemas.openxmlformats.org/drawingml/2006/main">
              <a:ext uri="{FF2B5EF4-FFF2-40B4-BE49-F238E27FC236}">
                <a16:creationId xmlns:a16="http://schemas.microsoft.com/office/drawing/2014/main" id="{60D2351D-4EBB-44E7-9132-085C373799EC}"/>
              </a:ext>
            </a:extLst>
          </p:cNvPr>
          <p:cNvSpPr>
            <a:spLocks xmlns:a="http://schemas.openxmlformats.org/drawingml/2006/main" noGrp="1"/>
          </p:cNvSpPr>
          <p:nvPr/>
        </p:nvSpPr>
        <p:spPr>
          <a:xfrm xmlns:a="http://schemas.openxmlformats.org/drawingml/2006/main">
            <a:off x="685800" y="569595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AAA9A3"/>
                </a:solidFill>
              </a:defRPr>
            </a:pPr>
            <a:r>
              <a:rPr sz="1425" b="1">
                <a:solidFill>
                  <a:srgbClr val="AAA9A3"/>
                </a:solidFill>
              </a:rPr>
              <a:t>NOT A FEED. NOT A PLANNER. NOT A CHATBOT. A NEW FESTIVAL RITUAL.</a:t>
            </a:r>
          </a:p>
        </p:txBody>
      </p:sp>
    </p:spTree>
    <p:extLst>
      <p:ext uri="{BB962C8B-B14F-4D97-AF65-F5344CB8AC3E}">
        <p14:creationId xmlns:p14="http://schemas.microsoft.com/office/powerpoint/2010/main" val="3347767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b41abefa5fa41b1"/>
          <a:srcRect xmlns:a="http://schemas.openxmlformats.org/drawingml/2006/main" l="0" t="5034" r="0" b="503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AB086A-4045-48F1-B423-36A3329EA6B6}"/>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C8FF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055C80-078D-4CC2-B1AF-4D9D4233F18D}"/>
              </a:ext>
            </a:extLst>
          </p:cNvPr>
          <p:cNvSpPr>
            <a:spLocks xmlns:a="http://schemas.openxmlformats.org/drawingml/2006/main" noGrp="1"/>
          </p:cNvSpPr>
          <p:nvPr/>
        </p:nvSpPr>
        <p:spPr>
          <a:xfrm xmlns:a="http://schemas.openxmlformats.org/drawingml/2006/main">
            <a:off x="685800" y="704850"/>
            <a:ext cx="7620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025" b="1">
                <a:solidFill>
                  <a:srgbClr val="F0EEE8"/>
                </a:solidFill>
              </a:defRPr>
            </a:pPr>
            <a:r>
              <a:rPr sz="5025" b="1">
                <a:solidFill>
                  <a:srgbClr val="F0EEE8"/>
                </a:solidFill>
              </a:rPr>
              <a:t>HOLD THE PULSE.</a:t>
            </a:r>
          </a:p>
        </p:txBody>
      </p:sp>
      <p:sp>
        <p:nvSpPr>
          <p:cNvPr id="4" name="">
            <a:extLst xmlns:a="http://schemas.openxmlformats.org/drawingml/2006/main">
              <a:ext uri="{FF2B5EF4-FFF2-40B4-BE49-F238E27FC236}">
                <a16:creationId xmlns:a16="http://schemas.microsoft.com/office/drawing/2014/main" id="{5FAD3193-0DB6-4CBA-A875-1578FDB9F100}"/>
              </a:ext>
            </a:extLst>
          </p:cNvPr>
          <p:cNvSpPr>
            <a:spLocks xmlns:a="http://schemas.openxmlformats.org/drawingml/2006/main" noGrp="1"/>
          </p:cNvSpPr>
          <p:nvPr/>
        </p:nvSpPr>
        <p:spPr>
          <a:xfrm xmlns:a="http://schemas.openxmlformats.org/drawingml/2006/main">
            <a:off x="723900" y="1600200"/>
            <a:ext cx="609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5E45"/>
                </a:solidFill>
              </a:defRPr>
            </a:pPr>
            <a:r>
              <a:rPr sz="1875" b="1">
                <a:solidFill>
                  <a:srgbClr val="FF5E45"/>
                </a:solidFill>
              </a:rPr>
              <a:t>Then stop speaking and let the room feel it.</a:t>
            </a:r>
          </a:p>
        </p:txBody>
      </p:sp>
      <p:sp>
        <p:nvSpPr>
          <p:cNvPr id="5" name="">
            <a:extLst xmlns:a="http://schemas.openxmlformats.org/drawingml/2006/main">
              <a:ext uri="{FF2B5EF4-FFF2-40B4-BE49-F238E27FC236}">
                <a16:creationId xmlns:a16="http://schemas.microsoft.com/office/drawing/2014/main" id="{279C3893-56A2-4B45-8D54-3363177CA2CB}"/>
              </a:ext>
            </a:extLst>
          </p:cNvPr>
          <p:cNvSpPr>
            <a:spLocks xmlns:a="http://schemas.openxmlformats.org/drawingml/2006/main" noGrp="1"/>
          </p:cNvSpPr>
          <p:nvPr/>
        </p:nvSpPr>
        <p:spPr>
          <a:xfrm xmlns:a="http://schemas.openxmlformats.org/drawingml/2006/main">
            <a:off x="723900" y="455295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0EEE8"/>
                </a:solidFill>
              </a:defRPr>
            </a:pPr>
            <a:r>
              <a:rPr sz="1875" b="1">
                <a:solidFill>
                  <a:srgbClr val="F0EEE8"/>
                </a:solidFill>
              </a:rPr>
              <a:t>Outside Lands already brings the show everywhere.</a:t>
            </a:r>
          </a:p>
          <a:p xmlns:a="http://schemas.openxmlformats.org/drawingml/2006/main">
            <a:pPr algn="l">
              <a:defRPr sz="1875" b="1">
                <a:solidFill>
                  <a:srgbClr val="F0EEE8"/>
                </a:solidFill>
              </a:defRPr>
            </a:pPr>
            <a:r>
              <a:rPr sz="1875" b="1">
                <a:solidFill>
                  <a:srgbClr val="F0EEE8"/>
                </a:solidFill>
              </a:rPr>
              <a:t>Same Sky brings one person into the feeling of being there.</a:t>
            </a:r>
          </a:p>
        </p:txBody>
      </p:sp>
      <p:sp>
        <p:nvSpPr>
          <p:cNvPr id="6" name="">
            <a:extLst xmlns:a="http://schemas.openxmlformats.org/drawingml/2006/main">
              <a:ext uri="{FF2B5EF4-FFF2-40B4-BE49-F238E27FC236}">
                <a16:creationId xmlns:a16="http://schemas.microsoft.com/office/drawing/2014/main" id="{7AD139D5-C476-490E-931C-B1D490B13848}"/>
              </a:ext>
            </a:extLst>
          </p:cNvPr>
          <p:cNvSpPr>
            <a:spLocks xmlns:a="http://schemas.openxmlformats.org/drawingml/2006/main" noGrp="1"/>
          </p:cNvSpPr>
          <p:nvPr/>
        </p:nvSpPr>
        <p:spPr>
          <a:xfrm xmlns:a="http://schemas.openxmlformats.org/drawingml/2006/main">
            <a:off x="723900" y="5924550"/>
            <a:ext cx="5048250" cy="457200"/>
          </a:xfrm>
          <a:prstGeom xmlns:a="http://schemas.openxmlformats.org/drawingml/2006/main" prst="rect">
            <a:avLst/>
          </a:prstGeom>
          <a:solidFill xmlns:a="http://schemas.openxmlformats.org/drawingml/2006/main">
            <a:srgbClr val="C8FF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2D6D2E-0E91-4EAF-959B-773CF0400F5B}"/>
              </a:ext>
            </a:extLst>
          </p:cNvPr>
          <p:cNvSpPr>
            <a:spLocks xmlns:a="http://schemas.openxmlformats.org/drawingml/2006/main" noGrp="1"/>
          </p:cNvSpPr>
          <p:nvPr/>
        </p:nvSpPr>
        <p:spPr>
          <a:xfrm xmlns:a="http://schemas.openxmlformats.org/drawingml/2006/main">
            <a:off x="857250" y="6057900"/>
            <a:ext cx="4781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7070B"/>
                </a:solidFill>
              </a:defRPr>
            </a:pPr>
            <a:r>
              <a:rPr sz="1125" b="1">
                <a:solidFill>
                  <a:srgbClr val="07070B"/>
                </a:solidFill>
              </a:rPr>
              <a:t>same-sky-live.vnmoorthy.chatgpt.site</a:t>
            </a:r>
          </a:p>
        </p:txBody>
      </p:sp>
    </p:spTree>
    <p:extLst>
      <p:ext uri="{BB962C8B-B14F-4D97-AF65-F5344CB8AC3E}">
        <p14:creationId xmlns:p14="http://schemas.microsoft.com/office/powerpoint/2010/main" val="173052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2026-08-03T00:45:06.1020000Z</dcterms:created>
  <dcterms:modified xsi:type="dcterms:W3CDTF">2026-08-03T00:45:06.1020000Z</dcterms:modified>
</coreProperties>
</file>