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fbeccb2beb496f" /><Relationship Type="http://schemas.openxmlformats.org/officeDocument/2006/relationships/extended-properties" Target="/docProps/app.xml" Id="Rbae479bd58ba4a83" /><Relationship Type="http://schemas.openxmlformats.org/officeDocument/2006/relationships/officeDocument" Target="/ppt/presentation.xml" Id="R4987906403594b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a47c49e13c4af8"/>
  </p:sldMasterIdLst>
  <p:notesMasterIdLst>
    <p:notesMasterId xmlns:r="http://schemas.openxmlformats.org/officeDocument/2006/relationships" r:id="R32a2c4f736b54e88"/>
  </p:notesMasterIdLst>
  <p:sldIdLst>
    <p:sldId xmlns:r="http://schemas.openxmlformats.org/officeDocument/2006/relationships" id="256" r:id="Rbe4398f936b14107"/>
    <p:sldId xmlns:r="http://schemas.openxmlformats.org/officeDocument/2006/relationships" id="257" r:id="R448939643a594a85"/>
    <p:sldId xmlns:r="http://schemas.openxmlformats.org/officeDocument/2006/relationships" id="258" r:id="Rc37a8c396bc0473d"/>
    <p:sldId xmlns:r="http://schemas.openxmlformats.org/officeDocument/2006/relationships" id="259" r:id="R1698aa4182784107"/>
    <p:sldId xmlns:r="http://schemas.openxmlformats.org/officeDocument/2006/relationships" id="260" r:id="R01dca471136249af"/>
    <p:sldId xmlns:r="http://schemas.openxmlformats.org/officeDocument/2006/relationships" id="261" r:id="R3bec73dd40df49f4"/>
    <p:sldId xmlns:r="http://schemas.openxmlformats.org/officeDocument/2006/relationships" id="262" r:id="R835edecf89d24e38"/>
    <p:sldId xmlns:r="http://schemas.openxmlformats.org/officeDocument/2006/relationships" id="263" r:id="Rb9c7106676924aa3"/>
    <p:sldId xmlns:r="http://schemas.openxmlformats.org/officeDocument/2006/relationships" id="264" r:id="R719ba7ee86614230"/>
    <p:sldId xmlns:r="http://schemas.openxmlformats.org/officeDocument/2006/relationships" id="265" r:id="R95cab92e87334ec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418c301fdd43d8" /><Relationship Type="http://schemas.openxmlformats.org/officeDocument/2006/relationships/slideMaster" Target="/ppt/slideMasters/slideMaster1.xml" Id="R2da47c49e13c4af8" /><Relationship Type="http://schemas.openxmlformats.org/officeDocument/2006/relationships/notesMaster" Target="/ppt/notesMasters/notesMaster1.xml" Id="R32a2c4f736b54e88" /><Relationship Type="http://schemas.openxmlformats.org/officeDocument/2006/relationships/presProps" Target="/ppt/presProps.xml" Id="R236907c8ba604b83" /><Relationship Type="http://schemas.openxmlformats.org/officeDocument/2006/relationships/tableStyles" Target="/ppt/tableStyles.xml" Id="R927b7bd608854a56" /><Relationship Type="http://schemas.openxmlformats.org/officeDocument/2006/relationships/slide" Target="/ppt/slides/slide1.xml" Id="Rbe4398f936b14107" /><Relationship Type="http://schemas.openxmlformats.org/officeDocument/2006/relationships/slide" Target="/ppt/slides/slide2.xml" Id="R448939643a594a85" /><Relationship Type="http://schemas.openxmlformats.org/officeDocument/2006/relationships/slide" Target="/ppt/slides/slide3.xml" Id="Rc37a8c396bc0473d" /><Relationship Type="http://schemas.openxmlformats.org/officeDocument/2006/relationships/slide" Target="/ppt/slides/slide4.xml" Id="R1698aa4182784107" /><Relationship Type="http://schemas.openxmlformats.org/officeDocument/2006/relationships/slide" Target="/ppt/slides/slide5.xml" Id="R01dca471136249af" /><Relationship Type="http://schemas.openxmlformats.org/officeDocument/2006/relationships/slide" Target="/ppt/slides/slide6.xml" Id="R3bec73dd40df49f4" /><Relationship Type="http://schemas.openxmlformats.org/officeDocument/2006/relationships/slide" Target="/ppt/slides/slide7.xml" Id="R835edecf89d24e38" /><Relationship Type="http://schemas.openxmlformats.org/officeDocument/2006/relationships/slide" Target="/ppt/slides/slide8.xml" Id="Rb9c7106676924aa3" /><Relationship Type="http://schemas.openxmlformats.org/officeDocument/2006/relationships/slide" Target="/ppt/slides/slide9.xml" Id="R719ba7ee86614230" /><Relationship Type="http://schemas.openxmlformats.org/officeDocument/2006/relationships/slide" Target="/ppt/slides/slide10.xml" Id="R95cab92e87334e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d958cac78d4f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b481088b2f4a5c" /><Relationship Type="http://schemas.openxmlformats.org/officeDocument/2006/relationships/notesMaster" Target="/ppt/notesMasters/notesMaster1.xml" Id="Reeb9abfea2bb45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cbee890fbb4734" /><Relationship Type="http://schemas.openxmlformats.org/officeDocument/2006/relationships/notesMaster" Target="/ppt/notesMasters/notesMaster1.xml" Id="Rb2ac9c6fb64742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6851dd71fd42f8" /><Relationship Type="http://schemas.openxmlformats.org/officeDocument/2006/relationships/notesMaster" Target="/ppt/notesMasters/notesMaster1.xml" Id="R3a41bacd45da4a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b15cbc1bd34a1b" /><Relationship Type="http://schemas.openxmlformats.org/officeDocument/2006/relationships/notesMaster" Target="/ppt/notesMasters/notesMaster1.xml" Id="R1f45378c3f6c46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6489a114c2d4f7c" /><Relationship Type="http://schemas.openxmlformats.org/officeDocument/2006/relationships/notesMaster" Target="/ppt/notesMasters/notesMaster1.xml" Id="R5a3d5c2cdee648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1fac37361b4a1c" /><Relationship Type="http://schemas.openxmlformats.org/officeDocument/2006/relationships/notesMaster" Target="/ppt/notesMasters/notesMaster1.xml" Id="Rab73ea5bbab44d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49ccc3daf847fc" /><Relationship Type="http://schemas.openxmlformats.org/officeDocument/2006/relationships/notesMaster" Target="/ppt/notesMasters/notesMaster1.xml" Id="Re32e3ba7a5584f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eaaf206f064af2" /><Relationship Type="http://schemas.openxmlformats.org/officeDocument/2006/relationships/notesMaster" Target="/ppt/notesMasters/notesMaster1.xml" Id="Ra1ad915ab1094c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972c2e71a947e9" /><Relationship Type="http://schemas.openxmlformats.org/officeDocument/2006/relationships/notesMaster" Target="/ppt/notesMasters/notesMaster1.xml" Id="R9e55afbbbacc47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091a518897476f" /><Relationship Type="http://schemas.openxmlformats.org/officeDocument/2006/relationships/notesMaster" Target="/ppt/notesMasters/notesMaster1.xml" Id="Ra61030ebc8c145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c1fe0f2044e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c87583017e4d07" /><Relationship Type="http://schemas.openxmlformats.org/officeDocument/2006/relationships/slideLayout" Target="/ppt/slideLayouts/slideLayout1.xml" Id="Rc67e04b840864b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7e04b840864b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bb613fef34a77" /><Relationship Type="http://schemas.openxmlformats.org/officeDocument/2006/relationships/image" Target="/ppt/media/image.png" Id="R23dc318ffee84406" /><Relationship Type="http://schemas.openxmlformats.org/officeDocument/2006/relationships/notesSlide" Target="/ppt/notesSlides/notesSlide1.xml" Id="R561197ed1da348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b32931ba0843d2" /><Relationship Type="http://schemas.openxmlformats.org/officeDocument/2006/relationships/notesSlide" Target="/ppt/notesSlides/notesSlide2.xml" Id="R3483d50a857d4e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5a49153364ccc" /><Relationship Type="http://schemas.openxmlformats.org/officeDocument/2006/relationships/notesSlide" Target="/ppt/notesSlides/notesSlide3.xml" Id="Rd945e3cab3784d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7198439fe4788" /><Relationship Type="http://schemas.openxmlformats.org/officeDocument/2006/relationships/notesSlide" Target="/ppt/notesSlides/notesSlide4.xml" Id="R5426f55308cf46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1e45501f1494c" /><Relationship Type="http://schemas.openxmlformats.org/officeDocument/2006/relationships/notesSlide" Target="/ppt/notesSlides/notesSlide5.xml" Id="R13f8569050934b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ea582d89ad4bcd" /><Relationship Type="http://schemas.openxmlformats.org/officeDocument/2006/relationships/notesSlide" Target="/ppt/notesSlides/notesSlide6.xml" Id="R37fcc73946ef42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8ca6f89a64c99" /><Relationship Type="http://schemas.openxmlformats.org/officeDocument/2006/relationships/notesSlide" Target="/ppt/notesSlides/notesSlide7.xml" Id="Recce8e0dbd7b4a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f278bfa4b449e" /><Relationship Type="http://schemas.openxmlformats.org/officeDocument/2006/relationships/notesSlide" Target="/ppt/notesSlides/notesSlide8.xml" Id="R826ed5e16efc44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54a01b699f4f3e" /><Relationship Type="http://schemas.openxmlformats.org/officeDocument/2006/relationships/notesSlide" Target="/ppt/notesSlides/notesSlide9.xml" Id="Rcb86e3aaaf4148a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56333643749fa" /><Relationship Type="http://schemas.openxmlformats.org/officeDocument/2006/relationships/image" Target="/ppt/media/image2.png" Id="Reeee256947624840" /><Relationship Type="http://schemas.openxmlformats.org/officeDocument/2006/relationships/notesSlide" Target="/ppt/notesSlides/notesSlide10.xml" Id="Ra386b363b76a49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7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dc318ffee84406"/>
          <a:srcRect xmlns:a="http://schemas.openxmlformats.org/drawingml/2006/main" l="0" t="5034" r="0" b="50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14CD7-8E2A-4A7D-96CD-7D1FF266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9"/>
              </a:gs>
              <a:gs pos="55000">
                <a:srgbClr val="050509"/>
              </a:gs>
              <a:gs pos="100000">
                <a:srgbClr val="050509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224491-FBB7-4B3C-8841-32DABAA6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1B2FD0-4A31-4DF5-927A-CEAFA59F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C8FF4A"/>
                </a:solidFill>
              </a:defRPr>
            </a:pPr>
            <a:r>
              <a:rPr sz="975" b="1" i="0">
                <a:solidFill>
                  <a:srgbClr val="C8FF4A"/>
                </a:solidFill>
              </a:rPr>
              <a:t>OUTSIDELLMS III · MAKE THE FESTIVAL BETTER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AAC04F-6FC3-4CAC-BE47-9D96B11E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667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100" b="1" i="0">
                <a:solidFill>
                  <a:srgbClr val="F0EEE8"/>
                </a:solidFill>
              </a:defRPr>
            </a:pPr>
            <a:r>
              <a:rPr sz="8100" b="1" i="0">
                <a:solidFill>
                  <a:srgbClr val="F0EEE8"/>
                </a:solidFill>
              </a:rPr>
              <a:t>SAME</a:t>
            </a:r>
          </a:p>
          <a:p xmlns:a="http://schemas.openxmlformats.org/drawingml/2006/main">
            <a:pPr>
              <a:defRPr sz="8100" b="1" i="0">
                <a:solidFill>
                  <a:srgbClr val="F0EEE8"/>
                </a:solidFill>
              </a:defRPr>
            </a:pPr>
            <a:r>
              <a:rPr sz="8100" b="1" i="0">
                <a:solidFill>
                  <a:srgbClr val="F0EEE8"/>
                </a:solidFill>
              </a:rPr>
              <a:t>SKY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5A518D-D68A-4031-80DD-101E368FA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0" i="1">
                <a:solidFill>
                  <a:srgbClr val="FF5E45"/>
                </a:solidFill>
              </a:defRPr>
            </a:pPr>
            <a:r>
              <a:rPr sz="2250" b="0" i="1">
                <a:solidFill>
                  <a:srgbClr val="FF5E45"/>
                </a:solidFill>
              </a:rPr>
              <a:t>One set. Two skies.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8A077-CCDB-44AE-B8B8-F5A60CB18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2440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6AE75-D286-463F-984B-253D4EE3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514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F0EEE8"/>
                </a:solidFill>
              </a:defRPr>
            </a:pPr>
            <a:r>
              <a:rPr sz="1350" b="0" i="0">
                <a:solidFill>
                  <a:srgbClr val="F0EEE8"/>
                </a:solidFill>
              </a:rPr>
              <a:t>Livestreams transmit video. Same Sky transmits presence—one private ritual between someone at the festival and someone anywhere.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97878C-486F-49AC-ADC4-8423C71E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3436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AAA9A3"/>
                </a:solidFill>
              </a:defRPr>
            </a:pPr>
            <a:r>
              <a:rPr sz="900" b="0" i="0">
                <a:solidFill>
                  <a:srgbClr val="AAA9A3"/>
                </a:solidFill>
              </a:rPr>
              <a:t>LIVE BUILD  /  same-sky-live.vnmoorthy.chatgpt.site</a:t>
            </a:r>
          </a:p>
        </p:txBody>
      </p:sp>
    </p:spTree>
    <p:extLst>
      <p:ext uri="{BB962C8B-B14F-4D97-AF65-F5344CB8AC3E}">
        <p14:creationId xmlns:p14="http://schemas.microsoft.com/office/powerpoint/2010/main" val="11783096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7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A87B90-583A-41E9-9B4B-5CB397C6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F5E45"/>
                </a:solidFill>
              </a:defRPr>
            </a:pPr>
            <a:r>
              <a:rPr sz="1050" b="1" i="0">
                <a:solidFill>
                  <a:srgbClr val="FF5E45"/>
                </a:solidFill>
              </a:rPr>
              <a:t>02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6CEAF2-CE9F-4D4C-A4C1-EE66AB1A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72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0EEE8"/>
                </a:solidFill>
              </a:defRPr>
            </a:pPr>
            <a:r>
              <a:rPr sz="1050" b="1" i="0">
                <a:solidFill>
                  <a:srgbClr val="F0EEE8"/>
                </a:solidFill>
              </a:rPr>
              <a:t>THE HUMAN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B7E224-CEB6-436E-8EBB-3E777CBD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12934-646E-46C9-9145-3ABEA32D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 i="0">
                <a:solidFill>
                  <a:srgbClr val="F0EEE8"/>
                </a:solidFill>
              </a:defRPr>
            </a:pPr>
            <a:r>
              <a:rPr sz="3150" b="1" i="0">
                <a:solidFill>
                  <a:srgbClr val="F0EEE8"/>
                </a:solidFill>
              </a:rPr>
              <a:t>The stream carries every pixel.</a:t>
            </a:r>
          </a:p>
          <a:p xmlns:a="http://schemas.openxmlformats.org/drawingml/2006/main">
            <a:pPr>
              <a:defRPr sz="3150" b="1" i="0">
                <a:solidFill>
                  <a:srgbClr val="F0EEE8"/>
                </a:solidFill>
              </a:defRPr>
            </a:pPr>
            <a:r>
              <a:rPr sz="3150" b="1" i="0">
                <a:solidFill>
                  <a:srgbClr val="F0EEE8"/>
                </a:solidFill>
              </a:rPr>
              <a:t>It still leaves someone out.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28C42-C203-4B43-B829-50B42375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 i="0">
                <a:solidFill>
                  <a:srgbClr val="F0EEE8"/>
                </a:solidFill>
              </a:defRPr>
            </a:pPr>
            <a:r>
              <a:rPr sz="4800" b="1" i="0">
                <a:solidFill>
                  <a:srgbClr val="F0EEE8"/>
                </a:solidFill>
              </a:rPr>
              <a:t>VIDEO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16BBF7-5219-42CE-B7BB-B0A5FEF4F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667000"/>
            <a:ext cx="95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 i="0">
                <a:solidFill>
                  <a:srgbClr val="FF5E45"/>
                </a:solidFill>
              </a:defRPr>
            </a:pPr>
            <a:r>
              <a:rPr sz="4800" b="1" i="0">
                <a:solidFill>
                  <a:srgbClr val="FF5E45"/>
                </a:solidFill>
              </a:rPr>
              <a:t>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DFB75-3657-41B3-A815-21BC4EBF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67000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 i="0">
                <a:solidFill>
                  <a:srgbClr val="F0EEE8"/>
                </a:solidFill>
              </a:defRPr>
            </a:pPr>
            <a:r>
              <a:rPr sz="4800" b="1" i="0">
                <a:solidFill>
                  <a:srgbClr val="F0EEE8"/>
                </a:solidFill>
              </a:rPr>
              <a:t>PRESENCE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AF4ABD-4036-4A01-B49B-0C7F67FF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8B255-4CC5-4DA5-8F18-D54EAEC4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AAA9A3"/>
                </a:solidFill>
              </a:defRPr>
            </a:pPr>
            <a:r>
              <a:rPr sz="1650" b="0" i="0">
                <a:solidFill>
                  <a:srgbClr val="AAA9A3"/>
                </a:solidFill>
              </a:rPr>
              <a:t>The remote fan sees every pixel.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6701B0-8E58-45BE-9C11-57D76A9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957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C8FF4A"/>
                </a:solidFill>
              </a:defRPr>
            </a:pPr>
            <a:r>
              <a:rPr sz="1650" b="1" i="0">
                <a:solidFill>
                  <a:srgbClr val="C8FF4A"/>
                </a:solidFill>
              </a:rPr>
              <a:t>They still cannot feel chosen.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20546F-1422-4602-A8E2-E142F168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435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F0EEE8"/>
                </a:solidFill>
              </a:defRPr>
            </a:pPr>
            <a:r>
              <a:rPr sz="1650" b="0" i="0">
                <a:solidFill>
                  <a:srgbClr val="F0EEE8"/>
                </a:solidFill>
              </a:rPr>
              <a:t>Same Sky changes the unit of connection from an audience of millions to one specific human being.</a:t>
            </a:r>
          </a:p>
        </p:txBody>
      </p:sp>
    </p:spTree>
    <p:extLst>
      <p:ext uri="{BB962C8B-B14F-4D97-AF65-F5344CB8AC3E}">
        <p14:creationId xmlns:p14="http://schemas.microsoft.com/office/powerpoint/2010/main" val="13734445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7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EC402E-E3A1-4754-AACD-5A9637FD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F5E45"/>
                </a:solidFill>
              </a:defRPr>
            </a:pPr>
            <a:r>
              <a:rPr sz="1050" b="1" i="0">
                <a:solidFill>
                  <a:srgbClr val="FF5E45"/>
                </a:solidFill>
              </a:rPr>
              <a:t>03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7E3025-8BD2-4278-9C9D-57E9B4C5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72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0EEE8"/>
                </a:solidFill>
              </a:defRPr>
            </a:pPr>
            <a:r>
              <a:rPr sz="1050" b="1" i="0">
                <a:solidFill>
                  <a:srgbClr val="F0EEE8"/>
                </a:solidFill>
              </a:rPr>
              <a:t>THE RITUAL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BD3494-0071-4702-B312-B35EC23F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2C1BD-A69A-4E7E-88C3-ED853E15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 i="0">
                <a:solidFill>
                  <a:srgbClr val="F0EEE8"/>
                </a:solidFill>
              </a:defRPr>
            </a:pPr>
            <a:r>
              <a:rPr sz="3150" b="1" i="0">
                <a:solidFill>
                  <a:srgbClr val="F0EEE8"/>
                </a:solidFill>
              </a:rPr>
              <a:t>Thirty seconds. One person. One pulse.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0AA2F1-4522-42AA-8841-BFCC524E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C8FF4A"/>
                </a:solidFill>
              </a:defRPr>
            </a:pPr>
            <a:r>
              <a:rPr sz="2100" b="0" i="0">
                <a:solidFill>
                  <a:srgbClr val="C8FF4A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87D561-EFCD-4AB8-B7DF-CCCA2F1C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F0EEE8"/>
                </a:solidFill>
              </a:defRPr>
            </a:pPr>
            <a:r>
              <a:rPr sz="2100" b="1" i="0">
                <a:solidFill>
                  <a:srgbClr val="F0EEE8"/>
                </a:solidFill>
              </a:rPr>
              <a:t>CATCH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29FD1-4225-49F7-950A-EB023521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AAA9A3"/>
                </a:solidFill>
              </a:defRPr>
            </a:pPr>
            <a:r>
              <a:rPr sz="1350" b="0" i="0">
                <a:solidFill>
                  <a:srgbClr val="AAA9A3"/>
                </a:solidFill>
              </a:rPr>
              <a:t>Photo + tags + ambient estimate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725485-5A1E-450B-B93C-DFE80CF9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575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C8FF4A"/>
                </a:solidFill>
              </a:defRPr>
            </a:pPr>
            <a:r>
              <a:rPr sz="2100" b="0" i="0">
                <a:solidFill>
                  <a:srgbClr val="C8FF4A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7006B4-CBEC-4762-B07B-9782168E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29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F0EEE8"/>
                </a:solidFill>
              </a:defRPr>
            </a:pPr>
            <a:r>
              <a:rPr sz="2100" b="1" i="0">
                <a:solidFill>
                  <a:srgbClr val="F0EEE8"/>
                </a:solidFill>
              </a:rPr>
              <a:t>SEND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793B12-2702-4F3A-96E9-21C455F1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AAA9A3"/>
                </a:solidFill>
              </a:defRPr>
            </a:pPr>
            <a:r>
              <a:rPr sz="1350" b="0" i="0">
                <a:solidFill>
                  <a:srgbClr val="AAA9A3"/>
                </a:solidFill>
              </a:rPr>
              <a:t>Sensory receipt + human approval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8DCEE-8072-4558-A4B6-429BA228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575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C8FF4A"/>
                </a:solidFill>
              </a:defRPr>
            </a:pPr>
            <a:r>
              <a:rPr sz="2100" b="0" i="0">
                <a:solidFill>
                  <a:srgbClr val="C8FF4A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731DE1-91D8-45F5-A579-C7CF8956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F0EEE8"/>
                </a:solidFill>
              </a:defRPr>
            </a:pPr>
            <a:r>
              <a:rPr sz="2100" b="1" i="0">
                <a:solidFill>
                  <a:srgbClr val="F0EEE8"/>
                </a:solidFill>
              </a:rPr>
              <a:t>RETURN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9DA71B-F849-4B2B-91AD-875980FC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00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AAA9A3"/>
                </a:solidFill>
              </a:defRPr>
            </a:pPr>
            <a:r>
              <a:rPr sz="1350" b="0" i="0">
                <a:solidFill>
                  <a:srgbClr val="AAA9A3"/>
                </a:solidFill>
              </a:rPr>
              <a:t>Synced 8s pulse + shared sky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40C4AE-D42D-4AEF-BC9C-4281ED56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F4A">
              <a:alpha val="3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AFF045-96A6-47A0-BAF2-C667DB21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1">
                <a:solidFill>
                  <a:srgbClr val="FF5E45"/>
                </a:solidFill>
              </a:defRPr>
            </a:pPr>
            <a:r>
              <a:rPr sz="1350" b="0" i="1">
                <a:solidFill>
                  <a:srgbClr val="FF5E45"/>
                </a:solidFill>
              </a:rPr>
              <a:t>Nothing becomes a post. Nothing asks for a follow.</a:t>
            </a:r>
          </a:p>
        </p:txBody>
      </p:sp>
    </p:spTree>
    <p:extLst>
      <p:ext uri="{BB962C8B-B14F-4D97-AF65-F5344CB8AC3E}">
        <p14:creationId xmlns:p14="http://schemas.microsoft.com/office/powerpoint/2010/main" val="11050170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7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84F99B-F429-4246-B941-17447A62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F5E45"/>
                </a:solidFill>
              </a:defRPr>
            </a:pPr>
            <a:r>
              <a:rPr sz="1050" b="1" i="0">
                <a:solidFill>
                  <a:srgbClr val="FF5E45"/>
                </a:solidFill>
              </a:rPr>
              <a:t>04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CB04A7-651B-4862-B911-BB32EFC2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72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0EEE8"/>
                </a:solidFill>
              </a:defRPr>
            </a:pPr>
            <a:r>
              <a:rPr sz="1050" b="1" i="0">
                <a:solidFill>
                  <a:srgbClr val="F0EEE8"/>
                </a:solidFill>
              </a:rPr>
              <a:t>THE JUDGE MOMENT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F20F7-9A3D-4DEB-BAD1-A4EBB8C6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60257-9EEB-4736-988D-561859CC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F0EEE8"/>
                </a:solidFill>
              </a:defRPr>
            </a:pPr>
            <a:r>
              <a:rPr sz="3000" b="1" i="0">
                <a:solidFill>
                  <a:srgbClr val="F0EEE8"/>
                </a:solidFill>
              </a:rPr>
              <a:t>The room does not watch the demo.</a:t>
            </a:r>
          </a:p>
          <a:p xmlns:a="http://schemas.openxmlformats.org/drawingml/2006/main">
            <a:pPr>
              <a:defRPr sz="3000" b="1" i="0">
                <a:solidFill>
                  <a:srgbClr val="F0EEE8"/>
                </a:solidFill>
              </a:defRPr>
            </a:pPr>
            <a:r>
              <a:rPr sz="3000" b="1" i="0">
                <a:solidFill>
                  <a:srgbClr val="F0EEE8"/>
                </a:solidFill>
              </a:rPr>
              <a:t>The room feels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4F19E6-AD49-441F-A6C2-CD40D6D2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57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FF5E45"/>
                </a:solidFill>
              </a:defRPr>
            </a:pPr>
            <a:r>
              <a:rPr sz="1200" b="1" i="0">
                <a:solidFill>
                  <a:srgbClr val="FF5E45"/>
                </a:solidFill>
              </a:rPr>
              <a:t>HERE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145CAA-9E30-46DD-902A-37EE87BD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4290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E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81018-077C-4384-A9F7-69C078B9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F0EEE8"/>
                </a:solidFill>
              </a:defRPr>
            </a:pPr>
            <a:r>
              <a:rPr sz="1800" b="1" i="0">
                <a:solidFill>
                  <a:srgbClr val="F0EEE8"/>
                </a:solidFill>
              </a:rPr>
              <a:t>FEEL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2612B3-0A41-411E-8E95-E1B1A65B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171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4006B9-5E3A-4437-9E10-CA710A80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4325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0E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D0D85D-96CD-4FF7-BF81-0FCAE0CE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337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 i="0">
                <a:solidFill>
                  <a:srgbClr val="F0EEE8"/>
                </a:solidFill>
              </a:defRPr>
            </a:pPr>
            <a:r>
              <a:rPr sz="4800" b="1" i="0">
                <a:solidFill>
                  <a:srgbClr val="F0EEE8"/>
                </a:solidFill>
              </a:rPr>
              <a:t>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DA3270-6801-4502-BFBC-BEE32004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957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AAA9A3"/>
                </a:solidFill>
              </a:defRPr>
            </a:pPr>
            <a:r>
              <a:rPr sz="900" b="0" i="0">
                <a:solidFill>
                  <a:srgbClr val="AAA9A3"/>
                </a:solidFill>
              </a:rPr>
              <a:t>SECONDS</a:t>
            </a:r>
          </a:p>
          <a:p xmlns:a="http://schemas.openxmlformats.org/drawingml/2006/main">
            <a:pPr>
              <a:defRPr sz="900" b="0" i="0">
                <a:solidFill>
                  <a:srgbClr val="AAA9A3"/>
                </a:solidFill>
              </a:defRPr>
            </a:pPr>
            <a:r>
              <a:rPr sz="900" b="0" i="0">
                <a:solidFill>
                  <a:srgbClr val="AAA9A3"/>
                </a:solidFill>
              </a:rPr>
              <a:t>OF SHARED LIGHT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B4D09-3B4C-461F-9D82-A91E2F50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905250"/>
            <a:ext cx="171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DDC54D-76D5-44C6-97C4-2437FC2F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C8FF4A"/>
                </a:solidFill>
              </a:defRPr>
            </a:pPr>
            <a:r>
              <a:rPr sz="1200" b="1" i="0">
                <a:solidFill>
                  <a:srgbClr val="C8FF4A"/>
                </a:solidFill>
              </a:rPr>
              <a:t>FAR AWAY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5A5F22-BB2B-4DB0-A1FB-B8D17E34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290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F01DD-6F63-4B94-AE8D-1695C19E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672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F0EEE8"/>
                </a:solidFill>
              </a:defRPr>
            </a:pPr>
            <a:r>
              <a:rPr sz="1800" b="1" i="0">
                <a:solidFill>
                  <a:srgbClr val="F0EEE8"/>
                </a:solidFill>
              </a:rPr>
              <a:t>HOLD</a:t>
            </a:r>
          </a:p>
        </p:txBody>
      </p:sp>
    </p:spTree>
    <p:extLst>
      <p:ext uri="{BB962C8B-B14F-4D97-AF65-F5344CB8AC3E}">
        <p14:creationId xmlns:p14="http://schemas.microsoft.com/office/powerpoint/2010/main" val="8987797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7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8F25DF-B68C-4535-937C-6F4D38EE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F5E45"/>
                </a:solidFill>
              </a:defRPr>
            </a:pPr>
            <a:r>
              <a:rPr sz="1050" b="1" i="0">
                <a:solidFill>
                  <a:srgbClr val="FF5E45"/>
                </a:solidFill>
              </a:rPr>
              <a:t>05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C8425B-C097-49B1-8D68-4FC4884F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72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0EEE8"/>
                </a:solidFill>
              </a:defRPr>
            </a:pPr>
            <a:r>
              <a:rPr sz="1050" b="1" i="0">
                <a:solidFill>
                  <a:srgbClr val="F0EEE8"/>
                </a:solidFill>
              </a:rPr>
              <a:t>OPENAI WITH A JOB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5D114-DA52-4E19-B756-B48B1D11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3F664-CDBD-4F83-B343-E2533420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F0EEE8"/>
                </a:solidFill>
              </a:defRPr>
            </a:pPr>
            <a:r>
              <a:rPr sz="2850" b="1" i="0">
                <a:solidFill>
                  <a:srgbClr val="F0EEE8"/>
                </a:solidFill>
              </a:rPr>
              <a:t>Facts in. Feeling out. A human always decides.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9C7B0-47B4-41AA-89D5-99D07907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C8FF4A"/>
                </a:solidFill>
              </a:defRPr>
            </a:pPr>
            <a:r>
              <a:rPr sz="1200" b="1" i="0">
                <a:solidFill>
                  <a:srgbClr val="C8FF4A"/>
                </a:solidFill>
              </a:rPr>
              <a:t>FIELD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F74FA-D751-4BA0-BF2F-5D5B7DAC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304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F0EEE8"/>
                </a:solidFill>
              </a:defRPr>
            </a:pPr>
            <a:r>
              <a:rPr sz="1650" b="0" i="0">
                <a:solidFill>
                  <a:srgbClr val="F0EEE8"/>
                </a:solidFill>
              </a:rPr>
              <a:t>cool air</a:t>
            </a:r>
          </a:p>
          <a:p xmlns:a="http://schemas.openxmlformats.org/drawingml/2006/main">
            <a:pPr>
              <a:defRPr sz="1650" b="0" i="0">
                <a:solidFill>
                  <a:srgbClr val="F0EEE8"/>
                </a:solidFill>
              </a:defRPr>
            </a:pPr>
            <a:r>
              <a:rPr sz="1650" b="0" i="0">
                <a:solidFill>
                  <a:srgbClr val="F0EEE8"/>
                </a:solidFill>
              </a:rPr>
              <a:t>amber beam</a:t>
            </a:r>
          </a:p>
          <a:p xmlns:a="http://schemas.openxmlformats.org/drawingml/2006/main">
            <a:pPr>
              <a:defRPr sz="1650" b="0" i="0">
                <a:solidFill>
                  <a:srgbClr val="F0EEE8"/>
                </a:solidFill>
              </a:defRPr>
            </a:pPr>
            <a:r>
              <a:rPr sz="1650" b="0" i="0">
                <a:solidFill>
                  <a:srgbClr val="F0EEE8"/>
                </a:solidFill>
              </a:rPr>
              <a:t>82 / 100 energy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4D0A4-FADF-4D8F-BC4F-A13B12EB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385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FF5E45"/>
                </a:solidFill>
              </a:defRPr>
            </a:pPr>
            <a:r>
              <a:rPr sz="2100" b="0" i="0">
                <a:solidFill>
                  <a:srgbClr val="FF5E45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77F254-DF3B-4CB0-A8A5-EB3B50CD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812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C8FF4A"/>
                </a:solidFill>
              </a:defRPr>
            </a:pPr>
            <a:r>
              <a:rPr sz="1200" b="1" i="0">
                <a:solidFill>
                  <a:srgbClr val="C8FF4A"/>
                </a:solidFill>
              </a:rPr>
              <a:t>OPENAI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1646A2-A0EC-455E-83BD-2C18FE04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04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F0EEE8"/>
                </a:solidFill>
              </a:defRPr>
            </a:pPr>
            <a:r>
              <a:rPr sz="1650" b="0" i="0">
                <a:solidFill>
                  <a:srgbClr val="F0EEE8"/>
                </a:solidFill>
              </a:rPr>
              <a:t>constrained translation</a:t>
            </a:r>
          </a:p>
          <a:p xmlns:a="http://schemas.openxmlformats.org/drawingml/2006/main">
            <a:pPr>
              <a:defRPr sz="1650" b="0" i="0">
                <a:solidFill>
                  <a:srgbClr val="F0EEE8"/>
                </a:solidFill>
              </a:defRPr>
            </a:pPr>
            <a:r>
              <a:rPr sz="1650" b="0" i="0">
                <a:solidFill>
                  <a:srgbClr val="F0EEE8"/>
                </a:solidFill>
              </a:rPr>
              <a:t>accessible alt text</a:t>
            </a:r>
          </a:p>
          <a:p xmlns:a="http://schemas.openxmlformats.org/drawingml/2006/main">
            <a:pPr>
              <a:defRPr sz="1650" b="0" i="0">
                <a:solidFill>
                  <a:srgbClr val="F0EEE8"/>
                </a:solidFill>
              </a:defRPr>
            </a:pPr>
            <a:r>
              <a:rPr sz="1650" b="0" i="0">
                <a:solidFill>
                  <a:srgbClr val="F0EEE8"/>
                </a:solidFill>
              </a:rPr>
              <a:t>strict structured 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F9A4B-7539-4E23-BD66-7C0C3C4C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385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FF5E45"/>
                </a:solidFill>
              </a:defRPr>
            </a:pPr>
            <a:r>
              <a:rPr sz="2100" b="0" i="0">
                <a:solidFill>
                  <a:srgbClr val="FF5E4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8B409-56E6-410B-B634-739498BC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812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C8FF4A"/>
                </a:solidFill>
              </a:defRPr>
            </a:pPr>
            <a:r>
              <a:rPr sz="1200" b="1" i="0">
                <a:solidFill>
                  <a:srgbClr val="C8FF4A"/>
                </a:solidFill>
              </a:rPr>
              <a:t>HUMAN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A386B1-C9D7-49F1-B61D-8F20E9B7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52750"/>
            <a:ext cx="304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F0EEE8"/>
                </a:solidFill>
              </a:defRPr>
            </a:pPr>
            <a:r>
              <a:rPr sz="1650" b="0" i="0">
                <a:solidFill>
                  <a:srgbClr val="F0EEE8"/>
                </a:solidFill>
              </a:rPr>
              <a:t>edit nothing</a:t>
            </a:r>
          </a:p>
          <a:p xmlns:a="http://schemas.openxmlformats.org/drawingml/2006/main">
            <a:pPr>
              <a:defRPr sz="1650" b="0" i="0">
                <a:solidFill>
                  <a:srgbClr val="F0EEE8"/>
                </a:solidFill>
              </a:defRPr>
            </a:pPr>
            <a:r>
              <a:rPr sz="1650" b="0" i="0">
                <a:solidFill>
                  <a:srgbClr val="F0EEE8"/>
                </a:solidFill>
              </a:rPr>
              <a:t>approve everything</a:t>
            </a:r>
          </a:p>
          <a:p xmlns:a="http://schemas.openxmlformats.org/drawingml/2006/main">
            <a:pPr>
              <a:defRPr sz="1650" b="0" i="0">
                <a:solidFill>
                  <a:srgbClr val="F0EEE8"/>
                </a:solidFill>
              </a:defRPr>
            </a:pPr>
            <a:r>
              <a:rPr sz="1650" b="0" i="0">
                <a:solidFill>
                  <a:srgbClr val="F0EEE8"/>
                </a:solidFill>
              </a:rPr>
              <a:t>then publish once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31364F-BE95-46FB-BD86-7914E27A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AAA9A3"/>
                </a:solidFill>
              </a:defRPr>
            </a:pPr>
            <a:r>
              <a:rPr sz="1050" b="0" i="0">
                <a:solidFill>
                  <a:srgbClr val="AAA9A3"/>
                </a:solidFill>
              </a:rPr>
              <a:t>NO LYRICS · NO FACE IDENTIFICATION · NO INFERRED EMOTION · NO INVENTED WEATHER</a:t>
            </a:r>
          </a:p>
        </p:txBody>
      </p:sp>
    </p:spTree>
    <p:extLst>
      <p:ext uri="{BB962C8B-B14F-4D97-AF65-F5344CB8AC3E}">
        <p14:creationId xmlns:p14="http://schemas.microsoft.com/office/powerpoint/2010/main" val="11021310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7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189188-7414-4D11-9423-23AE3E00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F5E45"/>
                </a:solidFill>
              </a:defRPr>
            </a:pPr>
            <a:r>
              <a:rPr sz="1050" b="1" i="0">
                <a:solidFill>
                  <a:srgbClr val="FF5E45"/>
                </a:solidFill>
              </a:rPr>
              <a:t>06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EB2340-323C-4518-87C6-93FDDCB4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72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0EEE8"/>
                </a:solidFill>
              </a:defRPr>
            </a:pPr>
            <a:r>
              <a:rPr sz="1050" b="1" i="0">
                <a:solidFill>
                  <a:srgbClr val="F0EEE8"/>
                </a:solidFill>
              </a:rPr>
              <a:t>SPONSOR STACK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605B63-1D26-4946-95AD-4D132CBB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9FA8AA-D407-4BDB-8B30-4029A776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 i="0">
                <a:solidFill>
                  <a:srgbClr val="F0EEE8"/>
                </a:solidFill>
              </a:defRPr>
            </a:pPr>
            <a:r>
              <a:rPr sz="2700" b="1" i="0">
                <a:solidFill>
                  <a:srgbClr val="F0EEE8"/>
                </a:solidFill>
              </a:rPr>
              <a:t>Every dependency strengthens the ritual. None can break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7CCCE-6321-4188-9829-8DA28415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12B46-C2C1-47A9-869E-4B2DC6BE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38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C8FF4A"/>
                </a:solidFill>
              </a:defRPr>
            </a:pPr>
            <a:r>
              <a:rPr sz="1500" b="1" i="0">
                <a:solidFill>
                  <a:srgbClr val="C8FF4A"/>
                </a:solidFill>
              </a:rPr>
              <a:t>OPENAI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83DE3-D5C5-43D5-A51B-2F5BD66B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57450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F0EEE8"/>
                </a:solidFill>
              </a:defRPr>
            </a:pPr>
            <a:r>
              <a:rPr sz="1500" b="0" i="0">
                <a:solidFill>
                  <a:srgbClr val="F0EEE8"/>
                </a:solidFill>
              </a:rPr>
              <a:t>multimodal → constrained sensory language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68A41E-681E-4B1D-AE7C-CF943814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95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AAA9A3"/>
                </a:solidFill>
              </a:defRPr>
            </a:pPr>
            <a:r>
              <a:rPr sz="1050" b="0" i="0">
                <a:solidFill>
                  <a:srgbClr val="AAA9A3"/>
                </a:solidFill>
              </a:rPr>
              <a:t>LIVE / SAFE FALLBACK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1E7C10-A335-47A7-A81C-EDFED39C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A5919-9A00-4BAA-986B-38A4722B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38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C8FF4A"/>
                </a:solidFill>
              </a:defRPr>
            </a:pPr>
            <a:r>
              <a:rPr sz="1500" b="1" i="0">
                <a:solidFill>
                  <a:srgbClr val="C8FF4A"/>
                </a:solidFill>
              </a:rPr>
              <a:t>CHATGPT SITES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678AD-FF0E-4D1A-B808-F12011C7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F0EEE8"/>
                </a:solidFill>
              </a:defRPr>
            </a:pPr>
            <a:r>
              <a:rPr sz="1500" b="0" i="0">
                <a:solidFill>
                  <a:srgbClr val="F0EEE8"/>
                </a:solidFill>
              </a:rPr>
              <a:t>edge app → D1 state → R2 private media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ED652-8867-4412-9F12-8C3A29D0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57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AAA9A3"/>
                </a:solidFill>
              </a:defRPr>
            </a:pPr>
            <a:r>
              <a:rPr sz="1050" b="0" i="0">
                <a:solidFill>
                  <a:srgbClr val="AAA9A3"/>
                </a:solidFill>
              </a:rPr>
              <a:t>DEPLOYED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1555D7-A093-43FE-89EC-442E4AC5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15F834-5151-4876-BDCD-FDA61F16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238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C8FF4A"/>
                </a:solidFill>
              </a:defRPr>
            </a:pPr>
            <a:r>
              <a:rPr sz="1500" b="1" i="0">
                <a:solidFill>
                  <a:srgbClr val="C8FF4A"/>
                </a:solidFill>
              </a:rPr>
              <a:t>JAMBASE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D8F2BB-980C-4042-AFBD-74D73255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981450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F0EEE8"/>
                </a:solidFill>
              </a:defRPr>
            </a:pPr>
            <a:r>
              <a:rPr sz="1500" b="0" i="0">
                <a:solidFill>
                  <a:srgbClr val="F0EEE8"/>
                </a:solidFill>
              </a:rPr>
              <a:t>artist and set enrichment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1BEEBA-3AA0-4B2C-B370-5288DB96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AAA9A3"/>
                </a:solidFill>
              </a:defRPr>
            </a:pPr>
            <a:r>
              <a:rPr sz="1050" b="0" i="0">
                <a:solidFill>
                  <a:srgbClr val="AAA9A3"/>
                </a:solidFill>
              </a:rPr>
              <a:t>OPTIONAL / ATTRIBUTED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B209D6-4541-4CA3-B11C-F976D707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895213-7F82-44FF-AA9F-EE9F4604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238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C8FF4A"/>
                </a:solidFill>
              </a:defRPr>
            </a:pPr>
            <a:r>
              <a:rPr sz="1500" b="1" i="0">
                <a:solidFill>
                  <a:srgbClr val="C8FF4A"/>
                </a:solidFill>
              </a:rPr>
              <a:t>CODEX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12CAE7-7961-4B33-B1F3-E60C05D9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43450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F0EEE8"/>
                </a:solidFill>
              </a:defRPr>
            </a:pPr>
            <a:r>
              <a:rPr sz="1500" b="0" i="0">
                <a:solidFill>
                  <a:srgbClr val="F0EEE8"/>
                </a:solidFill>
              </a:rPr>
              <a:t>research → build → red-team → ship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BBC674-EA08-4A37-AAB4-6ED1F34A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81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AAA9A3"/>
                </a:solidFill>
              </a:defRPr>
            </a:pPr>
            <a:r>
              <a:rPr sz="1050" b="0" i="0">
                <a:solidFill>
                  <a:srgbClr val="AAA9A3"/>
                </a:solidFill>
              </a:rPr>
              <a:t>VERIFIED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BB9D8A-8B9F-40D6-888C-CF1B020F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112241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7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835794-5D96-40CE-BFFA-C9C198B7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F5E45"/>
                </a:solidFill>
              </a:defRPr>
            </a:pPr>
            <a:r>
              <a:rPr sz="1050" b="1" i="0">
                <a:solidFill>
                  <a:srgbClr val="FF5E45"/>
                </a:solidFill>
              </a:rPr>
              <a:t>07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6410C5-92F7-45AA-ADD2-39DF3102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72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0EEE8"/>
                </a:solidFill>
              </a:defRPr>
            </a:pPr>
            <a:r>
              <a:rPr sz="1050" b="1" i="0">
                <a:solidFill>
                  <a:srgbClr val="F0EEE8"/>
                </a:solidFill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C469-AAE4-4963-BBD0-1E74ADF7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5D7FFA-FB6F-4759-8955-5EB7E4B8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 i="0">
                <a:solidFill>
                  <a:srgbClr val="F0EEE8"/>
                </a:solidFill>
              </a:defRPr>
            </a:pPr>
            <a:r>
              <a:rPr sz="2550" b="1" i="0">
                <a:solidFill>
                  <a:srgbClr val="F0EEE8"/>
                </a:solidFill>
              </a:rPr>
              <a:t>A strict state machine keeps two private clients in one moment.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8391C-6B4C-4FB0-B7C7-6BF7185C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2190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6D2C-676B-4D35-9613-95B1BD79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C8FF4A"/>
                </a:solidFill>
              </a:defRPr>
            </a:pPr>
            <a:r>
              <a:rPr sz="1200" b="1" i="0">
                <a:solidFill>
                  <a:srgbClr val="C8FF4A"/>
                </a:solidFill>
              </a:rPr>
              <a:t>HERE CLIENT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DF639-4B09-4CF8-B659-70824261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F0EEE8"/>
                </a:solidFill>
              </a:defRPr>
            </a:pPr>
            <a:r>
              <a:rPr sz="1350" b="0" i="0">
                <a:solidFill>
                  <a:srgbClr val="F0EEE8"/>
                </a:solidFill>
              </a:rPr>
              <a:t>capture + consent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9751B3-55E6-4BF5-837A-EA98797F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762250"/>
            <a:ext cx="2190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937DC-D39B-44AC-A21F-0DECCC21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289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C8FF4A"/>
                </a:solidFill>
              </a:defRPr>
            </a:pPr>
            <a:r>
              <a:rPr sz="1200" b="1" i="0">
                <a:solidFill>
                  <a:srgbClr val="C8FF4A"/>
                </a:solidFill>
              </a:rPr>
              <a:t>SITES 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BAD5D5-7E2A-427A-9544-64C31DC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242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F0EEE8"/>
                </a:solidFill>
              </a:defRPr>
            </a:pPr>
            <a:r>
              <a:rPr sz="1350" b="0" i="0">
                <a:solidFill>
                  <a:srgbClr val="F0EEE8"/>
                </a:solidFill>
              </a:rPr>
              <a:t>role tokens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B9431-4305-4DCE-8BD6-2236B2C2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62250"/>
            <a:ext cx="2190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A0FA45-01E8-42F6-A1D4-3F8098DF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289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C8FF4A"/>
                </a:solidFill>
              </a:defRPr>
            </a:pPr>
            <a:r>
              <a:rPr sz="1200" b="1" i="0">
                <a:solidFill>
                  <a:srgbClr val="C8FF4A"/>
                </a:solidFill>
              </a:rPr>
              <a:t>D1 + R2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A6AD13-E9FE-4A0F-8D69-B42E9D03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242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F0EEE8"/>
                </a:solidFill>
              </a:defRPr>
            </a:pPr>
            <a:r>
              <a:rPr sz="1350" b="0" i="0">
                <a:solidFill>
                  <a:srgbClr val="F0EEE8"/>
                </a:solidFill>
              </a:rPr>
              <a:t>state + private media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BFC4C-97E7-48FC-9799-77D6E15A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62250"/>
            <a:ext cx="2190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57F30-9960-47EF-8AA5-5CFC4AD3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289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C8FF4A"/>
                </a:solidFill>
              </a:defRPr>
            </a:pPr>
            <a:r>
              <a:rPr sz="1200" b="1" i="0">
                <a:solidFill>
                  <a:srgbClr val="C8FF4A"/>
                </a:solidFill>
              </a:rPr>
              <a:t>FAR CLIENT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57654-8722-4FED-BA07-1F7B4E7F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5242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F0EEE8"/>
                </a:solidFill>
              </a:defRPr>
            </a:pPr>
            <a:r>
              <a:rPr sz="1350" b="0" i="0">
                <a:solidFill>
                  <a:srgbClr val="F0EEE8"/>
                </a:solidFill>
              </a:rPr>
              <a:t>poll + hold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1E7EEC-EC1E-4971-8C25-18CF5AF1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 i="0">
                <a:solidFill>
                  <a:srgbClr val="F0EEE8"/>
                </a:solidFill>
              </a:defRPr>
            </a:pPr>
            <a:r>
              <a:rPr sz="1200" b="0" i="0">
                <a:solidFill>
                  <a:srgbClr val="F0EEE8"/>
                </a:solidFill>
              </a:rPr>
              <a:t>waiting  →  connected  →  draft_ready  →  postcard_ready  →  pulse_ready  →  completed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7F63B8-440C-443D-835D-55A2559F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AAA9A3"/>
                </a:solidFill>
              </a:defRPr>
            </a:pPr>
            <a:r>
              <a:rPr sz="1050" b="0" i="0">
                <a:solidFill>
                  <a:srgbClr val="AAA9A3"/>
                </a:solidFill>
              </a:rPr>
              <a:t>24H TTL  /  CAPABILITY TOKENS  /  AUTHENTICATED MEDIA  /  IDEMPOTENT PULSE</a:t>
            </a:r>
          </a:p>
        </p:txBody>
      </p:sp>
    </p:spTree>
    <p:extLst>
      <p:ext uri="{BB962C8B-B14F-4D97-AF65-F5344CB8AC3E}">
        <p14:creationId xmlns:p14="http://schemas.microsoft.com/office/powerpoint/2010/main" val="8878067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7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7060F3-768D-4D3E-9D38-8FFA941D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F5E45"/>
                </a:solidFill>
              </a:defRPr>
            </a:pPr>
            <a:r>
              <a:rPr sz="1050" b="1" i="0">
                <a:solidFill>
                  <a:srgbClr val="FF5E45"/>
                </a:solidFill>
              </a:rPr>
              <a:t>08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39186-A598-4A06-8D83-BA2DF535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72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0EEE8"/>
                </a:solidFill>
              </a:defRPr>
            </a:pPr>
            <a:r>
              <a:rPr sz="1050" b="1" i="0">
                <a:solidFill>
                  <a:srgbClr val="F0EEE8"/>
                </a:solidFill>
              </a:rPr>
              <a:t>TRUST IS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54D6C-5C12-428A-892F-259B8F29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59EAEA-E460-4AE1-93E0-150EC1B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 i="0">
                <a:solidFill>
                  <a:srgbClr val="F0EEE8"/>
                </a:solidFill>
              </a:defRPr>
            </a:pPr>
            <a:r>
              <a:rPr sz="2700" b="1" i="0">
                <a:solidFill>
                  <a:srgbClr val="F0EEE8"/>
                </a:solidFill>
              </a:rPr>
              <a:t>Designed for a festival—not merely demonstrated at 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E4945D-4ACD-4823-9F22-67DA473C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 i="0">
                <a:solidFill>
                  <a:srgbClr val="FF5E45"/>
                </a:solidFill>
              </a:defRPr>
            </a:pPr>
            <a:r>
              <a:rPr sz="4800" b="1" i="0">
                <a:solidFill>
                  <a:srgbClr val="FF5E45"/>
                </a:solidFill>
              </a:rPr>
              <a:t>NO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7B4741-D042-465B-BEED-642931B3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81250"/>
            <a:ext cx="285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F0EEE8"/>
                </a:solidFill>
              </a:defRPr>
            </a:pPr>
            <a:r>
              <a:rPr sz="2100" b="0" i="0">
                <a:solidFill>
                  <a:srgbClr val="F0EEE8"/>
                </a:solidFill>
              </a:rPr>
              <a:t>accounts</a:t>
            </a:r>
          </a:p>
          <a:p xmlns:a="http://schemas.openxmlformats.org/drawingml/2006/main">
            <a:pPr>
              <a:defRPr sz="2100" b="0" i="0">
                <a:solidFill>
                  <a:srgbClr val="F0EEE8"/>
                </a:solidFill>
              </a:defRPr>
            </a:pPr>
            <a:r>
              <a:rPr sz="2100" b="0" i="0">
                <a:solidFill>
                  <a:srgbClr val="F0EEE8"/>
                </a:solidFill>
              </a:rPr>
              <a:t>raw audio</a:t>
            </a:r>
          </a:p>
          <a:p xmlns:a="http://schemas.openxmlformats.org/drawingml/2006/main">
            <a:pPr>
              <a:defRPr sz="2100" b="0" i="0">
                <a:solidFill>
                  <a:srgbClr val="F0EEE8"/>
                </a:solidFill>
              </a:defRPr>
            </a:pPr>
            <a:r>
              <a:rPr sz="2100" b="0" i="0">
                <a:solidFill>
                  <a:srgbClr val="F0EEE8"/>
                </a:solidFill>
              </a:rPr>
              <a:t>public photos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C5CA62-94BC-43F2-A744-C0BA6E23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8125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 i="0">
                <a:solidFill>
                  <a:srgbClr val="C8FF4A"/>
                </a:solidFill>
              </a:defRPr>
            </a:pPr>
            <a:r>
              <a:rPr sz="4800" b="1" i="0">
                <a:solidFill>
                  <a:srgbClr val="C8FF4A"/>
                </a:solidFill>
              </a:rPr>
              <a:t>YES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F7595A-36DC-4D29-A6E9-4DB578E6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295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F0EEE8"/>
                </a:solidFill>
              </a:defRPr>
            </a:pPr>
            <a:r>
              <a:rPr sz="2100" b="0" i="0">
                <a:solidFill>
                  <a:srgbClr val="F0EEE8"/>
                </a:solidFill>
              </a:rPr>
              <a:t>human approval</a:t>
            </a:r>
          </a:p>
          <a:p xmlns:a="http://schemas.openxmlformats.org/drawingml/2006/main">
            <a:pPr>
              <a:defRPr sz="2100" b="0" i="0">
                <a:solidFill>
                  <a:srgbClr val="F0EEE8"/>
                </a:solidFill>
              </a:defRPr>
            </a:pPr>
            <a:r>
              <a:rPr sz="2100" b="0" i="0">
                <a:solidFill>
                  <a:srgbClr val="F0EEE8"/>
                </a:solidFill>
              </a:rPr>
              <a:t>keyboard access</a:t>
            </a:r>
          </a:p>
          <a:p xmlns:a="http://schemas.openxmlformats.org/drawingml/2006/main">
            <a:pPr>
              <a:defRPr sz="2100" b="0" i="0">
                <a:solidFill>
                  <a:srgbClr val="F0EEE8"/>
                </a:solidFill>
              </a:defRPr>
            </a:pPr>
            <a:r>
              <a:rPr sz="2100" b="0" i="0">
                <a:solidFill>
                  <a:srgbClr val="F0EEE8"/>
                </a:solidFill>
              </a:rPr>
              <a:t>instant deletion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99C22-78CC-4BB2-B246-889C992D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0">
                <a:solidFill>
                  <a:srgbClr val="AAA9A3"/>
                </a:solidFill>
              </a:defRPr>
            </a:pPr>
            <a:r>
              <a:rPr sz="1125" b="0" i="0">
                <a:solidFill>
                  <a:srgbClr val="AAA9A3"/>
                </a:solidFill>
              </a:rPr>
              <a:t>NO GPS · NO IDENTITY · NO SOCIAL GRAPH · RAW AUDIO NEVER LEAVES THE PHONE</a:t>
            </a:r>
          </a:p>
        </p:txBody>
      </p:sp>
    </p:spTree>
    <p:extLst>
      <p:ext uri="{BB962C8B-B14F-4D97-AF65-F5344CB8AC3E}">
        <p14:creationId xmlns:p14="http://schemas.microsoft.com/office/powerpoint/2010/main" val="2044005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07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52C355-18D0-46DD-9DC1-B6094AD7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F5E45"/>
                </a:solidFill>
              </a:defRPr>
            </a:pPr>
            <a:r>
              <a:rPr sz="1050" b="1" i="0">
                <a:solidFill>
                  <a:srgbClr val="FF5E45"/>
                </a:solidFill>
              </a:rPr>
              <a:t>09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73A81-C4DB-4CD6-B06F-6CE2E13E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72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F0EEE8"/>
                </a:solidFill>
              </a:defRPr>
            </a:pPr>
            <a:r>
              <a:rPr sz="1050" b="1" i="0">
                <a:solidFill>
                  <a:srgbClr val="F0EEE8"/>
                </a:solidFill>
              </a:rPr>
              <a:t>WHY THIS CAN 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A336F-C9A4-42A4-A175-706D00F6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8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71D9A-3A49-4F80-804A-2A44CE4E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 i="0">
                <a:solidFill>
                  <a:srgbClr val="F0EEE8"/>
                </a:solidFill>
              </a:defRPr>
            </a:pPr>
            <a:r>
              <a:rPr sz="2550" b="1" i="0">
                <a:solidFill>
                  <a:srgbClr val="F0EEE8"/>
                </a:solidFill>
              </a:rPr>
              <a:t>A judge can understand it in three seconds—and feel it in eight.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DC8B3A-1811-4CF4-B3EF-45673FD0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200" b="1" i="0">
                <a:solidFill>
                  <a:srgbClr val="F0EEE8"/>
                </a:solidFill>
              </a:defRPr>
            </a:pPr>
            <a:r>
              <a:rPr sz="7200" b="1" i="0">
                <a:solidFill>
                  <a:srgbClr val="F0EEE8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70D42-4B31-4F27-8B53-0D8CADED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9527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AAA9A3"/>
                </a:solidFill>
              </a:defRPr>
            </a:pPr>
            <a:r>
              <a:rPr sz="1350" b="0" i="0">
                <a:solidFill>
                  <a:srgbClr val="AAA9A3"/>
                </a:solidFill>
              </a:rPr>
              <a:t>SEC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3E12E-48D1-4723-9B32-DBF92D16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2D2D4-E353-4125-A6E0-E78CE606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F0EEE8"/>
                </a:solidFill>
              </a:defRPr>
            </a:pPr>
            <a:r>
              <a:rPr sz="1800" b="0" i="0">
                <a:solidFill>
                  <a:srgbClr val="F0EEE8"/>
                </a:solidFill>
              </a:rPr>
              <a:t>Understand the tension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29166-78AA-4E1E-9C64-5C6F3D82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81250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200" b="1" i="0">
                <a:solidFill>
                  <a:srgbClr val="F0EEE8"/>
                </a:solidFill>
              </a:defRPr>
            </a:pPr>
            <a:r>
              <a:rPr sz="7200" b="1" i="0">
                <a:solidFill>
                  <a:srgbClr val="F0EEE8"/>
                </a:solidFill>
              </a:rPr>
              <a:t>30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073624-6731-44FA-8895-47E36441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527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AAA9A3"/>
                </a:solidFill>
              </a:defRPr>
            </a:pPr>
            <a:r>
              <a:rPr sz="1350" b="0" i="0">
                <a:solidFill>
                  <a:srgbClr val="AAA9A3"/>
                </a:solidFill>
              </a:rPr>
              <a:t>SEC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1AE72-3F64-4CA4-A3B4-B0E932DA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14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55774B-311C-49C0-B6FF-A380E211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005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F0EEE8"/>
                </a:solidFill>
              </a:defRPr>
            </a:pPr>
            <a:r>
              <a:rPr sz="1800" b="0" i="0">
                <a:solidFill>
                  <a:srgbClr val="F0EEE8"/>
                </a:solidFill>
              </a:rPr>
              <a:t>Complete the ritual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0CDC94-5B8F-46B5-816C-A2B010F6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81250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200" b="1" i="0">
                <a:solidFill>
                  <a:srgbClr val="C8FF4A"/>
                </a:solidFill>
              </a:defRPr>
            </a:pPr>
            <a:r>
              <a:rPr sz="7200" b="1" i="0">
                <a:solidFill>
                  <a:srgbClr val="C8FF4A"/>
                </a:solidFill>
              </a:rPr>
              <a:t>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155B3C-0ECB-403D-AEB8-B036FDFA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9527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AAA9A3"/>
                </a:solidFill>
              </a:defRPr>
            </a:pPr>
            <a:r>
              <a:rPr sz="1350" b="0" i="0">
                <a:solidFill>
                  <a:srgbClr val="AAA9A3"/>
                </a:solidFill>
              </a:rPr>
              <a:t>SEC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D26DFE-8231-460B-AF89-B3A07221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14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41F860-9740-4C52-9578-5234CBAC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005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F0EEE8"/>
                </a:solidFill>
              </a:defRPr>
            </a:pPr>
            <a:r>
              <a:rPr sz="1800" b="0" i="0">
                <a:solidFill>
                  <a:srgbClr val="F0EEE8"/>
                </a:solidFill>
              </a:rPr>
              <a:t>Let the room go quiet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82E03A-E4DD-460B-B5FA-375CB23F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 i="0">
                <a:solidFill>
                  <a:srgbClr val="C8FF4A"/>
                </a:solidFill>
              </a:defRPr>
            </a:pPr>
            <a:r>
              <a:rPr sz="1350" b="1" i="0">
                <a:solidFill>
                  <a:srgbClr val="C8FF4A"/>
                </a:solidFill>
              </a:rPr>
              <a:t>NOT A FEED. NOT A PLANNER. NOT A CHATBOT. A NEW FESTIVAL RITUAL.</a:t>
            </a:r>
          </a:p>
        </p:txBody>
      </p:sp>
    </p:spTree>
    <p:extLst>
      <p:ext uri="{BB962C8B-B14F-4D97-AF65-F5344CB8AC3E}">
        <p14:creationId xmlns:p14="http://schemas.microsoft.com/office/powerpoint/2010/main" val="10891553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7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ee256947624840"/>
          <a:srcRect xmlns:a="http://schemas.openxmlformats.org/drawingml/2006/main" l="0" t="5034" r="0" b="50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FE0DD-E203-4355-8451-3EFF5E28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9"/>
              </a:gs>
              <a:gs pos="58000">
                <a:srgbClr val="050509"/>
              </a:gs>
              <a:gs pos="100000">
                <a:srgbClr val="050509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D1E2F-F11E-4FC2-B42C-E012C788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2396D-05B4-4FA1-84AD-4F887B8D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762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 i="0">
                <a:solidFill>
                  <a:srgbClr val="F0EEE8"/>
                </a:solidFill>
              </a:defRPr>
            </a:pPr>
            <a:r>
              <a:rPr sz="3900" b="1" i="0">
                <a:solidFill>
                  <a:srgbClr val="F0EEE8"/>
                </a:solidFill>
              </a:rPr>
              <a:t>HOLD THE PULSE.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1EA6FD-0819-4CDD-8F29-D72D131B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 i="1">
                <a:solidFill>
                  <a:srgbClr val="FF5E45"/>
                </a:solidFill>
              </a:defRPr>
            </a:pPr>
            <a:r>
              <a:rPr sz="1800" b="0" i="1">
                <a:solidFill>
                  <a:srgbClr val="FF5E45"/>
                </a:solidFill>
              </a:rPr>
              <a:t>Then stop speaking and let the room feel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C0063-32A1-4D7F-A431-7F3BC1A4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609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F0EEE8"/>
                </a:solidFill>
              </a:defRPr>
            </a:pPr>
            <a:r>
              <a:rPr sz="1800" b="0" i="0">
                <a:solidFill>
                  <a:srgbClr val="F0EEE8"/>
                </a:solidFill>
              </a:rPr>
              <a:t>Outside Lands already brings the show everywhere.</a:t>
            </a:r>
          </a:p>
          <a:p xmlns:a="http://schemas.openxmlformats.org/drawingml/2006/main">
            <a:pPr>
              <a:defRPr sz="1800" b="0" i="0">
                <a:solidFill>
                  <a:srgbClr val="F0EEE8"/>
                </a:solidFill>
              </a:defRPr>
            </a:pPr>
            <a:r>
              <a:rPr sz="1800" b="0" i="0">
                <a:solidFill>
                  <a:srgbClr val="F0EEE8"/>
                </a:solidFill>
              </a:rPr>
              <a:t>Same Sky brings one person into the feeling of being there.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E729FF-5D34-4CE5-A7D7-80F29F25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E0796C-D868-447E-A000-AC7D0F84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2930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0A0C06"/>
                </a:solidFill>
              </a:defRPr>
            </a:pPr>
            <a:r>
              <a:rPr sz="1200" b="1" i="0">
                <a:solidFill>
                  <a:srgbClr val="0A0C06"/>
                </a:solidFill>
              </a:rPr>
              <a:t>same-sky-live.vnmoorthy.chatgpt.site</a:t>
            </a:r>
          </a:p>
        </p:txBody>
      </p:sp>
    </p:spTree>
    <p:extLst>
      <p:ext uri="{BB962C8B-B14F-4D97-AF65-F5344CB8AC3E}">
        <p14:creationId xmlns:p14="http://schemas.microsoft.com/office/powerpoint/2010/main" val="14827466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2026-08-03T01:07:02.0950000Z</dcterms:created>
  <dcterms:modified xsi:type="dcterms:W3CDTF">2026-08-03T01:07:02.0950000Z</dcterms:modified>
</coreProperties>
</file>